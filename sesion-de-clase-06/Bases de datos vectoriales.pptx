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yE7x+E4NdOLJgUjjEpWa0T9/g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92FFFE-BF21-46D7-B298-DD327AE4D51F}">
  <a:tblStyle styleId="{BE92FFFE-BF21-46D7-B298-DD327AE4D5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8F9"/>
          </a:solidFill>
        </a:fill>
      </a:tcStyle>
    </a:wholeTbl>
    <a:band1H>
      <a:tcTxStyle/>
      <a:tcStyle>
        <a:fill>
          <a:solidFill>
            <a:srgbClr val="CBCDF2"/>
          </a:solidFill>
        </a:fill>
      </a:tcStyle>
    </a:band1H>
    <a:band2H>
      <a:tcTxStyle/>
    </a:band2H>
    <a:band1V>
      <a:tcTxStyle/>
      <a:tcStyle>
        <a:fill>
          <a:solidFill>
            <a:srgbClr val="CBCDF2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42354"/>
                </a:solidFill>
              </a:rPr>
              <a:t>Memoria para 1 millón de vectores (float32) según dimensiones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rgbClr val="0A7BC2"/>
            </a:solidFill>
            <a:ln>
              <a:solidFill>
                <a:srgbClr val="0A7BC2"/>
              </a:solidFill>
            </a:ln>
          </c:spPr>
          <c:dPt>
            <c:idx val="0"/>
            <c:spPr>
              <a:solidFill>
                <a:srgbClr val="16C78E"/>
              </a:solidFill>
            </c:spPr>
          </c:dPt>
          <c:dPt>
            <c:idx val="1"/>
            <c:spPr>
              <a:solidFill>
                <a:srgbClr val="0A7BC2"/>
              </a:solidFill>
            </c:spPr>
          </c:dPt>
          <c:dPt>
            <c:idx val="2"/>
            <c:spPr>
              <a:solidFill>
                <a:srgbClr val="0A7BC2"/>
              </a:solidFill>
            </c:spPr>
          </c:dPt>
          <c:dPt>
            <c:idx val="3"/>
            <c:spPr>
              <a:solidFill>
                <a:srgbClr val="0A7BC2"/>
              </a:solidFill>
            </c:spPr>
          </c:dPt>
          <c:dPt>
            <c:idx val="4"/>
            <c:spPr>
              <a:solidFill>
                <a:srgbClr val="042354"/>
              </a:solidFill>
            </c:spPr>
          </c:dPt>
          <c:cat>
            <c:strRef>
              <c:f>Sheet1!$A$2:$A$6</c:f>
              <c:strCache>
                <c:ptCount val="5"/>
                <c:pt idx="0">
                  <c:v>384</c:v>
                </c:pt>
                <c:pt idx="1">
                  <c:v>768</c:v>
                </c:pt>
                <c:pt idx="2">
                  <c:v>1 024</c:v>
                </c:pt>
                <c:pt idx="3">
                  <c:v>1 536</c:v>
                </c:pt>
                <c:pt idx="4">
                  <c:v>3 072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1.536</c:v>
                </c:pt>
                <c:pt idx="1">
                  <c:v>3.072</c:v>
                </c:pt>
                <c:pt idx="2">
                  <c:v>4.096</c:v>
                </c:pt>
                <c:pt idx="3">
                  <c:v>6.144</c:v>
                </c:pt>
                <c:pt idx="4">
                  <c:v>12.288</c:v>
                </c:pt>
              </c:numCache>
            </c:numRef>
          </c:val>
        </c:ser>
        <c:dLbls>
          <c:numFmt formatCode="0.0&quot; GB&quot;" sourceLinked="0"/>
          <c:txPr>
            <a:bodyPr/>
            <a:lstStyle/>
            <a:p>
              <a:pPr>
                <a:defRPr sz="1200" b="1">
                  <a:solidFill>
                    <a:srgbClr val="0423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&quot; GB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2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42354"/>
                </a:solidFill>
              </a:rPr>
              <a:t>Millones de operaciones por consulta (d = 768, escala logarítmica)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Operaciones (millones)</c:v>
                </c:pt>
              </c:strCache>
            </c:strRef>
          </c:tx>
          <c:spPr>
            <a:solidFill>
              <a:srgbClr val="0A7BC2"/>
            </a:solidFill>
            <a:ln>
              <a:solidFill>
                <a:srgbClr val="0A7BC2"/>
              </a:solidFill>
            </a:ln>
          </c:spPr>
          <c:dPt>
            <c:idx val="0"/>
            <c:spPr>
              <a:solidFill>
                <a:srgbClr val="C9CED6"/>
              </a:solidFill>
            </c:spPr>
          </c:dPt>
          <c:dPt>
            <c:idx val="1"/>
            <c:spPr>
              <a:solidFill>
                <a:srgbClr val="9FC3E3"/>
              </a:solidFill>
            </c:spPr>
          </c:dPt>
          <c:dPt>
            <c:idx val="2"/>
            <c:spPr>
              <a:solidFill>
                <a:srgbClr val="0A7BC2"/>
              </a:solidFill>
            </c:spPr>
          </c:dPt>
          <c:dPt>
            <c:idx val="3"/>
            <c:spPr>
              <a:solidFill>
                <a:srgbClr val="004EA8"/>
              </a:solidFill>
            </c:spPr>
          </c:dPt>
          <c:dPt>
            <c:idx val="4"/>
            <c:spPr>
              <a:solidFill>
                <a:srgbClr val="042354"/>
              </a:solidFill>
            </c:spPr>
          </c:dPt>
          <c:cat>
            <c:strRef>
              <c:f>Sheet1!$A$2:$A$6</c:f>
              <c:strCache>
                <c:ptCount val="5"/>
                <c:pt idx="0">
                  <c:v>10 mil</c:v>
                </c:pt>
                <c:pt idx="1">
                  <c:v>100 mil</c:v>
                </c:pt>
                <c:pt idx="2">
                  <c:v>1 millón</c:v>
                </c:pt>
                <c:pt idx="3">
                  <c:v>10 millones</c:v>
                </c:pt>
                <c:pt idx="4">
                  <c:v>100 millones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7.68</c:v>
                </c:pt>
                <c:pt idx="1">
                  <c:v>76.8</c:v>
                </c:pt>
                <c:pt idx="2">
                  <c:v>768.0</c:v>
                </c:pt>
                <c:pt idx="3">
                  <c:v>7680.0</c:v>
                </c:pt>
                <c:pt idx="4">
                  <c:v>76800.0</c:v>
                </c:pt>
              </c:numCache>
            </c:numRef>
          </c:val>
        </c:ser>
        <c:dLbls>
          <c:numFmt formatCode="[&lt;10]0.0;#,##0" sourceLinked="0"/>
          <c:txPr>
            <a:bodyPr/>
            <a:lstStyle/>
            <a:p>
              <a:pPr>
                <a:defRPr sz="1100" b="1">
                  <a:solidFill>
                    <a:srgbClr val="0423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2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42354"/>
                </a:solidFill>
              </a:rPr>
              <a:t>Memoria para 1 millón de vectores de 1 024 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0A7BC2"/>
            </a:solidFill>
            <a:ln>
              <a:solidFill>
                <a:srgbClr val="0A7BC2"/>
              </a:solidFill>
            </a:ln>
          </c:spPr>
          <c:dPt>
            <c:idx val="0"/>
            <c:spPr>
              <a:solidFill>
                <a:srgbClr val="042354"/>
              </a:solidFill>
            </c:spPr>
          </c:dPt>
          <c:dPt>
            <c:idx val="1"/>
            <c:spPr>
              <a:solidFill>
                <a:srgbClr val="004EA8"/>
              </a:solidFill>
            </c:spPr>
          </c:dPt>
          <c:dPt>
            <c:idx val="2"/>
            <c:spPr>
              <a:solidFill>
                <a:srgbClr val="0A7BC2"/>
              </a:solidFill>
            </c:spPr>
          </c:dPt>
          <c:dPt>
            <c:idx val="3"/>
            <c:spPr>
              <a:solidFill>
                <a:srgbClr val="16C78E"/>
              </a:solidFill>
            </c:spPr>
          </c:dPt>
          <c:dPt>
            <c:idx val="4"/>
            <c:spPr>
              <a:solidFill>
                <a:srgbClr val="16C78E"/>
              </a:solidFill>
            </c:spPr>
          </c:dPt>
          <c:cat>
            <c:strRef>
              <c:f>Sheet1!$A$2:$A$6</c:f>
              <c:strCache>
                <c:ptCount val="5"/>
                <c:pt idx="0">
                  <c:v>float32</c:v>
                </c:pt>
                <c:pt idx="1">
                  <c:v>float16</c:v>
                </c:pt>
                <c:pt idx="2">
                  <c:v>int8 (SQ)</c:v>
                </c:pt>
                <c:pt idx="3">
                  <c:v>PQ (64 B)</c:v>
                </c:pt>
                <c:pt idx="4">
                  <c:v>binaria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4096</c:v>
                </c:pt>
                <c:pt idx="1">
                  <c:v>2048</c:v>
                </c:pt>
                <c:pt idx="2">
                  <c:v>1024</c:v>
                </c:pt>
                <c:pt idx="3">
                  <c:v>64</c:v>
                </c:pt>
                <c:pt idx="4">
                  <c:v>128</c:v>
                </c:pt>
              </c:numCache>
            </c:numRef>
          </c:val>
        </c:ser>
        <c:dLbls>
          <c:numFmt formatCode="#,##0&quot; MB&quot;" sourceLinked="0"/>
          <c:txPr>
            <a:bodyPr/>
            <a:lstStyle/>
            <a:p>
              <a:pPr>
                <a:defRPr sz="1200" b="1">
                  <a:solidFill>
                    <a:srgbClr val="0423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2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HNSW (ef_search = 16 … 512)</c:v>
                </c:pt>
              </c:strCache>
            </c:strRef>
          </c:tx>
          <c:spPr>
            <a:ln w="38100">
              <a:solidFill>
                <a:srgbClr val="0A7BC2"/>
              </a:solidFill>
            </a:ln>
          </c:spPr>
          <c:marker>
            <c:symbol val="circle"/>
            <c:size val="9"/>
            <c:spPr>
              <a:solidFill>
                <a:srgbClr val="FF9929"/>
              </a:solidFill>
              <a:ln>
                <a:solidFill>
                  <a:srgbClr val="042354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ef=16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042354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ef=32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042354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ef=64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042354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ef=128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042354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ef=256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042354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ef=512</a:t>
                    </a:r>
                  </a:p>
                </c:rich>
              </c:tx>
              <c:txPr>
                <a:bodyPr/>
                <a:lstStyle/>
                <a:p>
                  <a:pPr>
                    <a:defRPr sz="1000">
                      <a:solidFill>
                        <a:srgbClr val="042354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0.3</c:v>
                </c:pt>
                <c:pt idx="1">
                  <c:v>0.5</c:v>
                </c:pt>
                <c:pt idx="2">
                  <c:v>0.9</c:v>
                </c:pt>
                <c:pt idx="3">
                  <c:v>1.6</c:v>
                </c:pt>
                <c:pt idx="4">
                  <c:v>3.0</c:v>
                </c:pt>
                <c:pt idx="5">
                  <c:v>5.8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0.8</c:v>
                </c:pt>
                <c:pt idx="1">
                  <c:v>0.9</c:v>
                </c:pt>
                <c:pt idx="2">
                  <c:v>0.95</c:v>
                </c:pt>
                <c:pt idx="3">
                  <c:v>0.98</c:v>
                </c:pt>
                <c:pt idx="4">
                  <c:v>0.99</c:v>
                </c:pt>
                <c:pt idx="5">
                  <c:v>0.995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.5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042354"/>
                    </a:solidFill>
                  </a:rPr>
                  <a:t>Latencia por consulta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75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042354"/>
                    </a:solidFill>
                  </a:rPr>
                  <a:t>Recall@10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5B62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42354"/>
                </a:solidFill>
              </a:rPr>
              <a:t>Distribución de calificaciones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comentarios.csv</c:v>
                </c:pt>
              </c:strCache>
            </c:strRef>
          </c:tx>
          <c:spPr>
            <a:solidFill>
              <a:srgbClr val="FF9929"/>
            </a:solidFill>
            <a:ln>
              <a:solidFill>
                <a:srgbClr val="FF9929"/>
              </a:solidFill>
            </a:ln>
          </c:spPr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25</c:v>
                </c:pt>
                <c:pt idx="2">
                  <c:v>31</c:v>
                </c:pt>
                <c:pt idx="3">
                  <c:v>30</c:v>
                </c:pt>
                <c:pt idx="4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resenas_entrega.csv</c:v>
                </c:pt>
              </c:strCache>
            </c:strRef>
          </c:tx>
          <c:spPr>
            <a:solidFill>
              <a:srgbClr val="16C78E"/>
            </a:solidFill>
            <a:ln>
              <a:solidFill>
                <a:srgbClr val="16C78E"/>
              </a:solidFill>
            </a:ln>
          </c:spPr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21</c:v>
                </c:pt>
                <c:pt idx="3">
                  <c:v>29</c:v>
                </c:pt>
                <c:pt idx="4">
                  <c:v>35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0423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B62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Presentación. La sesión incluye teoría con actividades, dos ejercicios guiados en PyCharm y un laboratorio.</a:t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la estructura: 3 bloques teóricos con actividades, 2 ejercicios guiados, receso y laboratorio. Las tarjetas tienen enlaces internos para navegar en modo presentación.</a:t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Leer los objetivos y mostrar a la derecha el producto final del día: un recomendador que usa los tres CSV del curso.</a:t>
            </a:r>
            <a:endParaRPr/>
          </a:p>
        </p:txBody>
      </p:sp>
      <p:sp>
        <p:nvSpPr>
          <p:cNvPr id="144" name="Google Shape;1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de apertura. Respuesta: A sí (filtro exacto). B parcialmente (LIKE encuentra la cadena, no el concepto). C y D no: requieren entender significado. Esta es la motivación de los embeddings y las BDV.</a:t>
            </a:r>
            <a:endParaRPr/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 1: repaso breve, búsqueda semántica y Ejercicio 1.</a:t>
            </a:r>
            <a:endParaRPr/>
          </a:p>
        </p:txBody>
      </p:sp>
      <p:sp>
        <p:nvSpPr>
          <p:cNvPr id="203" name="Google Shape;2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Repaso de la sesión anterior, sin volver a explicar. Respuestas: TF-IDF solo compara palabras idénticas; el Transformer genera un vector distinto para «banco» según el contexto; coseno cercano a 1. Transición: el problema de hoy es de almacenamiento y búsqueda a escala.</a:t>
            </a:r>
            <a:endParaRPr/>
          </a:p>
        </p:txBody>
      </p:sp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Recordatorio breve: el tema se vio la clase anterior. El aporte nuevo es el ejemplo de «carga» en los propios CSV del laboratorio.</a:t>
            </a:r>
            <a:endParaRPr/>
          </a:p>
        </p:txBody>
      </p:sp>
      <p:sp>
        <p:nvSpPr>
          <p:cNvPr id="257" name="Google Shape;2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resultados de SQL son reales (comentarios.csv). Los de la derecha son comentarios reales del CSV que una búsqueda semántica debería recuperar; se verificarán en el Ejercicio 1. Responde las preguntas C y D de la actividad inicial.</a:t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Diapositiva original «La Magia de la Proximidad», aplicada a la búsqueda de vecinos. Demo opcional: abrir Embedding Projector, buscar una palabra y ver sus vecinos.</a:t>
            </a:r>
            <a:endParaRPr/>
          </a:p>
        </p:txBody>
      </p:sp>
      <p:sp>
        <p:nvSpPr>
          <p:cNvPr id="299" name="Google Shape;2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Diapositiva original «Embeddings avanzados: Sentence Transformers». Pasar rápido por el pipeline (ya conocido) y enfatizar el pooling: tokenización, transformer (BERT), pooling y normalización.</a:t>
            </a:r>
            <a:endParaRPr/>
          </a:p>
        </p:txBody>
      </p:sp>
      <p:sp>
        <p:nvSpPr>
          <p:cNvPr id="310" name="Google Shape;3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 laboratorio se usa paraphrase-multilingual-MiniLM-L12-v2: funciona en CPU y maneja español. Los modelos por API tienen costo por token. Gemini Embedding permite reducir dimensiones (Matryoshka).</a:t>
            </a:r>
            <a:endParaRPr/>
          </a:p>
        </p:txBody>
      </p:sp>
      <p:sp>
        <p:nvSpPr>
          <p:cNvPr id="353" name="Google Shape;3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Cálculo: 1e6 × d × 4 bytes. El modelo del laboratorio (384 d) ocupa ~1.5 GB por millón de vectores; uno de 3 072 d, ~12.3 GB.</a:t>
            </a:r>
            <a:endParaRPr/>
          </a:p>
        </p:txBody>
      </p:sp>
      <p:sp>
        <p:nvSpPr>
          <p:cNvPr id="367" name="Google Shape;3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 mínima para que el Ejercicio 1 sea ejecutable. Client() trabaja en memoria y se pierde al cerrar el programa; PersistentClient, los metadatos y los filtros se ven en la Parte 2. Cada clave de la respuesta es una lista por consulta, por eso se usa res['documents'][0].</a:t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fórmulas se vieron la clase anterior; aquí solo interesa la configuración en ChromaDB. La métrica se fija con metadata={'hnsw:space': 'cosine'} al crear la colección. Con vectores normalizados, coseno, producto punto y L2 producen el mismo orden.</a:t>
            </a:r>
            <a:endParaRPr/>
          </a:p>
        </p:txBody>
      </p:sp>
      <p:sp>
        <p:nvSpPr>
          <p:cNvPr id="405" name="Google Shape;4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umbral no es comparable entre modelos ni entre métricas: cada modelo distribuye las similitudes de forma distinta. En el Ejercicio 1 se pide fijar uno y comprobar qué comentarios quedan fuera.</a:t>
            </a:r>
            <a:endParaRPr/>
          </a:p>
        </p:txBody>
      </p:sp>
      <p:sp>
        <p:nvSpPr>
          <p:cNvPr id="430" name="Google Shape;4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Comentarios reales de comentarios.csv (se agregaron tildes para la proyección). Punto de discusión: A es el más cercano por tema, aunque tiene sentimiento opuesto (5★ frente a un problema). La similitud semántica mide tema, no polaridad; para sentimiento se combina con la calificación o con un clasificador.</a:t>
            </a:r>
            <a:endParaRPr/>
          </a:p>
        </p:txBody>
      </p:sp>
      <p:sp>
        <p:nvSpPr>
          <p:cNvPr id="457" name="Google Shape;45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 guiado. Resultado esperado: el top-5 para «el sitio web es lento» incluye los comentarios sobre páginas que tardan en cargar, que LIKE no encontró. Usar paraphrase-multilingual-MiniLM-L12-v2 en una colección de Chroma con hnsw:space = cosine.</a:t>
            </a:r>
            <a:endParaRPr/>
          </a:p>
        </p:txBody>
      </p:sp>
      <p:sp>
        <p:nvSpPr>
          <p:cNvPr id="490" name="Google Shape;49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 2. Al final, receso.</a:t>
            </a:r>
            <a:endParaRPr/>
          </a:p>
        </p:txBody>
      </p:sp>
      <p:sp>
        <p:nvSpPr>
          <p:cNvPr id="520" name="Google Shape;5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Diapositiva original «¿Qué es una BDV?». El registro corresponde a un producto real de productos.csv (valores de vector ilustrativos).</a:t>
            </a:r>
            <a:endParaRPr/>
          </a:p>
        </p:txBody>
      </p:sp>
      <p:sp>
        <p:nvSpPr>
          <p:cNvPr id="529" name="Google Shape;5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 con lo que los alumnos ya dominan (modelo relacional). Preguntar: ¿qué índice usarían en SQL para un rango de precios? (B-tree).</a:t>
            </a:r>
            <a:endParaRPr/>
          </a:p>
        </p:txBody>
      </p:sp>
      <p:sp>
        <p:nvSpPr>
          <p:cNvPr id="556" name="Google Shape;5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ingesta es costosa pero se hace una vez (o incremental); la consulta debe responder en milisegundos.</a:t>
            </a:r>
            <a:endParaRPr/>
          </a:p>
        </p:txBody>
      </p:sp>
      <p:sp>
        <p:nvSpPr>
          <p:cNvPr id="569" name="Google Shape;56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costo crece linealmente con n. Con 100 millones de vectores cada consulta exige ~77 mil millones de operaciones. Los índices ANN visitan solo una fracción pequeña de los vectores.</a:t>
            </a:r>
            <a:endParaRPr/>
          </a:p>
        </p:txBody>
      </p:sp>
      <p:sp>
        <p:nvSpPr>
          <p:cNvPr id="633" name="Google Shape;6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el mapa general; en las siguientes diapositivas se detallan HNSW, IVF y cuantización.</a:t>
            </a:r>
            <a:endParaRPr/>
          </a:p>
        </p:txBody>
      </p:sp>
      <p:sp>
        <p:nvSpPr>
          <p:cNvPr id="650" name="Google Shape;65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Malkov y Yashunin (2016/2018). Analogía: autopistas (capas altas) y calles locales (capa 0). La flecha naranja muestra la ruta voraz hasta el vecino más cercano.</a:t>
            </a:r>
            <a:endParaRPr/>
          </a:p>
        </p:txBody>
      </p:sp>
      <p:sp>
        <p:nvSpPr>
          <p:cNvPr id="691" name="Google Shape;69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Relacionar con el índice invertido de los motores de búsqueda de texto: primero se elige la «lista» y luego se busca dentro de ella.</a:t>
            </a:r>
            <a:endParaRPr/>
          </a:p>
        </p:txBody>
      </p:sp>
      <p:sp>
        <p:nvSpPr>
          <p:cNvPr id="701" name="Google Shape;70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Chroma embebido no cuantiza; estas técnicas las ofrecen FAISS, Milvus y Qdrant. Cálculos: 1e6 × 1024 × 4 B = 4 096 MB; float16 la mitad; int8 1 024 MB; binaria 1024 bits = 128 B por vector; PQ con m = 64 y 8 bits = 64 B por vector.</a:t>
            </a:r>
            <a:endParaRPr/>
          </a:p>
        </p:txBody>
      </p:sp>
      <p:sp>
        <p:nvSpPr>
          <p:cNvPr id="712" name="Google Shape;71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Mensaje: no existe «el índice más rápido» sin mencionar el recall objetivo. En producción se fija un recall (p. ej. 95 %) y se minimiza la latencia.</a:t>
            </a:r>
            <a:endParaRPr/>
          </a:p>
        </p:txBody>
      </p:sp>
      <p:sp>
        <p:nvSpPr>
          <p:cNvPr id="734" name="Google Shape;73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Panorama no exhaustivo a 2026. Para el laboratorio se usa ChromaDB: se instala con pip, funciona embebida en Python y ofrece filtros, actualizaciones y persistencia.</a:t>
            </a:r>
            <a:endParaRPr/>
          </a:p>
        </p:txBody>
      </p:sp>
      <p:sp>
        <p:nvSpPr>
          <p:cNvPr id="750" name="Google Shape;75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base del laboratorio, verificado con chromadb 1.5. La función de embedding se encarga de vectorizar documentos y consultas con el mismo modelo. La métrica se declara al crear la colección (hnsw:space). Internamente Chroma usa un índice HNSW y guarda los datos en SQLite dentro de ./bdv.</a:t>
            </a:r>
            <a:endParaRPr/>
          </a:p>
        </p:txBody>
      </p:sp>
      <p:sp>
        <p:nvSpPr>
          <p:cNvPr id="796" name="Google Shape;79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Sintaxis verificada con chromadb 1.5: $and, $lt, $eq, where_document={'$contains': ...}, update, upsert, delete por where y get(include=['embeddings']) que devuelve un arreglo NumPy. El tercer bloque es exactamente la etapa C del laboratorio.</a:t>
            </a:r>
            <a:endParaRPr/>
          </a:p>
        </p:txBody>
      </p:sp>
      <p:sp>
        <p:nvSpPr>
          <p:cNvPr id="825" name="Google Shape;82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BM25 (Best Matching 25) es el algoritmo de ranking por palabras clave que usan Elasticsearch, OpenSearch y los buscadores clásicos. En Chroma, where restringe los candidatos durante la búsqueda (pre-filtrado) y where_document filtra por texto. El filtrado es clave en e-commerce (precio, stock, categoría). La búsqueda híbrida es hoy la configuración por defecto en muchos sistemas RAG.</a:t>
            </a:r>
            <a:endParaRPr/>
          </a:p>
        </p:txBody>
      </p:sp>
      <p:sp>
        <p:nvSpPr>
          <p:cNvPr id="854" name="Google Shape;85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calculado con k = 60. Los rangos son las posiciones en cada lista; un documento ausente de una lista no suma nada por ella. Conclusión: RRF premia la coincidencia entre métodos por encima del primer puesto en uno solo, y no necesita que los puntajes sean comparables.</a:t>
            </a:r>
            <a:endParaRPr/>
          </a:p>
        </p:txBody>
      </p:sp>
      <p:sp>
        <p:nvSpPr>
          <p:cNvPr id="892" name="Google Shape;89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Respuestas orientativas: A) Chroma o FAISS con búsqueda exacta (Flat) o HNSW: el volumen es mínimo. B) la extensión vectorial del motor existente (Oracle 23ai, SQL Server 2025) o una BDV dedicada con HNSW (Milvus, Qdrant), enlazada por id. C) IVF-PQ o DiskANN con cuantización (Milvus, FAISS): los vectores no caben en RAM sin comprimir.</a:t>
            </a:r>
            <a:endParaRPr/>
          </a:p>
        </p:txBody>
      </p:sp>
      <p:sp>
        <p:nvSpPr>
          <p:cNvPr id="946" name="Google Shape;94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Retomar después del receso. Bloque 3 y Ejercicio 2.</a:t>
            </a:r>
            <a:endParaRPr/>
          </a:p>
        </p:txBody>
      </p:sp>
      <p:sp>
        <p:nvSpPr>
          <p:cNvPr id="983" name="Google Shape;98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(Lewis et al., 2020) es hoy la aplicación más extendida de las BDV. El ejemplo usa comentarios.csv con filtro por cliente_ciudad.</a:t>
            </a:r>
            <a:endParaRPr/>
          </a:p>
        </p:txBody>
      </p:sp>
      <p:sp>
        <p:nvSpPr>
          <p:cNvPr id="992" name="Google Shape;99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rangos son orientativos; se ajustan según el modelo (ventana de contexto) y el tipo de documento. El recuadro naranja representa el solapamiento. Guardar metadatos (fuente, sección, página) en cada fragmento permite filtrar y citar. Un cross-encoder puede reordenar el top-20 después de recuperar. En nuestros CSV cada fila ya es un fragmento natural (un comentario o una descripción de producto).</a:t>
            </a:r>
            <a:endParaRPr/>
          </a:p>
        </p:txBody>
      </p:sp>
      <p:sp>
        <p:nvSpPr>
          <p:cNvPr id="1059" name="Google Shape;105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Diapositiva original «Aplicación de BDV: Sistemas de Recomendación». La queja es un comentario real del dataset: es la motivación del laboratorio.</a:t>
            </a:r>
            <a:endParaRPr/>
          </a:p>
        </p:txBody>
      </p:sp>
      <p:sp>
        <p:nvSpPr>
          <p:cNvPr id="1099" name="Google Shape;109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conceptual de la etapa C del laboratorio. Datos reales: cliente 1 tiene 10 reseñas en resenas_entrega.csv sobre 3 productos distintos. En la figura, el perfil promedio cae cerca de accesorios: discutir si es deseable.</a:t>
            </a:r>
            <a:endParaRPr/>
          </a:p>
        </p:txBody>
      </p:sp>
      <p:sp>
        <p:nvSpPr>
          <p:cNvPr id="1143" name="Google Shape;114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Preguntar a la clase qué aplicación implementarían con los datos del curso (p. ej., agrupar comentarios.csv por tema).</a:t>
            </a:r>
            <a:endParaRPr/>
          </a:p>
        </p:txBody>
      </p:sp>
      <p:sp>
        <p:nvSpPr>
          <p:cNvPr id="1153" name="Google Shape;115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1" name="Google Shape;119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Panorama a septiembre de 2026; el leaderboard MTEB cambia con frecuencia. Invitar a los alumnos a revisar el MTEB antes de elegir un modelo.</a:t>
            </a:r>
            <a:endParaRPr/>
          </a:p>
        </p:txBody>
      </p:sp>
      <p:sp>
        <p:nvSpPr>
          <p:cNvPr id="1192" name="Google Shape;119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Clasificación zero-shot: no requiere datos etiquetados. Resultado esperado: «pedido incompleto» y «dañado» concentran las calificaciones bajas. Los puntajes de la barra son ilustrativos; en el ejercicio se calculan los reales.</a:t>
            </a:r>
            <a:endParaRPr/>
          </a:p>
        </p:txBody>
      </p:sp>
      <p:sp>
        <p:nvSpPr>
          <p:cNvPr id="1230" name="Google Shape;123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2" name="Google Shape;126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el laboratorio (4 diapositivas siguientes) y luego trabajo individual o en parejas.</a:t>
            </a:r>
            <a:endParaRPr/>
          </a:p>
        </p:txBody>
      </p:sp>
      <p:sp>
        <p:nvSpPr>
          <p:cNvPr id="1263" name="Google Shape;126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verificados sobre los archivos entregados. Cliente 1 es el que más reseñas tiene (10). Los textos están sin tildes, lo que no afecta a los embeddings pero sí a búsquedas exactas.</a:t>
            </a:r>
            <a:endParaRPr/>
          </a:p>
        </p:txBody>
      </p:sp>
      <p:sp>
        <p:nvSpPr>
          <p:cNvPr id="1272" name="Google Shape;127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Recomendación: pedir a los alumnos que ejecuten la prueba antes de la sesión para evitar descargas simultáneas en el aula. El modelo funciona en CPU; no se requiere GPU.</a:t>
            </a:r>
            <a:endParaRPr/>
          </a:p>
        </p:txBody>
      </p:sp>
      <p:sp>
        <p:nvSpPr>
          <p:cNvPr id="1309" name="Google Shape;130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6" name="Google Shape;133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línea punteada de productos.csv a perfil indica que el perfil se construye con los embeddings de los productos comprados (se recuperan de la colección con col.get(ids=..., include=['embeddings'])).</a:t>
            </a:r>
            <a:endParaRPr/>
          </a:p>
        </p:txBody>
      </p:sp>
      <p:sp>
        <p:nvSpPr>
          <p:cNvPr id="1337" name="Google Shape;133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elegidos por tener más reseñas: 1 (10 reseñas, 3 productos), 85 (5 reseñas) y 22 (4 reseñas). Peso sugerido: w = calificacion − 3 (negativo para reseñas de 1–2★) o w = calificacion / 5.</a:t>
            </a:r>
            <a:endParaRPr/>
          </a:p>
        </p:txBody>
      </p:sp>
      <p:sp>
        <p:nvSpPr>
          <p:cNvPr id="1373" name="Google Shape;137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0" name="Google Shape;141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Cierre. Repasar las cinco ideas y conectar con el laboratorio.</a:t>
            </a:r>
            <a:endParaRPr/>
          </a:p>
        </p:txBody>
      </p:sp>
      <p:sp>
        <p:nvSpPr>
          <p:cNvPr id="1411" name="Google Shape;141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9" name="Google Shape;143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Respuestas: 1) Verdadero. 2) HNSW. 3) Similitud coseno. 4) Más recall y más latencia. 5) Cada modelo define su propio espacio vectorial; vectores de modelos distintos no son comparables.</a:t>
            </a:r>
            <a:endParaRPr/>
          </a:p>
        </p:txBody>
      </p:sp>
      <p:sp>
        <p:nvSpPr>
          <p:cNvPr id="1440" name="Google Shape;144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 de consulta para después de la clase.</a:t>
            </a:r>
            <a:endParaRPr/>
          </a:p>
        </p:txBody>
      </p:sp>
      <p:sp>
        <p:nvSpPr>
          <p:cNvPr id="1472" name="Google Shape;1472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0" name="Google Shape;148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Cierre de la sesión.</a:t>
            </a:r>
            <a:endParaRPr/>
          </a:p>
        </p:txBody>
      </p:sp>
      <p:sp>
        <p:nvSpPr>
          <p:cNvPr id="1481" name="Google Shape;1481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rada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5900" y="261925"/>
            <a:ext cx="6444026" cy="64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8814" y="2778138"/>
            <a:ext cx="4143973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3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3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3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" type="body"/>
          </p:nvPr>
        </p:nvSpPr>
        <p:spPr>
          <a:xfrm>
            <a:off x="839800" y="2057400"/>
            <a:ext cx="39321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9" name="Google Shape;29;p54"/>
          <p:cNvSpPr txBox="1"/>
          <p:nvPr>
            <p:ph idx="2" type="body"/>
          </p:nvPr>
        </p:nvSpPr>
        <p:spPr>
          <a:xfrm>
            <a:off x="5183200" y="987425"/>
            <a:ext cx="6172200" cy="28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" name="Google Shape;30;p5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4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i="1" sz="2400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" type="body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2" type="body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7"/>
          <p:cNvSpPr/>
          <p:nvPr>
            <p:ph idx="2" type="pic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57"/>
          <p:cNvSpPr txBox="1"/>
          <p:nvPr>
            <p:ph idx="1" type="body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5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" type="body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9"/>
          <p:cNvSpPr txBox="1"/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 txBox="1"/>
          <p:nvPr>
            <p:ph idx="1" type="body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6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6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6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6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1" type="ftr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34.xml"/><Relationship Id="rId10" Type="http://schemas.openxmlformats.org/officeDocument/2006/relationships/image" Target="../media/image6.png"/><Relationship Id="rId13" Type="http://schemas.openxmlformats.org/officeDocument/2006/relationships/image" Target="../media/image9.png"/><Relationship Id="rId12" Type="http://schemas.openxmlformats.org/officeDocument/2006/relationships/slide" Target="/ppt/slides/slide4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5.xml"/><Relationship Id="rId4" Type="http://schemas.openxmlformats.org/officeDocument/2006/relationships/image" Target="../media/image19.png"/><Relationship Id="rId9" Type="http://schemas.openxmlformats.org/officeDocument/2006/relationships/slide" Target="/ppt/slides/slide34.xml"/><Relationship Id="rId14" Type="http://schemas.openxmlformats.org/officeDocument/2006/relationships/slide" Target="/ppt/slides/slide42.xml"/><Relationship Id="rId5" Type="http://schemas.openxmlformats.org/officeDocument/2006/relationships/slide" Target="/ppt/slides/slide5.xml"/><Relationship Id="rId6" Type="http://schemas.openxmlformats.org/officeDocument/2006/relationships/slide" Target="/ppt/slides/slide18.xml"/><Relationship Id="rId7" Type="http://schemas.openxmlformats.org/officeDocument/2006/relationships/image" Target="../media/image4.png"/><Relationship Id="rId8" Type="http://schemas.openxmlformats.org/officeDocument/2006/relationships/slide" Target="/ppt/slides/slide1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4.png"/><Relationship Id="rId8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hyperlink" Target="https://projector.tensorflow.or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hyperlink" Target="https://huggingface.co/spaces/mteb/leaderboar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4.xml"/><Relationship Id="rId4" Type="http://schemas.openxmlformats.org/officeDocument/2006/relationships/hyperlink" Target="https://ann-benchmarks.com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4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slide" Target="/ppt/slides/slide2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40.png"/><Relationship Id="rId8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46.png"/><Relationship Id="rId8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Relationship Id="rId8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slide" Target="/ppt/slides/slide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Relationship Id="rId4" Type="http://schemas.openxmlformats.org/officeDocument/2006/relationships/image" Target="../media/image43.png"/><Relationship Id="rId5" Type="http://schemas.openxmlformats.org/officeDocument/2006/relationships/image" Target="../media/image19.png"/><Relationship Id="rId6" Type="http://schemas.openxmlformats.org/officeDocument/2006/relationships/chart" Target="../charts/chart5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7086600" y="4206240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vectoriales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086600" y="530352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Embeddings, búsqueda por similitud y aplicaciones con IA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086600" y="59893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Mag. Eric Huiza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Agenda de la sesión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914400" y="1371600"/>
            <a:ext cx="1269873" cy="420624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Parte 1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2211705" y="1371600"/>
            <a:ext cx="1269873" cy="420624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Ejercicio 1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3509010" y="1371600"/>
            <a:ext cx="1269873" cy="420624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Parte 2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4806315" y="1371600"/>
            <a:ext cx="1269873" cy="420624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Receso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103620" y="1371600"/>
            <a:ext cx="1269873" cy="420624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Parte 3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400925" y="1371600"/>
            <a:ext cx="1269873" cy="420624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Ejercicio 2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698230" y="1371600"/>
            <a:ext cx="1269873" cy="420624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Laboratorio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9995534" y="1371600"/>
            <a:ext cx="1269873" cy="420624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111" name="Google Shape;111;p2">
            <a:hlinkClick action="ppaction://hlinksldjump" r:id="rId3"/>
          </p:cNvPr>
          <p:cNvSpPr/>
          <p:nvPr/>
        </p:nvSpPr>
        <p:spPr>
          <a:xfrm>
            <a:off x="914400" y="2286000"/>
            <a:ext cx="2388870" cy="2880360"/>
          </a:xfrm>
          <a:prstGeom prst="roundRect">
            <a:avLst>
              <a:gd fmla="val 6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143000" y="2560320"/>
            <a:ext cx="640080" cy="6400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egComments_w.png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420" y="272674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920240" y="2560320"/>
            <a:ext cx="12915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Parte 01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143000" y="3246120"/>
            <a:ext cx="20231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semántica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143000" y="384048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Repaso y búsqueda k-NN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Modelos y métricas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Ejercicio 1: búsqueda</a:t>
            </a:r>
            <a:endParaRPr/>
          </a:p>
        </p:txBody>
      </p:sp>
      <p:sp>
        <p:nvSpPr>
          <p:cNvPr id="117" name="Google Shape;117;p2">
            <a:hlinkClick action="ppaction://hlinksldjump" r:id="rId5"/>
          </p:cNvPr>
          <p:cNvSpPr/>
          <p:nvPr/>
        </p:nvSpPr>
        <p:spPr>
          <a:xfrm>
            <a:off x="1143000" y="4773168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 a la sección</a:t>
            </a:r>
            <a:endParaRPr/>
          </a:p>
        </p:txBody>
      </p:sp>
      <p:sp>
        <p:nvSpPr>
          <p:cNvPr id="118" name="Google Shape;118;p2">
            <a:hlinkClick action="ppaction://hlinksldjump" r:id="rId6"/>
          </p:cNvPr>
          <p:cNvSpPr/>
          <p:nvPr/>
        </p:nvSpPr>
        <p:spPr>
          <a:xfrm>
            <a:off x="3577589" y="2286000"/>
            <a:ext cx="2388870" cy="2880360"/>
          </a:xfrm>
          <a:prstGeom prst="roundRect">
            <a:avLst>
              <a:gd fmla="val 6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806189" y="2560320"/>
            <a:ext cx="640080" cy="64008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w.png" id="120" name="Google Shape;12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2610" y="272674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4583429" y="2560320"/>
            <a:ext cx="12915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Parte 02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806189" y="3246120"/>
            <a:ext cx="20231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Bases de datos vectoriales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3806189" y="384048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Arquitectura de una BDV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Índices HNSW, IVF y PQ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ChromaDB en Python</a:t>
            </a:r>
            <a:endParaRPr/>
          </a:p>
        </p:txBody>
      </p:sp>
      <p:sp>
        <p:nvSpPr>
          <p:cNvPr id="124" name="Google Shape;124;p2">
            <a:hlinkClick action="ppaction://hlinksldjump" r:id="rId8"/>
          </p:cNvPr>
          <p:cNvSpPr/>
          <p:nvPr/>
        </p:nvSpPr>
        <p:spPr>
          <a:xfrm>
            <a:off x="3806189" y="4773168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 a la sección</a:t>
            </a:r>
            <a:endParaRPr/>
          </a:p>
        </p:txBody>
      </p:sp>
      <p:sp>
        <p:nvSpPr>
          <p:cNvPr id="125" name="Google Shape;125;p2">
            <a:hlinkClick action="ppaction://hlinksldjump" r:id="rId9"/>
          </p:cNvPr>
          <p:cNvSpPr/>
          <p:nvPr/>
        </p:nvSpPr>
        <p:spPr>
          <a:xfrm>
            <a:off x="6240779" y="2286000"/>
            <a:ext cx="2388870" cy="2880360"/>
          </a:xfrm>
          <a:prstGeom prst="roundRect">
            <a:avLst>
              <a:gd fmla="val 6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469379" y="2560320"/>
            <a:ext cx="640080" cy="6400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WandMagicSparkles_w.png" id="127" name="Google Shape;12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35800" y="272674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 txBox="1"/>
          <p:nvPr/>
        </p:nvSpPr>
        <p:spPr>
          <a:xfrm>
            <a:off x="7246619" y="2560320"/>
            <a:ext cx="12915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Parte 03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469379" y="3246120"/>
            <a:ext cx="20231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6469379" y="384048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RAG y recomendación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Tendencias 2025–2026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Ejercicio 2: clasificación</a:t>
            </a:r>
            <a:endParaRPr/>
          </a:p>
        </p:txBody>
      </p:sp>
      <p:sp>
        <p:nvSpPr>
          <p:cNvPr id="131" name="Google Shape;131;p2">
            <a:hlinkClick action="ppaction://hlinksldjump" r:id="rId11"/>
          </p:cNvPr>
          <p:cNvSpPr/>
          <p:nvPr/>
        </p:nvSpPr>
        <p:spPr>
          <a:xfrm>
            <a:off x="6469379" y="4773168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 a la sección</a:t>
            </a:r>
            <a:endParaRPr/>
          </a:p>
        </p:txBody>
      </p:sp>
      <p:sp>
        <p:nvSpPr>
          <p:cNvPr id="132" name="Google Shape;132;p2">
            <a:hlinkClick action="ppaction://hlinksldjump" r:id="rId12"/>
          </p:cNvPr>
          <p:cNvSpPr/>
          <p:nvPr/>
        </p:nvSpPr>
        <p:spPr>
          <a:xfrm>
            <a:off x="8903969" y="2286000"/>
            <a:ext cx="2388870" cy="2880360"/>
          </a:xfrm>
          <a:prstGeom prst="roundRect">
            <a:avLst>
              <a:gd fmla="val 6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9132569" y="2560320"/>
            <a:ext cx="640080" cy="64008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aptopCode_w.png" id="134" name="Google Shape;134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98990" y="272674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9909809" y="2560320"/>
            <a:ext cx="12915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9929"/>
                </a:solidFill>
                <a:latin typeface="Arial"/>
                <a:ea typeface="Arial"/>
                <a:cs typeface="Arial"/>
                <a:sym typeface="Arial"/>
              </a:rPr>
              <a:t>Parte 04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9132569" y="3246120"/>
            <a:ext cx="20231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Laboratorio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9132569" y="384048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Recomendador semántico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de productos en PyCharm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• con ChromaDB</a:t>
            </a:r>
            <a:endParaRPr/>
          </a:p>
        </p:txBody>
      </p:sp>
      <p:sp>
        <p:nvSpPr>
          <p:cNvPr id="138" name="Google Shape;138;p2">
            <a:hlinkClick action="ppaction://hlinksldjump" r:id="rId14"/>
          </p:cNvPr>
          <p:cNvSpPr/>
          <p:nvPr/>
        </p:nvSpPr>
        <p:spPr>
          <a:xfrm>
            <a:off x="9132569" y="4773168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FF9929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 a la sección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914400" y="523036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Haga clic en una tarjeta para ir a la sección; cada portada de sección tiene un enlace de regreso a esta agenda.</a:t>
            </a:r>
            <a:endParaRPr/>
          </a:p>
        </p:txBody>
      </p:sp>
      <p:sp>
        <p:nvSpPr>
          <p:cNvPr id="140" name="Google Shape;140;p2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Objetivos de aprendizaje</a:t>
            </a:r>
            <a:endParaRPr/>
          </a:p>
        </p:txBody>
      </p:sp>
      <p:sp>
        <p:nvSpPr>
          <p:cNvPr id="147" name="Google Shape;147;p3"/>
          <p:cNvSpPr txBox="1"/>
          <p:nvPr>
            <p:ph idx="1" type="body"/>
          </p:nvPr>
        </p:nvSpPr>
        <p:spPr>
          <a:xfrm>
            <a:off x="839800" y="1874519"/>
            <a:ext cx="4114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1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Al finalizar la sesión, el estudiante podrá: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Aplicar embeddings de frases a la búsqueda semántica.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Configurar la métrica de similitud adecuada en una BDV.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Describir la arquitectura de una BDV y sus índices ANN.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Seleccionar una solución vectorial según el caso de uso.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Implementar búsqueda semántica y un recomendador en Python.</a:t>
            </a:r>
            <a:endParaRPr/>
          </a:p>
        </p:txBody>
      </p:sp>
      <p:sp>
        <p:nvSpPr>
          <p:cNvPr id="148" name="Google Shape;148;p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5669280" y="6858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Resultado de la sesión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669280" y="1188720"/>
            <a:ext cx="5623560" cy="8412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833872" y="1316736"/>
            <a:ext cx="585216" cy="58521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Lines_w.png" id="152" name="Google Shape;1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028" y="1468892"/>
            <a:ext cx="280903" cy="2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"/>
          <p:cNvSpPr txBox="1"/>
          <p:nvPr/>
        </p:nvSpPr>
        <p:spPr>
          <a:xfrm>
            <a:off x="6583680" y="1280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Datos reales de una tienda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productos.csv · resenas_entrega.csv · comentarios.csv</a:t>
            </a:r>
            <a:endParaRPr/>
          </a:p>
        </p:txBody>
      </p:sp>
      <p:cxnSp>
        <p:nvCxnSpPr>
          <p:cNvPr id="155" name="Google Shape;155;p3"/>
          <p:cNvCxnSpPr/>
          <p:nvPr/>
        </p:nvCxnSpPr>
        <p:spPr>
          <a:xfrm>
            <a:off x="6126480" y="2029968"/>
            <a:ext cx="0" cy="219456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6" name="Google Shape;156;p3"/>
          <p:cNvSpPr/>
          <p:nvPr/>
        </p:nvSpPr>
        <p:spPr>
          <a:xfrm>
            <a:off x="5669280" y="2249424"/>
            <a:ext cx="5623560" cy="8412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833872" y="2377440"/>
            <a:ext cx="585216" cy="585216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158" name="Google Shape;1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6028" y="2529596"/>
            <a:ext cx="280903" cy="2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 txBox="1"/>
          <p:nvPr/>
        </p:nvSpPr>
        <p:spPr>
          <a:xfrm>
            <a:off x="6583680" y="234086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Embeddings multilingües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6583680" y="266090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Cada texto se convierte en un vector de 384 dimensiones</a:t>
            </a:r>
            <a:endParaRPr/>
          </a:p>
        </p:txBody>
      </p:sp>
      <p:cxnSp>
        <p:nvCxnSpPr>
          <p:cNvPr id="161" name="Google Shape;161;p3"/>
          <p:cNvCxnSpPr/>
          <p:nvPr/>
        </p:nvCxnSpPr>
        <p:spPr>
          <a:xfrm>
            <a:off x="6126480" y="3090672"/>
            <a:ext cx="0" cy="219456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2" name="Google Shape;162;p3"/>
          <p:cNvSpPr/>
          <p:nvPr/>
        </p:nvSpPr>
        <p:spPr>
          <a:xfrm>
            <a:off x="5669280" y="3310128"/>
            <a:ext cx="5623560" cy="8412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5833872" y="3438144"/>
            <a:ext cx="585216" cy="585216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w.png"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6028" y="3590300"/>
            <a:ext cx="280903" cy="2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 txBox="1"/>
          <p:nvPr/>
        </p:nvSpPr>
        <p:spPr>
          <a:xfrm>
            <a:off x="6583680" y="34015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Base de datos vectorial ChromaDB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6583680" y="37216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Se instala con pip y funciona sin servidor</a:t>
            </a:r>
            <a:endParaRPr/>
          </a:p>
        </p:txBody>
      </p:sp>
      <p:cxnSp>
        <p:nvCxnSpPr>
          <p:cNvPr id="167" name="Google Shape;167;p3"/>
          <p:cNvCxnSpPr/>
          <p:nvPr/>
        </p:nvCxnSpPr>
        <p:spPr>
          <a:xfrm>
            <a:off x="6126480" y="4151376"/>
            <a:ext cx="0" cy="219456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8" name="Google Shape;168;p3"/>
          <p:cNvSpPr/>
          <p:nvPr/>
        </p:nvSpPr>
        <p:spPr>
          <a:xfrm>
            <a:off x="5669280" y="4370832"/>
            <a:ext cx="5623560" cy="8412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5833872" y="4498848"/>
            <a:ext cx="585216" cy="585216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artShopping_w.png" id="170" name="Google Shape;1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86028" y="4651004"/>
            <a:ext cx="280903" cy="2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6583680" y="44622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Recomendador semántico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6583680" y="47823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Top-5 productos para cada cliente según su historial</a:t>
            </a:r>
            <a:endParaRPr/>
          </a:p>
        </p:txBody>
      </p:sp>
      <p:sp>
        <p:nvSpPr>
          <p:cNvPr id="173" name="Google Shape;173;p3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 para la clase: consultas con SQL tradicional</a:t>
            </a:r>
            <a:endParaRPr/>
          </a:p>
        </p:txBody>
      </p:sp>
      <p:sp>
        <p:nvSpPr>
          <p:cNvPr id="180" name="Google Shape;180;p4"/>
          <p:cNvSpPr txBox="1"/>
          <p:nvPr>
            <p:ph idx="1" type="body"/>
          </p:nvPr>
        </p:nvSpPr>
        <p:spPr>
          <a:xfrm>
            <a:off x="838200" y="1825625"/>
            <a:ext cx="105156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¿Qué consultas se pueden responder con WHERE, LIKE o un JOIN?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914400" y="1783080"/>
            <a:ext cx="5052059" cy="155448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188720" y="2194560"/>
            <a:ext cx="731520" cy="7315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2148840" y="1965960"/>
            <a:ext cx="331469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 con precio menor a S/ 500 de la categoría Audio.</a:t>
            </a:r>
            <a:endParaRPr/>
          </a:p>
        </p:txBody>
      </p:sp>
      <p:pic>
        <p:nvPicPr>
          <p:cNvPr descr="FaTags_n.png" id="186" name="Google Shape;1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7820" y="19659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/>
          <p:nvPr/>
        </p:nvSpPr>
        <p:spPr>
          <a:xfrm>
            <a:off x="6240779" y="1783080"/>
            <a:ext cx="5052059" cy="155448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515099" y="2194560"/>
            <a:ext cx="731520" cy="7315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7475219" y="1965960"/>
            <a:ext cx="331469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Comentarios que contienen la palabra «demora».</a:t>
            </a:r>
            <a:endParaRPr/>
          </a:p>
        </p:txBody>
      </p:sp>
      <p:pic>
        <p:nvPicPr>
          <p:cNvPr descr="FaMagnifyingGlass_n.png"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4199" y="19659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"/>
          <p:cNvSpPr/>
          <p:nvPr/>
        </p:nvSpPr>
        <p:spPr>
          <a:xfrm>
            <a:off x="914400" y="3566160"/>
            <a:ext cx="5052059" cy="155448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1188720" y="3977639"/>
            <a:ext cx="731520" cy="7315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2148840" y="3749039"/>
            <a:ext cx="331469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Comentarios de clientes molestos porque el sitio es lento, aunque no usen la palabra «lento».</a:t>
            </a:r>
            <a:endParaRPr/>
          </a:p>
        </p:txBody>
      </p:sp>
      <p:pic>
        <p:nvPicPr>
          <p:cNvPr descr="FaRegComments_n.png" id="194" name="Google Shape;19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7820" y="3749039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"/>
          <p:cNvSpPr/>
          <p:nvPr/>
        </p:nvSpPr>
        <p:spPr>
          <a:xfrm>
            <a:off x="6240779" y="3566160"/>
            <a:ext cx="5052059" cy="155448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515099" y="3977639"/>
            <a:ext cx="731520" cy="7315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7475219" y="3749039"/>
            <a:ext cx="331469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 parecidos al que el cliente acaba de comprar, aunque sean de otra marca.</a:t>
            </a:r>
            <a:endParaRPr/>
          </a:p>
        </p:txBody>
      </p:sp>
      <p:pic>
        <p:nvPicPr>
          <p:cNvPr descr="FaCartShopping_n.png" id="198" name="Google Shape;1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44199" y="3749039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/>
          <p:cNvSpPr txBox="1"/>
          <p:nvPr>
            <p:ph type="ctrTitle"/>
          </p:nvPr>
        </p:nvSpPr>
        <p:spPr>
          <a:xfrm>
            <a:off x="1069848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s-ES" sz="32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Parte 1. Búsqueda semántica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 txBox="1"/>
          <p:nvPr>
            <p:ph idx="1" type="subTitle"/>
          </p:nvPr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ES" sz="1800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Repaso, búsqueda por similitud y modelos de embedding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641848" y="1188720"/>
            <a:ext cx="914400" cy="9144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08" name="Google Shape;208;p5">
            <a:hlinkClick action="ppaction://hlinksldjump" r:id="rId3"/>
          </p:cNvPr>
          <p:cNvSpPr/>
          <p:nvPr/>
        </p:nvSpPr>
        <p:spPr>
          <a:xfrm>
            <a:off x="9646920" y="384048"/>
            <a:ext cx="164592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Volver a la agenda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/>
          </a:p>
        </p:txBody>
      </p:sp>
      <p:sp>
        <p:nvSpPr>
          <p:cNvPr id="215" name="Google Shape;215;p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914400" y="1325880"/>
            <a:ext cx="1819655" cy="14173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549907" y="1444752"/>
            <a:ext cx="548640" cy="548640"/>
          </a:xfrm>
          <a:prstGeom prst="ellipse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Lines_w.png" id="218" name="Google Shape;2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554" y="1587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 txBox="1"/>
          <p:nvPr/>
        </p:nvSpPr>
        <p:spPr>
          <a:xfrm>
            <a:off x="914400" y="2057400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Bag of words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914400" y="2359152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cuenta palabras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2798063" y="18745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054096" y="1325880"/>
            <a:ext cx="1819655" cy="14173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689604" y="1444752"/>
            <a:ext cx="548640" cy="548640"/>
          </a:xfrm>
          <a:prstGeom prst="ellipse">
            <a:avLst/>
          </a:prstGeom>
          <a:solidFill>
            <a:srgbClr val="9FC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ags_w.png" id="224" name="Google Shape;2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2250" y="1587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3054096" y="2057400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3054096" y="2359152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pondera por rareza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937760" y="18745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193792" y="1325880"/>
            <a:ext cx="1819655" cy="14173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829300" y="1444752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ircleNodes_w.png" id="230" name="Google Shape;2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1946" y="1587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6"/>
          <p:cNvSpPr txBox="1"/>
          <p:nvPr/>
        </p:nvSpPr>
        <p:spPr>
          <a:xfrm>
            <a:off x="5193792" y="2057400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Word2Vec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5193792" y="2359152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vectores densos por palabra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7077456" y="18745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333488" y="1325880"/>
            <a:ext cx="1819655" cy="14173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968995" y="1444752"/>
            <a:ext cx="548640" cy="54864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236" name="Google Shape;23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1642" y="1587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"/>
          <p:cNvSpPr txBox="1"/>
          <p:nvPr/>
        </p:nvSpPr>
        <p:spPr>
          <a:xfrm>
            <a:off x="7333488" y="2057400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7333488" y="2359152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embeddings con contexto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9217152" y="1874519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9473184" y="1325880"/>
            <a:ext cx="1819655" cy="14173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0108691" y="1444752"/>
            <a:ext cx="548640" cy="5486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caleBalanced_w.png" id="242" name="Google Shape;24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51338" y="1587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 txBox="1"/>
          <p:nvPr/>
        </p:nvSpPr>
        <p:spPr>
          <a:xfrm>
            <a:off x="9473184" y="2057400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Distancia coseno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9473184" y="2359152"/>
            <a:ext cx="1819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compara dos vectores</a:t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914400" y="3017520"/>
            <a:ext cx="5623560" cy="237744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097280" y="315468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Question_w.png" id="247" name="Google Shape;24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6152" y="3273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6"/>
          <p:cNvSpPr txBox="1"/>
          <p:nvPr/>
        </p:nvSpPr>
        <p:spPr>
          <a:xfrm>
            <a:off x="1691640" y="312724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1143000" y="370332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¿Por qué TF-IDF no detecta que «demoró» y «llegó tarde» significan lo mismo?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¿Qué aporta un Transformer frente a Word2Vec con la palabra «banco»?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¿Qué coseno esperan entre dos frases con el mismo significado?</a:t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6812280" y="3017520"/>
            <a:ext cx="4480559" cy="237744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086600" y="312724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Tema de esta sesión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7086600" y="3566160"/>
            <a:ext cx="39319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 sabemos convertir un texto en un vector y comparar dos vectores.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¿Cómo almacenar millones de vectores y encontrar los más parecidos en milisegundos?</a:t>
            </a:r>
            <a:endParaRPr/>
          </a:p>
        </p:txBody>
      </p:sp>
      <p:sp>
        <p:nvSpPr>
          <p:cNvPr id="253" name="Google Shape;253;p6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Ambigüedad del lenguaje</a:t>
            </a:r>
            <a:endParaRPr/>
          </a:p>
        </p:txBody>
      </p:sp>
      <p:sp>
        <p:nvSpPr>
          <p:cNvPr id="260" name="Google Shape;260;p7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262" name="Google Shape;262;p7"/>
          <p:cNvGraphicFramePr/>
          <p:nvPr/>
        </p:nvGraphicFramePr>
        <p:xfrm>
          <a:off x="914400" y="141732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{BE92FFFE-BF21-46D7-B298-DD327AE4D51F}</a:tableStyleId>
              </a:tblPr>
              <a:tblGrid>
                <a:gridCol w="1371600"/>
                <a:gridCol w="2651750"/>
                <a:gridCol w="1737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Contexto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Frase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Significado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Financiero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«Fui al </a:t>
                      </a:r>
                      <a:r>
                        <a:rPr b="1" lang="es-ES" sz="1400" u="none" cap="none" strike="noStrike">
                          <a:solidFill>
                            <a:srgbClr val="0A7B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banco</a:t>
                      </a:r>
                      <a:r>
                        <a:rPr b="0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depositar.»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Institución financiera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Físico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«El </a:t>
                      </a:r>
                      <a:r>
                        <a:rPr b="1" lang="es-ES" sz="1400" u="none" cap="none" strike="noStrike">
                          <a:solidFill>
                            <a:srgbClr val="0A7B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banco</a:t>
                      </a:r>
                      <a:r>
                        <a:rPr b="0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está en la plaza.»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4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Asiento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7"/>
          <p:cNvSpPr txBox="1"/>
          <p:nvPr/>
        </p:nvSpPr>
        <p:spPr>
          <a:xfrm>
            <a:off x="914400" y="2926080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La misma palabra cambia de significado según las palabras que la rodean. Un sistema basado en coincidencias de texto no puede distinguirlas.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7040880" y="1417320"/>
            <a:ext cx="4251960" cy="242316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7269480" y="1554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 los datos del curso: «carga»</a:t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7269480" y="1965960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productos.csv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7269480" y="225856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2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«…batería de 5000mAh con carga rápida de 25W»</a:t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7269480" y="2834640"/>
            <a:ext cx="1600200" cy="256032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comentarios.csv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7269480" y="312724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2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«…algunas páginas tardan un poco más de lo esperado en cargar»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914400" y="4206240"/>
            <a:ext cx="10378440" cy="109728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188720" y="4416552"/>
            <a:ext cx="685800" cy="6858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ightbulb_w.png" id="272" name="Google Shape;2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028" y="45948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"/>
          <p:cNvSpPr txBox="1"/>
          <p:nvPr/>
        </p:nvSpPr>
        <p:spPr>
          <a:xfrm>
            <a:off x="2103120" y="4297680"/>
            <a:ext cx="8961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Conclusión: </a:t>
            </a:r>
            <a:r>
              <a:rPr b="0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un embedding representa la frase completa, no la palabra aislada. «Carga rápida» (batería) y «tarda en cargar» (sitio web) terminan en regiones distintas del espacio vectorial.</a:t>
            </a:r>
            <a:endParaRPr/>
          </a:p>
        </p:txBody>
      </p:sp>
      <p:sp>
        <p:nvSpPr>
          <p:cNvPr id="274" name="Google Shape;274;p7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por palabras clave frente a búsqueda semántica</a:t>
            </a:r>
            <a:endParaRPr/>
          </a:p>
        </p:txBody>
      </p:sp>
      <p:sp>
        <p:nvSpPr>
          <p:cNvPr id="281" name="Google Shape;281;p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Necesidad: </a:t>
            </a:r>
            <a:r>
              <a:rPr b="0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encontrar quejas sobre la lentitud del sitio web en comentarios.csv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914400" y="1645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Búsqueda con SQL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914400" y="2011680"/>
            <a:ext cx="5029200" cy="77724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s-ES" sz="12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texto </a:t>
            </a:r>
            <a:r>
              <a:rPr b="0" i="0" lang="es-ES" sz="12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s-ES" sz="12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comentarios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es-ES" sz="12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texto </a:t>
            </a:r>
            <a:r>
              <a:rPr b="0" i="0" lang="es-ES" sz="12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LIKE</a:t>
            </a:r>
            <a:r>
              <a:rPr b="0" i="0" lang="es-ES" sz="12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ES" sz="12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'%lento%'</a:t>
            </a:r>
            <a:r>
              <a:rPr b="0" i="0" lang="es-ES" sz="12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914400" y="2834640"/>
            <a:ext cx="5029200" cy="457200"/>
          </a:xfrm>
          <a:prstGeom prst="roundRect">
            <a:avLst>
              <a:gd fmla="val 8000" name="adj"/>
            </a:avLst>
          </a:prstGeom>
          <a:solidFill>
            <a:srgbClr val="FBE6EC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«El proceso de cambio de producto fue más lento…»</a:t>
            </a:r>
            <a:r>
              <a:rPr b="1" i="0" lang="es-ES" sz="10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   no es el sitio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914400" y="3364992"/>
            <a:ext cx="5029200" cy="457200"/>
          </a:xfrm>
          <a:prstGeom prst="roundRect">
            <a:avLst>
              <a:gd fmla="val 8000" name="adj"/>
            </a:avLst>
          </a:prstGeom>
          <a:solidFill>
            <a:srgbClr val="FBE6EC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«El soporte responde… ni muy rápido ni muy lento»</a:t>
            </a:r>
            <a:r>
              <a:rPr b="1" i="0" lang="es-ES" sz="10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   no es el sitio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14400" y="3895344"/>
            <a:ext cx="5029200" cy="457200"/>
          </a:xfrm>
          <a:prstGeom prst="roundRect">
            <a:avLst>
              <a:gd fmla="val 8000" name="adj"/>
            </a:avLst>
          </a:prstGeom>
          <a:solidFill>
            <a:srgbClr val="FBE6EC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«La verificación de identidad… fue más lenta…»</a:t>
            </a:r>
            <a:r>
              <a:rPr b="1" i="0" lang="es-ES" sz="1000" u="none" cap="none" strike="noStrike">
                <a:solidFill>
                  <a:srgbClr val="C3094A"/>
                </a:solidFill>
                <a:latin typeface="Arial"/>
                <a:ea typeface="Arial"/>
                <a:cs typeface="Arial"/>
                <a:sym typeface="Arial"/>
              </a:rPr>
              <a:t>   no es el sitio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914400" y="44805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 resultados, ninguno relevante. </a:t>
            </a: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LIKE '%lent%' aparecen 8, cuatro de ellos por la palabra «Exce</a:t>
            </a:r>
            <a:r>
              <a:rPr b="1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lent</a:t>
            </a: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e».</a:t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6217920" y="1645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Búsqueda semántica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6217920" y="2011680"/>
            <a:ext cx="5029200" cy="77724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res = col.query(query_texts=[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"el sitio web es lento"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n_results=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     </a:t>
            </a:r>
            <a:r>
              <a:rPr b="0" i="0" lang="es-ES" sz="105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colección de ChromaDB</a:t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6217920" y="2834640"/>
            <a:ext cx="5029200" cy="4572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«La página se puso lenta durante una oferta de temporada…»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217920" y="3364992"/>
            <a:ext cx="5029200" cy="4572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«…algunas páginas tardan un poco más de lo esperado en cargar.»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217920" y="3895344"/>
            <a:ext cx="5029200" cy="4572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«…el sitio podría cargar más rápido en horas pico.»</a:t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6217920" y="44805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Resultados relevantes que LIKE no encuentra: </a:t>
            </a: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cambian las palabras («lenta», «tardan», «cargar»), pero se mantiene el significado.</a:t>
            </a:r>
            <a:endParaRPr/>
          </a:p>
        </p:txBody>
      </p:sp>
      <p:sp>
        <p:nvSpPr>
          <p:cNvPr id="295" name="Google Shape;295;p8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de vecinos más cercanos (k-NN)</a:t>
            </a:r>
            <a:endParaRPr/>
          </a:p>
        </p:txBody>
      </p:sp>
      <p:sp>
        <p:nvSpPr>
          <p:cNvPr id="302" name="Google Shape;302;p9"/>
          <p:cNvSpPr txBox="1"/>
          <p:nvPr>
            <p:ph idx="1" type="body"/>
          </p:nvPr>
        </p:nvSpPr>
        <p:spPr>
          <a:xfrm>
            <a:off x="839800" y="2148840"/>
            <a:ext cx="4023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6390" lvl="0" marL="457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191919"/>
              </a:buClr>
              <a:buSzPts val="1540"/>
              <a:buFont typeface="Arial"/>
              <a:buChar char="●"/>
            </a:pPr>
            <a:r>
              <a:rPr b="0" lang="es-ES" sz="154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 anterior: similitud entre dos textos.</a:t>
            </a:r>
            <a:endParaRPr sz="1620"/>
          </a:p>
          <a:p>
            <a:pPr indent="-3263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40"/>
              <a:buFont typeface="Arial"/>
              <a:buChar char="●"/>
            </a:pPr>
            <a:r>
              <a:rPr b="0" lang="es-ES" sz="154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Hoy: dada una consulta, encontrar los k textos más cercanos entre miles o millones.</a:t>
            </a:r>
            <a:endParaRPr sz="1620"/>
          </a:p>
          <a:p>
            <a:pPr indent="-3263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40"/>
              <a:buFont typeface="Arial"/>
              <a:buChar char="●"/>
            </a:pPr>
            <a:r>
              <a:rPr b="0" lang="es-ES" sz="154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consulta «el sitio es muy lento» cae junto a los comentarios sobre el sitio web, aunque no compartan palabras.</a:t>
            </a:r>
            <a:endParaRPr sz="1620"/>
          </a:p>
          <a:p>
            <a:pPr indent="-3263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40"/>
              <a:buFont typeface="Arial"/>
              <a:buChar char="●"/>
            </a:pPr>
            <a:r>
              <a:rPr b="0" lang="es-ES" sz="154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Esta operación, k-NN, es la que optimiza una base de datos vectorial.</a:t>
            </a:r>
            <a:endParaRPr sz="1620"/>
          </a:p>
        </p:txBody>
      </p:sp>
      <p:sp>
        <p:nvSpPr>
          <p:cNvPr id="303" name="Google Shape;303;p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espacio.png"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685800"/>
            <a:ext cx="630936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>
            <a:hlinkClick r:id="rId4"/>
          </p:cNvPr>
          <p:cNvSpPr/>
          <p:nvPr/>
        </p:nvSpPr>
        <p:spPr>
          <a:xfrm>
            <a:off x="914400" y="4892040"/>
            <a:ext cx="3840480" cy="365760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Embedding Projector: projector.tensorflow.org</a:t>
            </a:r>
            <a:endParaRPr/>
          </a:p>
        </p:txBody>
      </p:sp>
      <p:sp>
        <p:nvSpPr>
          <p:cNvPr id="306" name="Google Shape;306;p9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Sentence Transformers: embeddings de frases</a:t>
            </a:r>
            <a:endParaRPr/>
          </a:p>
        </p:txBody>
      </p:sp>
      <p:sp>
        <p:nvSpPr>
          <p:cNvPr id="313" name="Google Shape;313;p10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914400" y="1325880"/>
            <a:ext cx="1819655" cy="12801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549907" y="1417320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egComments_w.png" id="317" name="Google Shape;3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554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0"/>
          <p:cNvSpPr txBox="1"/>
          <p:nvPr/>
        </p:nvSpPr>
        <p:spPr>
          <a:xfrm>
            <a:off x="914400" y="2011680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914400" y="2267712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«El envío demoró»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2798063" y="1810512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054096" y="1325880"/>
            <a:ext cx="1819655" cy="12801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689604" y="1417320"/>
            <a:ext cx="548640" cy="54864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PuzzlePiece_w.png" id="323" name="Google Shape;3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2250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0"/>
          <p:cNvSpPr txBox="1"/>
          <p:nvPr/>
        </p:nvSpPr>
        <p:spPr>
          <a:xfrm>
            <a:off x="3054096" y="2011680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Tokenización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3054096" y="2267712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sub-palabras</a:t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4937760" y="1810512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193792" y="1325880"/>
            <a:ext cx="1819655" cy="12801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829300" y="1417320"/>
            <a:ext cx="548640" cy="54864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329" name="Google Shape;3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1946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 txBox="1"/>
          <p:nvPr/>
        </p:nvSpPr>
        <p:spPr>
          <a:xfrm>
            <a:off x="5193792" y="2011680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5193792" y="2267712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12 capas de atención</a:t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7077456" y="1810512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333488" y="1325880"/>
            <a:ext cx="1819655" cy="12801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7968995" y="1417320"/>
            <a:ext cx="548640" cy="54864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mpress_w.png" id="335" name="Google Shape;33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1642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7333488" y="2011680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7333488" y="2267712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promedio de tokens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9217152" y="1810512"/>
            <a:ext cx="201168" cy="310896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9473184" y="1325880"/>
            <a:ext cx="1819655" cy="12801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0108691" y="1417320"/>
            <a:ext cx="548640" cy="5486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ubes_w.png" id="341" name="Google Shape;34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51338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9473184" y="2011680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9473184" y="2267712"/>
            <a:ext cx="1819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384 d, normalizado</a:t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914400" y="2880360"/>
            <a:ext cx="2971800" cy="251460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097280" y="2971800"/>
            <a:ext cx="2606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Qué resuelven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Sobre los Transformers vistos: un solo vector por frase o documento.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Ese vector es la unidad que se indexa en la BDV.</a:t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4160520" y="2880360"/>
            <a:ext cx="2971800" cy="25146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4343400" y="2971800"/>
            <a:ext cx="2606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Uso en el curso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Perfiles de clientes a partir de su historial de compras y reseñas.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Perfiles de productos a partir de nombre y descripción.</a:t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7406640" y="2880360"/>
            <a:ext cx="3886200" cy="251460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sentence_transformers </a:t>
            </a:r>
            <a:r>
              <a:rPr b="0" i="0" lang="es-ES" sz="10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SentenceTransformer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modelo = SentenceTransformer(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s-ES" sz="10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"paraphrase-multilingual-MiniLM-L12-v2"</a:t>
            </a: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v = modelo.encode(</a:t>
            </a:r>
            <a:r>
              <a:rPr b="0" i="0" lang="es-ES" sz="10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"El envío demoró"</a:t>
            </a: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normalize_embeddings=</a:t>
            </a:r>
            <a:r>
              <a:rPr b="0" i="0" lang="es-ES" sz="10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ES" sz="10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(v.shape)   </a:t>
            </a:r>
            <a:r>
              <a:rPr b="0" i="0" lang="es-ES" sz="10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(384,)</a:t>
            </a:r>
            <a:endParaRPr/>
          </a:p>
        </p:txBody>
      </p:sp>
      <p:sp>
        <p:nvSpPr>
          <p:cNvPr id="349" name="Google Shape;349;p10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Modelos de embedding de texto disponibles (2026)</a:t>
            </a:r>
            <a:endParaRPr/>
          </a:p>
        </p:txBody>
      </p:sp>
      <p:sp>
        <p:nvSpPr>
          <p:cNvPr id="356" name="Google Shape;356;p1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357" name="Google Shape;357;p11"/>
          <p:cNvGraphicFramePr/>
          <p:nvPr/>
        </p:nvGraphicFramePr>
        <p:xfrm>
          <a:off x="91440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{BE92FFFE-BF21-46D7-B298-DD327AE4D51F}</a:tableStyleId>
              </a:tblPr>
              <a:tblGrid>
                <a:gridCol w="3520450"/>
                <a:gridCol w="1554475"/>
                <a:gridCol w="1463050"/>
                <a:gridCol w="1097275"/>
                <a:gridCol w="27432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Idiomas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recomendado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all-MiniLM-L6-v2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Abierto, local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Inglés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Prototipos rápidos en CPU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004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paraphrase-multilingual-MiniLM-L12-v2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Abierto, local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50+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004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Laboratorio de hoy (español)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BGE-M3 (BAAI)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Abierto, local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1 024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100+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Documentos largos (8 192 tokens)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Qwen3-Embedding-0.6B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Abierto, local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hasta 1 024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100+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 calidad con pocos parámetros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text-embedding-3-small / -large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(OpenAI)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1 536 / 3 072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Multilingüe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Producción sin GPU propia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gemini-embedding-001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(Google)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3 072 → 768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100+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 calidad multilingüe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11"/>
          <p:cNvSpPr/>
          <p:nvPr/>
        </p:nvSpPr>
        <p:spPr>
          <a:xfrm>
            <a:off x="914400" y="4663440"/>
            <a:ext cx="10378440" cy="73152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097280" y="4773168"/>
            <a:ext cx="512064" cy="512064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quarePollVertical_w.png" id="360" name="Google Shape;3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416" y="4906304"/>
            <a:ext cx="245790" cy="24579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 txBox="1"/>
          <p:nvPr/>
        </p:nvSpPr>
        <p:spPr>
          <a:xfrm>
            <a:off x="1783080" y="4681728"/>
            <a:ext cx="67665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MTEB Leaderboard: </a:t>
            </a: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ranking cambia cada mes; elegir por idioma, tamaño, costo y licencia, y evaluar con datos propios.</a:t>
            </a:r>
            <a:endParaRPr/>
          </a:p>
        </p:txBody>
      </p:sp>
      <p:sp>
        <p:nvSpPr>
          <p:cNvPr id="362" name="Google Shape;362;p11">
            <a:hlinkClick r:id="rId4"/>
          </p:cNvPr>
          <p:cNvSpPr/>
          <p:nvPr/>
        </p:nvSpPr>
        <p:spPr>
          <a:xfrm>
            <a:off x="8458200" y="4846320"/>
            <a:ext cx="2651760" cy="365760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Abrir MTEB en Hugging Face</a:t>
            </a:r>
            <a:endParaRPr/>
          </a:p>
        </p:txBody>
      </p:sp>
      <p:sp>
        <p:nvSpPr>
          <p:cNvPr id="363" name="Google Shape;363;p11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Dimensiones y costo de almacenamiento</a:t>
            </a:r>
            <a:endParaRPr/>
          </a:p>
        </p:txBody>
      </p:sp>
      <p:sp>
        <p:nvSpPr>
          <p:cNvPr id="370" name="Google Shape;370;p12"/>
          <p:cNvSpPr txBox="1"/>
          <p:nvPr>
            <p:ph idx="1" type="body"/>
          </p:nvPr>
        </p:nvSpPr>
        <p:spPr>
          <a:xfrm>
            <a:off x="839800" y="1920240"/>
            <a:ext cx="40233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135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Memoria = N × d × 4 bytes (float32)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3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Más dimensiones: más matiz semántico, pero más memoria, disco y latencia.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3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1 000 millones de vectores de 1 024 d ocupan ≈ 4.1 TB sin comprimir.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3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Matryoshka (MRL): modelos entrenados para truncar el vector (3 072 → 768) con poca pérdida de calidad.</a:t>
            </a:r>
            <a:endParaRPr/>
          </a:p>
        </p:txBody>
      </p:sp>
      <p:sp>
        <p:nvSpPr>
          <p:cNvPr id="371" name="Google Shape;371;p1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372" name="Google Shape;372;p12"/>
          <p:cNvGraphicFramePr/>
          <p:nvPr/>
        </p:nvGraphicFramePr>
        <p:xfrm>
          <a:off x="5212080" y="685800"/>
          <a:ext cx="6080760" cy="4663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73" name="Google Shape;373;p12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ChromaDB: colección mínima</a:t>
            </a:r>
            <a:endParaRPr/>
          </a:p>
        </p:txBody>
      </p:sp>
      <p:sp>
        <p:nvSpPr>
          <p:cNvPr id="380" name="Google Shape;380;p13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82" name="Google Shape;382;p13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Herramienta que se usará en los ejercicios. En la Parte 2 se revisan su arquitectura, los metadatos y los filtros.</a:t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914400" y="1691640"/>
            <a:ext cx="6492240" cy="278892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chromadb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chromadb.utils </a:t>
            </a: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embedding_functions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ef = embedding_functions.SentenceTransformerEmbeddingFunction(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model_name=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"paraphrase-multilingual-MiniLM-L12-v2"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 = chromadb.Client().create_collection(       </a:t>
            </a:r>
            <a:r>
              <a:rPr b="0" i="0" lang="es-ES" sz="105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en memoria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name=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"comentarios"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embedding_function=ef,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metadata={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"hnsw:space"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"cosine"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col.add(ids=[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documents=[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"La pagina se puso lenta durante una oferta"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"Cobro duplicado en la tarjeta"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res = col.query(query_texts=[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"el sitio web es lento"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n_results=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384" name="Google Shape;384;p13"/>
          <p:cNvSpPr txBox="1"/>
          <p:nvPr/>
        </p:nvSpPr>
        <p:spPr>
          <a:xfrm>
            <a:off x="7680960" y="1691640"/>
            <a:ext cx="36118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Tres pasos</a:t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7680960" y="2103120"/>
            <a:ext cx="3611879" cy="74980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7818120" y="2249424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7" name="Google Shape;387;p13"/>
          <p:cNvSpPr txBox="1"/>
          <p:nvPr/>
        </p:nvSpPr>
        <p:spPr>
          <a:xfrm>
            <a:off x="8366760" y="2148839"/>
            <a:ext cx="28346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Crear la colección</a:t>
            </a:r>
            <a:endParaRPr/>
          </a:p>
        </p:txBody>
      </p:sp>
      <p:sp>
        <p:nvSpPr>
          <p:cNvPr id="388" name="Google Shape;388;p13"/>
          <p:cNvSpPr txBox="1"/>
          <p:nvPr/>
        </p:nvSpPr>
        <p:spPr>
          <a:xfrm>
            <a:off x="8366760" y="2450591"/>
            <a:ext cx="28346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 elige el modelo de embedding y la métrica.</a:t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7680960" y="2944368"/>
            <a:ext cx="3611879" cy="74980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7818120" y="3090672"/>
            <a:ext cx="457200" cy="45720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91" name="Google Shape;391;p13"/>
          <p:cNvSpPr txBox="1"/>
          <p:nvPr/>
        </p:nvSpPr>
        <p:spPr>
          <a:xfrm>
            <a:off x="8366760" y="2990087"/>
            <a:ext cx="28346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Agregar documentos</a:t>
            </a: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8366760" y="3291839"/>
            <a:ext cx="28346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Chroma vectoriza cada texto y lo indexa.</a:t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7680960" y="3785615"/>
            <a:ext cx="3611879" cy="74980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7818120" y="393192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95" name="Google Shape;395;p13"/>
          <p:cNvSpPr txBox="1"/>
          <p:nvPr/>
        </p:nvSpPr>
        <p:spPr>
          <a:xfrm>
            <a:off x="8366760" y="3831335"/>
            <a:ext cx="28346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/>
          </a:p>
        </p:txBody>
      </p:sp>
      <p:sp>
        <p:nvSpPr>
          <p:cNvPr id="396" name="Google Shape;396;p13"/>
          <p:cNvSpPr txBox="1"/>
          <p:nvPr/>
        </p:nvSpPr>
        <p:spPr>
          <a:xfrm>
            <a:off x="8366760" y="4133087"/>
            <a:ext cx="28346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consulta se vectoriza con el mismo modelo.</a:t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7680960" y="4663440"/>
            <a:ext cx="36118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Estructura de la respuesta</a:t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7680960" y="4983480"/>
            <a:ext cx="3611879" cy="41148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res["ids"]  res["documents"]  res["distances"]</a:t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914400" y="4709160"/>
            <a:ext cx="6492240" cy="6858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1143000" y="4709160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Client() trabaja en memoria y se pierde al cerrar el programa. </a:t>
            </a:r>
            <a:r>
              <a:rPr b="0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PersistentClient, los metadatos y los filtros se ven en la Parte 2.</a:t>
            </a:r>
            <a:endParaRPr/>
          </a:p>
        </p:txBody>
      </p:sp>
      <p:sp>
        <p:nvSpPr>
          <p:cNvPr id="401" name="Google Shape;401;p13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Configuración de la métrica en ChromaDB</a:t>
            </a:r>
            <a:endParaRPr/>
          </a:p>
        </p:txBody>
      </p: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409" name="Google Shape;409;p14"/>
          <p:cNvGraphicFramePr/>
          <p:nvPr/>
        </p:nvGraphicFramePr>
        <p:xfrm>
          <a:off x="91440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{BE92FFFE-BF21-46D7-B298-DD327AE4D51F}</a:tableStyleId>
              </a:tblPr>
              <a:tblGrid>
                <a:gridCol w="1645925"/>
                <a:gridCol w="2606050"/>
                <a:gridCol w="2103125"/>
                <a:gridCol w="2286000"/>
                <a:gridCol w="17373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Métrica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Interpretación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Chroma (hnsw:space)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devuelto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Cuándo usarla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0A7B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Coseno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= misma dirección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"cosine"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Distancia = 1 − coseno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Texto; opción recomendada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004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 punto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Igual al coseno si los vectores están normalizados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"ip"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Distancia = 1 − producto punto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Vectores normalizados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 u="none" cap="none" strike="noStrike">
                          <a:solidFill>
                            <a:srgbClr val="C309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Euclidiana (L2)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= idénticos; sin límite superior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"l2"  (por defecto)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Distancia al cuadrado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2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Modelos entrenados con L2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14"/>
          <p:cNvSpPr txBox="1"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Errores frecuentes</a:t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914400" y="4023360"/>
            <a:ext cx="3276600" cy="13716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1097280" y="4160520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riangleExclamation_w.png" id="413" name="Google Shape;4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039" y="429127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4"/>
          <p:cNvSpPr txBox="1"/>
          <p:nvPr/>
        </p:nvSpPr>
        <p:spPr>
          <a:xfrm>
            <a:off x="1737360" y="411480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L2 por defecto y fija</a:t>
            </a:r>
            <a:endParaRPr/>
          </a:p>
        </p:txBody>
      </p:sp>
      <p:sp>
        <p:nvSpPr>
          <p:cNvPr id="415" name="Google Shape;415;p14"/>
          <p:cNvSpPr txBox="1"/>
          <p:nvPr/>
        </p:nvSpPr>
        <p:spPr>
          <a:xfrm>
            <a:off x="1097280" y="4709160"/>
            <a:ext cx="295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Declarar hnsw:space al crear la colección: después no se puede cambiar.</a:t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4465320" y="4023360"/>
            <a:ext cx="3276600" cy="13716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648200" y="416052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caleBalanced_w.png" id="418" name="Google Shape;4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8959" y="429127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4"/>
          <p:cNvSpPr txBox="1"/>
          <p:nvPr/>
        </p:nvSpPr>
        <p:spPr>
          <a:xfrm>
            <a:off x="5288280" y="411480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Distancia, no similitud</a:t>
            </a:r>
            <a:endParaRPr/>
          </a:p>
        </p:txBody>
      </p:sp>
      <p:sp>
        <p:nvSpPr>
          <p:cNvPr id="420" name="Google Shape;420;p14"/>
          <p:cNvSpPr txBox="1"/>
          <p:nvPr/>
        </p:nvSpPr>
        <p:spPr>
          <a:xfrm>
            <a:off x="4648200" y="4709160"/>
            <a:ext cx="295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query() devuelve distancias (menor es mejor): con coseno, similitud = 1 − distancia.</a:t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8016239" y="4023360"/>
            <a:ext cx="3276600" cy="13716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8199119" y="416052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mpress_w.png" id="423" name="Google Shape;4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9879" y="429127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4"/>
          <p:cNvSpPr txBox="1"/>
          <p:nvPr/>
        </p:nvSpPr>
        <p:spPr>
          <a:xfrm>
            <a:off x="8839200" y="411480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Normalizar los vectores</a:t>
            </a:r>
            <a:endParaRPr/>
          </a:p>
        </p:txBody>
      </p:sp>
      <p:sp>
        <p:nvSpPr>
          <p:cNvPr id="425" name="Google Shape;425;p14"/>
          <p:cNvSpPr txBox="1"/>
          <p:nvPr/>
        </p:nvSpPr>
        <p:spPr>
          <a:xfrm>
            <a:off x="8199119" y="4709160"/>
            <a:ext cx="295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normalize_embeddings=True, coseno, producto punto y L2 ordenan igual.</a:t>
            </a:r>
            <a:endParaRPr/>
          </a:p>
        </p:txBody>
      </p:sp>
      <p:sp>
        <p:nvSpPr>
          <p:cNvPr id="426" name="Google Shape;426;p14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Umbral de similitud</a:t>
            </a:r>
            <a:endParaRPr/>
          </a:p>
        </p:txBody>
      </p:sp>
      <p:sp>
        <p:nvSpPr>
          <p:cNvPr id="433" name="Google Shape;433;p1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914400" y="1234440"/>
            <a:ext cx="10378440" cy="566928"/>
          </a:xfrm>
          <a:prstGeom prst="roundRect">
            <a:avLst>
              <a:gd fmla="val 8000" name="adj"/>
            </a:avLst>
          </a:prstGeom>
          <a:solidFill>
            <a:srgbClr val="FFF1E3"/>
          </a:solidFill>
          <a:ln>
            <a:noFill/>
          </a:ln>
        </p:spPr>
        <p:txBody>
          <a:bodyPr anchorCtr="0" anchor="ctr" bIns="109725" lIns="182875" spcFirstLastPara="1" rIns="18287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query() siempre devuelve n_results documentos</a:t>
            </a:r>
            <a:r>
              <a:rPr b="0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, aunque ninguno tenga relación con la consulta. El umbral es el valor mínimo de similitud para aceptar un resultado.</a:t>
            </a:r>
            <a:endParaRPr/>
          </a:p>
        </p:txBody>
      </p:sp>
      <p:sp>
        <p:nvSpPr>
          <p:cNvPr id="435" name="Google Shape;435;p15"/>
          <p:cNvSpPr txBox="1"/>
          <p:nvPr/>
        </p:nvSpPr>
        <p:spPr>
          <a:xfrm>
            <a:off x="914400" y="196596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No es un parámetro de ChromaDB: se aplica sobre las distancias devueltas</a:t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914400" y="2331720"/>
            <a:ext cx="6035040" cy="205740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UMBRAL = 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s-ES" sz="105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similitud mínima aceptada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res = col.query(query_texts=[consulta], n_results=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doc, dist </a:t>
            </a: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zip(res[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"documents"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 res[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"distances"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similitud = 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- dist          </a:t>
            </a:r>
            <a:r>
              <a:rPr b="0" i="0" lang="es-ES" sz="105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métrica coseno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similitud &gt;= UMBRAL: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(round(similitud, 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), doc)</a:t>
            </a:r>
            <a:endParaRPr/>
          </a:p>
        </p:txBody>
      </p:sp>
      <p:sp>
        <p:nvSpPr>
          <p:cNvPr id="437" name="Google Shape;437;p15"/>
          <p:cNvSpPr txBox="1"/>
          <p:nvPr/>
        </p:nvSpPr>
        <p:spPr>
          <a:xfrm>
            <a:off x="914400" y="4526280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métrica coseno, Chroma devuelve distancia = 1 − similitud. Con "l2" devuelve distancia al cuadrado, y el umbral se define como distancia máxima.</a:t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7269479" y="1965960"/>
            <a:ext cx="4023360" cy="10972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7434071" y="214884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istCheck_w.png" id="440" name="Google Shape;4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4831" y="227959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5"/>
          <p:cNvSpPr txBox="1"/>
          <p:nvPr/>
        </p:nvSpPr>
        <p:spPr>
          <a:xfrm>
            <a:off x="8046719" y="20574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Cómo elegirlo</a:t>
            </a:r>
            <a:endParaRPr/>
          </a:p>
        </p:txBody>
      </p:sp>
      <p:sp>
        <p:nvSpPr>
          <p:cNvPr id="442" name="Google Shape;442;p15"/>
          <p:cNvSpPr txBox="1"/>
          <p:nvPr/>
        </p:nvSpPr>
        <p:spPr>
          <a:xfrm>
            <a:off x="8046719" y="242316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Ejecutar consultas de prueba, revisar las similitudes obtenidas y fijar el corte donde empiezan los resultados irrelevantes.</a:t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7269479" y="3154680"/>
            <a:ext cx="4023360" cy="10972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7434071" y="333756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caleBalanced_w.png" id="445" name="Google Shape;4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4831" y="346831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5"/>
          <p:cNvSpPr txBox="1"/>
          <p:nvPr/>
        </p:nvSpPr>
        <p:spPr>
          <a:xfrm>
            <a:off x="8046719" y="324612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Valor de partida</a:t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8046719" y="361188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embeddings multilingües suele estar entre 0.35 y 0.50; siempre se ajusta con datos propios.</a:t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7269479" y="4343400"/>
            <a:ext cx="4023360" cy="10972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7434071" y="4526280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riangleExclamation_w.png" id="450" name="Google Shape;4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4831" y="465703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 txBox="1"/>
          <p:nvPr/>
        </p:nvSpPr>
        <p:spPr>
          <a:xfrm>
            <a:off x="8046719" y="44348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Efecto del corte</a:t>
            </a:r>
            <a:endParaRPr/>
          </a:p>
        </p:txBody>
      </p:sp>
      <p:sp>
        <p:nvSpPr>
          <p:cNvPr id="452" name="Google Shape;452;p15"/>
          <p:cNvSpPr txBox="1"/>
          <p:nvPr/>
        </p:nvSpPr>
        <p:spPr>
          <a:xfrm>
            <a:off x="8046719" y="480060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Umbral alto: menos falsos positivos y más resultados relevantes descartados. Umbral bajo: lo contrario.</a:t>
            </a:r>
            <a:endParaRPr/>
          </a:p>
        </p:txBody>
      </p:sp>
      <p:sp>
        <p:nvSpPr>
          <p:cNvPr id="453" name="Google Shape;453;p15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Actividad: comentarios más cercanos a una consulta</a:t>
            </a:r>
            <a:endParaRPr/>
          </a:p>
        </p:txBody>
      </p:sp>
      <p:sp>
        <p:nvSpPr>
          <p:cNvPr id="460" name="Google Shape;460;p16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461" name="Google Shape;461;p1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914400" y="1280160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MagnifyingGlass_w.png" id="463" name="Google Shape;4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 txBox="1"/>
          <p:nvPr/>
        </p:nvSpPr>
        <p:spPr>
          <a:xfrm>
            <a:off x="1737360" y="1280160"/>
            <a:ext cx="9418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Consulta: </a:t>
            </a:r>
            <a:r>
              <a:rPr b="0" i="0" lang="es-E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«Tuve problemas para pagar con mi tarjeta»</a:t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914400" y="2103120"/>
            <a:ext cx="10378440" cy="51206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1024128" y="2167127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67" name="Google Shape;467;p16"/>
          <p:cNvSpPr txBox="1"/>
          <p:nvPr/>
        </p:nvSpPr>
        <p:spPr>
          <a:xfrm>
            <a:off x="1554480" y="2103120"/>
            <a:ext cx="8138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«Buena selección de opciones de pago, usé la tarjeta de crédito sin ningún problema.»</a:t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9875519" y="2221991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914400" y="2706624"/>
            <a:ext cx="10378440" cy="51206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1024128" y="277063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71" name="Google Shape;471;p16"/>
          <p:cNvSpPr txBox="1"/>
          <p:nvPr/>
        </p:nvSpPr>
        <p:spPr>
          <a:xfrm>
            <a:off x="1554480" y="2706624"/>
            <a:ext cx="8138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«Muy conforme con la rapidez para resolver un reclamo por un cargo duplicado.»</a:t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9875519" y="2825496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★★★★★</a:t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914400" y="3310128"/>
            <a:ext cx="10378440" cy="51206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1024128" y="3374136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75" name="Google Shape;475;p16"/>
          <p:cNvSpPr txBox="1"/>
          <p:nvPr/>
        </p:nvSpPr>
        <p:spPr>
          <a:xfrm>
            <a:off x="1554480" y="3310128"/>
            <a:ext cx="8138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«El proceso de verificación en dos pasos falló varias veces y bloqueó temporalmente mi cuenta.»</a:t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9875519" y="3429000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★★☆☆☆</a:t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914400" y="3913632"/>
            <a:ext cx="10378440" cy="51206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1024128" y="3977640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79" name="Google Shape;479;p16"/>
          <p:cNvSpPr txBox="1"/>
          <p:nvPr/>
        </p:nvSpPr>
        <p:spPr>
          <a:xfrm>
            <a:off x="1554480" y="3913632"/>
            <a:ext cx="8138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«La app móvil es muy fluida, mucho mejor que comprar desde el navegador.»</a:t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9875519" y="4032504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★★★★★</a:t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914400" y="4517136"/>
            <a:ext cx="10378440" cy="51206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1024128" y="4581144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483" name="Google Shape;483;p16"/>
          <p:cNvSpPr txBox="1"/>
          <p:nvPr/>
        </p:nvSpPr>
        <p:spPr>
          <a:xfrm>
            <a:off x="1554480" y="4517136"/>
            <a:ext cx="8138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«La factura electrónica llegó con datos incorrectos y tuve que pedir que la corrigieran.»</a:t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9875519" y="4636008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★★☆☆☆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914400" y="513892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Ordenen de mayor a menor similitud. </a:t>
            </a:r>
            <a:r>
              <a:rPr b="0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Lo verificaremos con código en el Ejercicio 1.</a:t>
            </a:r>
            <a:endParaRPr/>
          </a:p>
        </p:txBody>
      </p:sp>
      <p:sp>
        <p:nvSpPr>
          <p:cNvPr id="486" name="Google Shape;486;p16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Ejercicio 1: búsqueda semántica en comentarios.csv</a:t>
            </a:r>
            <a:endParaRPr/>
          </a:p>
        </p:txBody>
      </p:sp>
      <p:sp>
        <p:nvSpPr>
          <p:cNvPr id="493" name="Google Shape;493;p1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914400" y="1234440"/>
            <a:ext cx="2926080" cy="310896"/>
          </a:xfrm>
          <a:prstGeom prst="roundRect">
            <a:avLst>
              <a:gd fmla="val 50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Demostración guiada en PyCharm</a:t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3977639" y="1234440"/>
            <a:ext cx="2834640" cy="310896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comentarios.csv · 135 registros</a:t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914400" y="1783080"/>
            <a:ext cx="2388870" cy="18288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1097280" y="192024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98" name="Google Shape;498;p17"/>
          <p:cNvSpPr txBox="1"/>
          <p:nvPr/>
        </p:nvSpPr>
        <p:spPr>
          <a:xfrm>
            <a:off x="1691640" y="1965960"/>
            <a:ext cx="15201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Cargar</a:t>
            </a:r>
            <a:endParaRPr/>
          </a:p>
        </p:txBody>
      </p:sp>
      <p:sp>
        <p:nvSpPr>
          <p:cNvPr id="499" name="Google Shape;499;p17"/>
          <p:cNvSpPr txBox="1"/>
          <p:nvPr/>
        </p:nvSpPr>
        <p:spPr>
          <a:xfrm>
            <a:off x="1097280" y="2560320"/>
            <a:ext cx="206882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Leer comentarios.csv con pandas: texto, calificacion, cliente_ciudad.</a:t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3577589" y="1783080"/>
            <a:ext cx="2388870" cy="18288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3760470" y="1920240"/>
            <a:ext cx="502920" cy="50292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02" name="Google Shape;502;p17"/>
          <p:cNvSpPr txBox="1"/>
          <p:nvPr/>
        </p:nvSpPr>
        <p:spPr>
          <a:xfrm>
            <a:off x="4354829" y="1965960"/>
            <a:ext cx="15201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Vectorizar</a:t>
            </a:r>
            <a:endParaRPr/>
          </a:p>
        </p:txBody>
      </p:sp>
      <p:sp>
        <p:nvSpPr>
          <p:cNvPr id="503" name="Google Shape;503;p17"/>
          <p:cNvSpPr txBox="1"/>
          <p:nvPr/>
        </p:nvSpPr>
        <p:spPr>
          <a:xfrm>
            <a:off x="3760470" y="2560320"/>
            <a:ext cx="206882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Generar los 135 embeddings del campo texto con el modelo multilingüe.</a:t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6240779" y="1783080"/>
            <a:ext cx="2388870" cy="18288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6423659" y="192024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06" name="Google Shape;506;p17"/>
          <p:cNvSpPr txBox="1"/>
          <p:nvPr/>
        </p:nvSpPr>
        <p:spPr>
          <a:xfrm>
            <a:off x="7018019" y="1965960"/>
            <a:ext cx="15201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/>
          </a:p>
        </p:txBody>
      </p:sp>
      <p:sp>
        <p:nvSpPr>
          <p:cNvPr id="507" name="Google Shape;507;p17"/>
          <p:cNvSpPr txBox="1"/>
          <p:nvPr/>
        </p:nvSpPr>
        <p:spPr>
          <a:xfrm>
            <a:off x="6423659" y="2560320"/>
            <a:ext cx="206882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Cargarlos en una colección de Chroma y recuperar el top-5 con su distancia.</a:t>
            </a:r>
            <a:endParaRPr/>
          </a:p>
        </p:txBody>
      </p:sp>
      <p:sp>
        <p:nvSpPr>
          <p:cNvPr id="508" name="Google Shape;508;p17"/>
          <p:cNvSpPr/>
          <p:nvPr/>
        </p:nvSpPr>
        <p:spPr>
          <a:xfrm>
            <a:off x="8903969" y="1783080"/>
            <a:ext cx="2388870" cy="18288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9086849" y="1920240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10" name="Google Shape;510;p17"/>
          <p:cNvSpPr txBox="1"/>
          <p:nvPr/>
        </p:nvSpPr>
        <p:spPr>
          <a:xfrm>
            <a:off x="9681209" y="1965960"/>
            <a:ext cx="15201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endParaRPr/>
          </a:p>
        </p:txBody>
      </p:sp>
      <p:sp>
        <p:nvSpPr>
          <p:cNvPr id="511" name="Google Shape;511;p17"/>
          <p:cNvSpPr txBox="1"/>
          <p:nvPr/>
        </p:nvSpPr>
        <p:spPr>
          <a:xfrm>
            <a:off x="9086849" y="2560320"/>
            <a:ext cx="206882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Aplicar un umbral de similitud y contrastar con WHERE texto LIKE '%lento%'.</a:t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914400" y="3840480"/>
            <a:ext cx="5052059" cy="155448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7"/>
          <p:cNvSpPr txBox="1"/>
          <p:nvPr/>
        </p:nvSpPr>
        <p:spPr>
          <a:xfrm>
            <a:off x="1143000" y="3931920"/>
            <a:ext cx="4686299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Consultas sugeridas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«el sitio web es lento»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«tuve problemas para pagar con mi tarjeta»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«quiero devolver un producto»</a:t>
            </a: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6240779" y="3840480"/>
            <a:ext cx="5052059" cy="155448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7"/>
          <p:cNvSpPr txBox="1"/>
          <p:nvPr/>
        </p:nvSpPr>
        <p:spPr>
          <a:xfrm>
            <a:off x="6469379" y="3931920"/>
            <a:ext cx="4686299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Preguntas de discusión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¿Por qué aparece un comentario positivo sobre pagos en el top-5?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¿Qué umbral usarían para descartar resultados? Probar con 0.45.</a:t>
            </a:r>
            <a:endParaRPr/>
          </a:p>
        </p:txBody>
      </p:sp>
      <p:sp>
        <p:nvSpPr>
          <p:cNvPr id="516" name="Google Shape;516;p17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8"/>
          <p:cNvSpPr txBox="1"/>
          <p:nvPr>
            <p:ph type="ctrTitle"/>
          </p:nvPr>
        </p:nvSpPr>
        <p:spPr>
          <a:xfrm>
            <a:off x="1069848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s-ES" sz="32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Parte 2. Bases de datos vectoriales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3" name="Google Shape;523;p18"/>
          <p:cNvSpPr txBox="1"/>
          <p:nvPr>
            <p:ph idx="1" type="subTitle"/>
          </p:nvPr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ES" sz="1800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Arquitectura, índices ANN y ecosistema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24" name="Google Shape;524;p18"/>
          <p:cNvSpPr/>
          <p:nvPr/>
        </p:nvSpPr>
        <p:spPr>
          <a:xfrm>
            <a:off x="5641848" y="1188720"/>
            <a:ext cx="914400" cy="91440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25" name="Google Shape;525;p18">
            <a:hlinkClick action="ppaction://hlinksldjump" r:id="rId3"/>
          </p:cNvPr>
          <p:cNvSpPr/>
          <p:nvPr/>
        </p:nvSpPr>
        <p:spPr>
          <a:xfrm>
            <a:off x="9646920" y="384048"/>
            <a:ext cx="164592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Volver a la agenda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es una base de datos vectorial?</a:t>
            </a:r>
            <a:endParaRPr/>
          </a:p>
        </p:txBody>
      </p:sp>
      <p:sp>
        <p:nvSpPr>
          <p:cNvPr id="532" name="Google Shape;532;p19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533" name="Google Shape;533;p1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34" name="Google Shape;534;p19"/>
          <p:cNvSpPr txBox="1"/>
          <p:nvPr/>
        </p:nvSpPr>
        <p:spPr>
          <a:xfrm>
            <a:off x="914400" y="12344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Sistema especializado en </a:t>
            </a:r>
            <a:r>
              <a:rPr b="1" i="0" lang="es-ES" sz="15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almacenar, indexar y consultar</a:t>
            </a:r>
            <a:r>
              <a:rPr b="0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 millones de embeddings por similitud, con baja latencia.</a:t>
            </a:r>
            <a:endParaRPr/>
          </a:p>
        </p:txBody>
      </p:sp>
      <p:sp>
        <p:nvSpPr>
          <p:cNvPr id="535" name="Google Shape;535;p19"/>
          <p:cNvSpPr/>
          <p:nvPr/>
        </p:nvSpPr>
        <p:spPr>
          <a:xfrm>
            <a:off x="914400" y="1920240"/>
            <a:ext cx="3276600" cy="20116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1143000" y="2103120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w.png" id="537" name="Google Shape;5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401" y="22505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9"/>
          <p:cNvSpPr txBox="1"/>
          <p:nvPr/>
        </p:nvSpPr>
        <p:spPr>
          <a:xfrm>
            <a:off x="1828800" y="2103120"/>
            <a:ext cx="2270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Almacenamiento optimizado</a:t>
            </a:r>
            <a:endParaRPr/>
          </a:p>
        </p:txBody>
      </p:sp>
      <p:sp>
        <p:nvSpPr>
          <p:cNvPr id="539" name="Google Shape;539;p19"/>
          <p:cNvSpPr txBox="1"/>
          <p:nvPr/>
        </p:nvSpPr>
        <p:spPr>
          <a:xfrm>
            <a:off x="1143000" y="2788920"/>
            <a:ext cx="2865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Guarda cada vector con su identificador y metadatos (categoría, precio, fecha) en estructuras pensadas para búsquedas masivas.</a:t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4465320" y="1920240"/>
            <a:ext cx="3276600" cy="20116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4693920" y="2103120"/>
            <a:ext cx="566928" cy="56692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MagnifyingGlass_w.png" id="542" name="Google Shape;5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321" y="22505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9"/>
          <p:cNvSpPr txBox="1"/>
          <p:nvPr/>
        </p:nvSpPr>
        <p:spPr>
          <a:xfrm>
            <a:off x="5379720" y="2103120"/>
            <a:ext cx="2270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por similitud</a:t>
            </a:r>
            <a:endParaRPr/>
          </a:p>
        </p:txBody>
      </p:sp>
      <p:sp>
        <p:nvSpPr>
          <p:cNvPr id="544" name="Google Shape;544;p19"/>
          <p:cNvSpPr txBox="1"/>
          <p:nvPr/>
        </p:nvSpPr>
        <p:spPr>
          <a:xfrm>
            <a:off x="4693920" y="2788920"/>
            <a:ext cx="2865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Responde «los k elementos más parecidos a este vector» en milisegundos, en lugar de buscar coincidencias exactas.</a:t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8016239" y="1920240"/>
            <a:ext cx="3276600" cy="20116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8244839" y="2103120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caleBalanced_w.png" id="547" name="Google Shape;54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2241" y="22505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9"/>
          <p:cNvSpPr txBox="1"/>
          <p:nvPr/>
        </p:nvSpPr>
        <p:spPr>
          <a:xfrm>
            <a:off x="8930640" y="2103120"/>
            <a:ext cx="2270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Métricas de distancia</a:t>
            </a:r>
            <a:endParaRPr/>
          </a:p>
        </p:txBody>
      </p:sp>
      <p:sp>
        <p:nvSpPr>
          <p:cNvPr id="549" name="Google Shape;549;p19"/>
          <p:cNvSpPr txBox="1"/>
          <p:nvPr/>
        </p:nvSpPr>
        <p:spPr>
          <a:xfrm>
            <a:off x="8244839" y="2788920"/>
            <a:ext cx="2865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similitud coseno, el producto punto o L2 se definen al crear la colección y determinan el índice.</a:t>
            </a:r>
            <a:endParaRPr/>
          </a:p>
        </p:txBody>
      </p:sp>
      <p:sp>
        <p:nvSpPr>
          <p:cNvPr id="550" name="Google Shape;550;p19"/>
          <p:cNvSpPr txBox="1"/>
          <p:nvPr/>
        </p:nvSpPr>
        <p:spPr>
          <a:xfrm>
            <a:off x="914400" y="4114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Estructura de un registro</a:t>
            </a:r>
            <a:endParaRPr/>
          </a:p>
        </p:txBody>
      </p:sp>
      <p:sp>
        <p:nvSpPr>
          <p:cNvPr id="551" name="Google Shape;551;p19"/>
          <p:cNvSpPr/>
          <p:nvPr/>
        </p:nvSpPr>
        <p:spPr>
          <a:xfrm>
            <a:off x="914400" y="4462272"/>
            <a:ext cx="10378440" cy="932688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"21"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"embedding"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48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..., 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    </a:t>
            </a:r>
            <a:r>
              <a:rPr b="0" i="0" lang="es-ES" sz="11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384 valores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"document"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"Sony WH-1000XM5: audífonos con cancelación de ruido..."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"metadata"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"categoria"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"Audio"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"precio"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1699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"calificacion_promedio"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s-ES" sz="110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 }</a:t>
            </a:r>
            <a:endParaRPr/>
          </a:p>
        </p:txBody>
      </p:sp>
      <p:sp>
        <p:nvSpPr>
          <p:cNvPr id="552" name="Google Shape;552;p19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Base de datos relacional frente a base de datos vectorial</a:t>
            </a:r>
            <a:endParaRPr/>
          </a:p>
        </p:txBody>
      </p:sp>
      <p:sp>
        <p:nvSpPr>
          <p:cNvPr id="559" name="Google Shape;559;p2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560" name="Google Shape;560;p20"/>
          <p:cNvGraphicFramePr/>
          <p:nvPr/>
        </p:nvGraphicFramePr>
        <p:xfrm>
          <a:off x="91440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{BE92FFFE-BF21-46D7-B298-DD327AE4D51F}</a:tableStyleId>
              </a:tblPr>
              <a:tblGrid>
                <a:gridCol w="2103125"/>
                <a:gridCol w="4114800"/>
                <a:gridCol w="416052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Relacional (SQL)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Vectorial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Unidad de dato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Filas y columnas tipadas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Vectores + documento + metadatos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consulta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Coincidencia exacta, rangos, JOIN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Similitud: k vecinos más cercanos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WHERE categoria = 'Audio'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«audífonos para correr» → top-5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Índices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B-tree, hash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HNSW, IVF, PQ, DiskANN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Exacto y determinista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Aproximado, ordenado por puntaje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Fortaleza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Transacciones ACID e integridad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Semántica y datos no estructurados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61" name="Google Shape;561;p20"/>
          <p:cNvSpPr/>
          <p:nvPr/>
        </p:nvSpPr>
        <p:spPr>
          <a:xfrm>
            <a:off x="914400" y="4572000"/>
            <a:ext cx="10378440" cy="82296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115568" y="4700016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PuzzlePiece_w.png" id="563" name="Google Shape;5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969" y="48474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0"/>
          <p:cNvSpPr txBox="1"/>
          <p:nvPr/>
        </p:nvSpPr>
        <p:spPr>
          <a:xfrm>
            <a:off x="1874519" y="4590288"/>
            <a:ext cx="92354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Uso conjunto: </a:t>
            </a:r>
            <a:r>
              <a:rPr b="0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SQL para transacciones y reportes; la BDV para buscar por significado. Ambas se enlazan por un identificador común (p. ej., el id del producto).</a:t>
            </a:r>
            <a:endParaRPr/>
          </a:p>
        </p:txBody>
      </p:sp>
      <p:sp>
        <p:nvSpPr>
          <p:cNvPr id="565" name="Google Shape;565;p20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Arquitectura: flujo de ingesta y de consulta</a:t>
            </a:r>
            <a:endParaRPr/>
          </a:p>
        </p:txBody>
      </p:sp>
      <p:sp>
        <p:nvSpPr>
          <p:cNvPr id="572" name="Google Shape;572;p2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3" name="Google Shape;573;p21"/>
          <p:cNvSpPr/>
          <p:nvPr/>
        </p:nvSpPr>
        <p:spPr>
          <a:xfrm>
            <a:off x="914400" y="1417320"/>
            <a:ext cx="2194560" cy="292608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Ingesta (por lotes)</a:t>
            </a:r>
            <a:endParaRPr/>
          </a:p>
        </p:txBody>
      </p:sp>
      <p:sp>
        <p:nvSpPr>
          <p:cNvPr id="574" name="Google Shape;574;p21"/>
          <p:cNvSpPr/>
          <p:nvPr/>
        </p:nvSpPr>
        <p:spPr>
          <a:xfrm>
            <a:off x="914400" y="1828800"/>
            <a:ext cx="2354580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1051560" y="196596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Lines_w.png" id="576" name="Google Shape;5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31" y="208483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1"/>
          <p:cNvSpPr txBox="1"/>
          <p:nvPr/>
        </p:nvSpPr>
        <p:spPr>
          <a:xfrm>
            <a:off x="1600200" y="1938528"/>
            <a:ext cx="1577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Datos fuente</a:t>
            </a:r>
            <a:endParaRPr/>
          </a:p>
        </p:txBody>
      </p:sp>
      <p:sp>
        <p:nvSpPr>
          <p:cNvPr id="578" name="Google Shape;578;p21"/>
          <p:cNvSpPr txBox="1"/>
          <p:nvPr/>
        </p:nvSpPr>
        <p:spPr>
          <a:xfrm>
            <a:off x="1051560" y="246888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CSV, PDF, tablas SQL</a:t>
            </a:r>
            <a:endParaRPr/>
          </a:p>
        </p:txBody>
      </p:sp>
      <p:sp>
        <p:nvSpPr>
          <p:cNvPr id="579" name="Google Shape;579;p21"/>
          <p:cNvSpPr/>
          <p:nvPr/>
        </p:nvSpPr>
        <p:spPr>
          <a:xfrm>
            <a:off x="3342132" y="22402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3589020" y="1828800"/>
            <a:ext cx="2354580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3726180" y="196596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PuzzlePiece_w.png" id="582" name="Google Shape;5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5052" y="208483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1"/>
          <p:cNvSpPr txBox="1"/>
          <p:nvPr/>
        </p:nvSpPr>
        <p:spPr>
          <a:xfrm>
            <a:off x="4274820" y="1938528"/>
            <a:ext cx="1577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Limpieza y fragmentos</a:t>
            </a:r>
            <a:endParaRPr/>
          </a:p>
        </p:txBody>
      </p:sp>
      <p:sp>
        <p:nvSpPr>
          <p:cNvPr id="584" name="Google Shape;584;p21"/>
          <p:cNvSpPr txBox="1"/>
          <p:nvPr/>
        </p:nvSpPr>
        <p:spPr>
          <a:xfrm>
            <a:off x="3726180" y="246888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texto + metadatos</a:t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6016752" y="22402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6263640" y="1828800"/>
            <a:ext cx="2354580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588" name="Google Shape;5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672" y="208483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1"/>
          <p:cNvSpPr txBox="1"/>
          <p:nvPr/>
        </p:nvSpPr>
        <p:spPr>
          <a:xfrm>
            <a:off x="6949440" y="1938528"/>
            <a:ext cx="1577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Modelo de embedding</a:t>
            </a:r>
            <a:endParaRPr/>
          </a:p>
        </p:txBody>
      </p:sp>
      <p:sp>
        <p:nvSpPr>
          <p:cNvPr id="590" name="Google Shape;590;p21"/>
          <p:cNvSpPr txBox="1"/>
          <p:nvPr/>
        </p:nvSpPr>
        <p:spPr>
          <a:xfrm>
            <a:off x="6400800" y="246888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texto → vector</a:t>
            </a:r>
            <a:endParaRPr/>
          </a:p>
        </p:txBody>
      </p:sp>
      <p:sp>
        <p:nvSpPr>
          <p:cNvPr id="591" name="Google Shape;591;p21"/>
          <p:cNvSpPr/>
          <p:nvPr/>
        </p:nvSpPr>
        <p:spPr>
          <a:xfrm>
            <a:off x="8691372" y="22402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8938260" y="1828800"/>
            <a:ext cx="2354580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9075420" y="196596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w.png" id="594" name="Google Shape;5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4292" y="208483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1"/>
          <p:cNvSpPr txBox="1"/>
          <p:nvPr/>
        </p:nvSpPr>
        <p:spPr>
          <a:xfrm>
            <a:off x="9624060" y="1938528"/>
            <a:ext cx="1577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Índice vectorial</a:t>
            </a:r>
            <a:endParaRPr/>
          </a:p>
        </p:txBody>
      </p:sp>
      <p:sp>
        <p:nvSpPr>
          <p:cNvPr id="596" name="Google Shape;596;p21"/>
          <p:cNvSpPr txBox="1"/>
          <p:nvPr/>
        </p:nvSpPr>
        <p:spPr>
          <a:xfrm>
            <a:off x="9075420" y="2468880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HNSW + metadatos</a:t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914400" y="3246120"/>
            <a:ext cx="2194560" cy="292608"/>
          </a:xfrm>
          <a:prstGeom prst="roundRect">
            <a:avLst>
              <a:gd fmla="val 50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 (en línea)</a:t>
            </a:r>
            <a:endParaRPr/>
          </a:p>
        </p:txBody>
      </p:sp>
      <p:sp>
        <p:nvSpPr>
          <p:cNvPr id="598" name="Google Shape;598;p21"/>
          <p:cNvSpPr/>
          <p:nvPr/>
        </p:nvSpPr>
        <p:spPr>
          <a:xfrm>
            <a:off x="914400" y="3657600"/>
            <a:ext cx="1819655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1051560" y="379476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_w.png" id="600" name="Google Shape;6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0431" y="39136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1"/>
          <p:cNvSpPr txBox="1"/>
          <p:nvPr/>
        </p:nvSpPr>
        <p:spPr>
          <a:xfrm>
            <a:off x="1600200" y="3767328"/>
            <a:ext cx="1042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endParaRPr/>
          </a:p>
        </p:txBody>
      </p:sp>
      <p:sp>
        <p:nvSpPr>
          <p:cNvPr id="602" name="Google Shape;602;p21"/>
          <p:cNvSpPr txBox="1"/>
          <p:nvPr/>
        </p:nvSpPr>
        <p:spPr>
          <a:xfrm>
            <a:off x="1051560" y="4297680"/>
            <a:ext cx="15910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«audífonos para correr»</a:t>
            </a:r>
            <a:endParaRPr/>
          </a:p>
        </p:txBody>
      </p:sp>
      <p:sp>
        <p:nvSpPr>
          <p:cNvPr id="603" name="Google Shape;603;p21"/>
          <p:cNvSpPr/>
          <p:nvPr/>
        </p:nvSpPr>
        <p:spPr>
          <a:xfrm>
            <a:off x="2807208" y="40690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3054096" y="3657600"/>
            <a:ext cx="1819655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3191256" y="379476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606" name="Google Shape;6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127" y="39136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1"/>
          <p:cNvSpPr txBox="1"/>
          <p:nvPr/>
        </p:nvSpPr>
        <p:spPr>
          <a:xfrm>
            <a:off x="3739896" y="3767328"/>
            <a:ext cx="1042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Mismo modelo</a:t>
            </a:r>
            <a:endParaRPr/>
          </a:p>
        </p:txBody>
      </p:sp>
      <p:sp>
        <p:nvSpPr>
          <p:cNvPr id="608" name="Google Shape;608;p21"/>
          <p:cNvSpPr txBox="1"/>
          <p:nvPr/>
        </p:nvSpPr>
        <p:spPr>
          <a:xfrm>
            <a:off x="3191256" y="4297680"/>
            <a:ext cx="15910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consulta → vector</a:t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4946904" y="40690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5193792" y="3657600"/>
            <a:ext cx="1819655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5330952" y="379476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MagnifyingGlass_w.png" id="612" name="Google Shape;61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49824" y="39136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1"/>
          <p:cNvSpPr txBox="1"/>
          <p:nvPr/>
        </p:nvSpPr>
        <p:spPr>
          <a:xfrm>
            <a:off x="5879592" y="3767328"/>
            <a:ext cx="1042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ANN</a:t>
            </a:r>
            <a:endParaRPr/>
          </a:p>
        </p:txBody>
      </p:sp>
      <p:sp>
        <p:nvSpPr>
          <p:cNvPr id="614" name="Google Shape;614;p21"/>
          <p:cNvSpPr txBox="1"/>
          <p:nvPr/>
        </p:nvSpPr>
        <p:spPr>
          <a:xfrm>
            <a:off x="5330952" y="4297680"/>
            <a:ext cx="15910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+ filtros por metadatos</a:t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7086600" y="40690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7333488" y="3657600"/>
            <a:ext cx="1819655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7470648" y="379476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istCheck_w.png" id="618" name="Google Shape;61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89520" y="39136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1"/>
          <p:cNvSpPr txBox="1"/>
          <p:nvPr/>
        </p:nvSpPr>
        <p:spPr>
          <a:xfrm>
            <a:off x="8019288" y="3767328"/>
            <a:ext cx="1042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Top-k</a:t>
            </a:r>
            <a:endParaRPr/>
          </a:p>
        </p:txBody>
      </p:sp>
      <p:sp>
        <p:nvSpPr>
          <p:cNvPr id="620" name="Google Shape;620;p21"/>
          <p:cNvSpPr txBox="1"/>
          <p:nvPr/>
        </p:nvSpPr>
        <p:spPr>
          <a:xfrm>
            <a:off x="7470648" y="4297680"/>
            <a:ext cx="15910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ids, puntajes, datos</a:t>
            </a:r>
            <a:endParaRPr/>
          </a:p>
        </p:txBody>
      </p:sp>
      <p:sp>
        <p:nvSpPr>
          <p:cNvPr id="621" name="Google Shape;621;p21"/>
          <p:cNvSpPr/>
          <p:nvPr/>
        </p:nvSpPr>
        <p:spPr>
          <a:xfrm>
            <a:off x="9226296" y="406908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9473184" y="3657600"/>
            <a:ext cx="1819655" cy="11430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9610344" y="379476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ocket_w.png" id="624" name="Google Shape;62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29216" y="39136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1"/>
          <p:cNvSpPr txBox="1"/>
          <p:nvPr/>
        </p:nvSpPr>
        <p:spPr>
          <a:xfrm>
            <a:off x="10158984" y="3767328"/>
            <a:ext cx="1042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endParaRPr/>
          </a:p>
        </p:txBody>
      </p:sp>
      <p:sp>
        <p:nvSpPr>
          <p:cNvPr id="626" name="Google Shape;626;p21"/>
          <p:cNvSpPr txBox="1"/>
          <p:nvPr/>
        </p:nvSpPr>
        <p:spPr>
          <a:xfrm>
            <a:off x="9610344" y="4297680"/>
            <a:ext cx="15910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búsqueda, RAG, recomendación</a:t>
            </a:r>
            <a:endParaRPr/>
          </a:p>
        </p:txBody>
      </p:sp>
      <p:cxnSp>
        <p:nvCxnSpPr>
          <p:cNvPr id="627" name="Google Shape;627;p21"/>
          <p:cNvCxnSpPr/>
          <p:nvPr/>
        </p:nvCxnSpPr>
        <p:spPr>
          <a:xfrm flipH="1">
            <a:off x="6103620" y="2971800"/>
            <a:ext cx="4011930" cy="685800"/>
          </a:xfrm>
          <a:prstGeom prst="straightConnector1">
            <a:avLst/>
          </a:prstGeom>
          <a:noFill/>
          <a:ln cap="flat" cmpd="sng" w="22225">
            <a:solidFill>
              <a:srgbClr val="042354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8" name="Google Shape;628;p21"/>
          <p:cNvSpPr/>
          <p:nvPr/>
        </p:nvSpPr>
        <p:spPr>
          <a:xfrm>
            <a:off x="914400" y="4983480"/>
            <a:ext cx="10378440" cy="457200"/>
          </a:xfrm>
          <a:prstGeom prst="roundRect">
            <a:avLst>
              <a:gd fmla="val 8000" name="adj"/>
            </a:avLst>
          </a:prstGeom>
          <a:solidFill>
            <a:srgbClr val="FFF1E3"/>
          </a:solidFill>
          <a:ln>
            <a:noFill/>
          </a:ln>
        </p:spPr>
        <p:txBody>
          <a:bodyPr anchorCtr="0" anchor="ctr" bIns="109725" lIns="182875" spcFirstLastPara="1" rIns="18287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FF9929"/>
                </a:solidFill>
                <a:latin typeface="Arial"/>
                <a:ea typeface="Arial"/>
                <a:cs typeface="Arial"/>
                <a:sym typeface="Arial"/>
              </a:rPr>
              <a:t>Importante: </a:t>
            </a: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indexar y consultar con el mismo modelo; vectores de modelos distintos no son comparables.</a:t>
            </a:r>
            <a:endParaRPr/>
          </a:p>
        </p:txBody>
      </p:sp>
      <p:sp>
        <p:nvSpPr>
          <p:cNvPr id="629" name="Google Shape;629;p21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exacta por fuerza bruta</a:t>
            </a:r>
            <a:endParaRPr/>
          </a:p>
        </p:txBody>
      </p:sp>
      <p:sp>
        <p:nvSpPr>
          <p:cNvPr id="636" name="Google Shape;636;p22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637" name="Google Shape;637;p2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38" name="Google Shape;638;p22"/>
          <p:cNvSpPr txBox="1"/>
          <p:nvPr/>
        </p:nvSpPr>
        <p:spPr>
          <a:xfrm>
            <a:off x="914400" y="137160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8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1 000 000</a:t>
            </a:r>
            <a:endParaRPr/>
          </a:p>
        </p:txBody>
      </p:sp>
      <p:sp>
        <p:nvSpPr>
          <p:cNvPr id="639" name="Google Shape;639;p22"/>
          <p:cNvSpPr txBox="1"/>
          <p:nvPr/>
        </p:nvSpPr>
        <p:spPr>
          <a:xfrm>
            <a:off x="914400" y="2029967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vectores en la colección</a:t>
            </a:r>
            <a:endParaRPr/>
          </a:p>
        </p:txBody>
      </p:sp>
      <p:sp>
        <p:nvSpPr>
          <p:cNvPr id="640" name="Google Shape;640;p22"/>
          <p:cNvSpPr txBox="1"/>
          <p:nvPr/>
        </p:nvSpPr>
        <p:spPr>
          <a:xfrm>
            <a:off x="914400" y="256032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8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× 768</a:t>
            </a:r>
            <a:endParaRPr/>
          </a:p>
        </p:txBody>
      </p:sp>
      <p:sp>
        <p:nvSpPr>
          <p:cNvPr id="641" name="Google Shape;641;p22"/>
          <p:cNvSpPr txBox="1"/>
          <p:nvPr/>
        </p:nvSpPr>
        <p:spPr>
          <a:xfrm>
            <a:off x="914400" y="3218687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dimensiones por vector</a:t>
            </a:r>
            <a:endParaRPr/>
          </a:p>
        </p:txBody>
      </p:sp>
      <p:sp>
        <p:nvSpPr>
          <p:cNvPr id="642" name="Google Shape;642;p22"/>
          <p:cNvSpPr txBox="1"/>
          <p:nvPr/>
        </p:nvSpPr>
        <p:spPr>
          <a:xfrm>
            <a:off x="914400" y="3749039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800" u="none" cap="none" strike="noStrike">
                <a:solidFill>
                  <a:srgbClr val="FF9929"/>
                </a:solidFill>
                <a:latin typeface="Arial"/>
                <a:ea typeface="Arial"/>
                <a:cs typeface="Arial"/>
                <a:sym typeface="Arial"/>
              </a:rPr>
              <a:t>≈ 768 M</a:t>
            </a:r>
            <a:endParaRPr/>
          </a:p>
        </p:txBody>
      </p:sp>
      <p:sp>
        <p:nvSpPr>
          <p:cNvPr id="643" name="Google Shape;643;p22"/>
          <p:cNvSpPr txBox="1"/>
          <p:nvPr/>
        </p:nvSpPr>
        <p:spPr>
          <a:xfrm>
            <a:off x="914400" y="4407407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multiplicaciones por consulta</a:t>
            </a:r>
            <a:endParaRPr/>
          </a:p>
        </p:txBody>
      </p:sp>
      <p:sp>
        <p:nvSpPr>
          <p:cNvPr id="644" name="Google Shape;644;p22"/>
          <p:cNvSpPr txBox="1"/>
          <p:nvPr/>
        </p:nvSpPr>
        <p:spPr>
          <a:xfrm>
            <a:off x="914400" y="48920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k-NN exacto: O(n · d) por consulta. </a:t>
            </a:r>
            <a:r>
              <a:rPr b="0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No escala con miles de usuarios concurrentes.</a:t>
            </a:r>
            <a:endParaRPr/>
          </a:p>
        </p:txBody>
      </p:sp>
      <p:graphicFrame>
        <p:nvGraphicFramePr>
          <p:cNvPr id="645" name="Google Shape;645;p22"/>
          <p:cNvGraphicFramePr/>
          <p:nvPr/>
        </p:nvGraphicFramePr>
        <p:xfrm>
          <a:off x="5303520" y="1280160"/>
          <a:ext cx="598932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46" name="Google Shape;646;p22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3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aproximada (ANN): familias de índices</a:t>
            </a:r>
            <a:endParaRPr/>
          </a:p>
        </p:txBody>
      </p:sp>
      <p:sp>
        <p:nvSpPr>
          <p:cNvPr id="653" name="Google Shape;653;p2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914400" y="1325880"/>
            <a:ext cx="2388870" cy="3246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1743075" y="1463040"/>
            <a:ext cx="685800" cy="6858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ircleNodes_w.png" id="656" name="Google Shape;6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1382" y="16413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3"/>
          <p:cNvSpPr txBox="1"/>
          <p:nvPr/>
        </p:nvSpPr>
        <p:spPr>
          <a:xfrm>
            <a:off x="914400" y="2240280"/>
            <a:ext cx="2388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GRAFOS</a:t>
            </a:r>
            <a:endParaRPr/>
          </a:p>
        </p:txBody>
      </p:sp>
      <p:sp>
        <p:nvSpPr>
          <p:cNvPr id="658" name="Google Shape;658;p23"/>
          <p:cNvSpPr txBox="1"/>
          <p:nvPr/>
        </p:nvSpPr>
        <p:spPr>
          <a:xfrm>
            <a:off x="914400" y="2487168"/>
            <a:ext cx="23888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HNSW</a:t>
            </a:r>
            <a:endParaRPr/>
          </a:p>
        </p:txBody>
      </p:sp>
      <p:sp>
        <p:nvSpPr>
          <p:cNvPr id="659" name="Google Shape;659;p23"/>
          <p:cNvSpPr txBox="1"/>
          <p:nvPr/>
        </p:nvSpPr>
        <p:spPr>
          <a:xfrm>
            <a:off x="1024128" y="2871216"/>
            <a:ext cx="216941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Hierarchical Navigable Small World</a:t>
            </a:r>
            <a:endParaRPr/>
          </a:p>
        </p:txBody>
      </p:sp>
      <p:sp>
        <p:nvSpPr>
          <p:cNvPr id="660" name="Google Shape;660;p23"/>
          <p:cNvSpPr txBox="1"/>
          <p:nvPr/>
        </p:nvSpPr>
        <p:spPr>
          <a:xfrm>
            <a:off x="1097280" y="342900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Navega un grafo de vecinos organizado por capas. Rápido y preciso; usa más memoria.</a:t>
            </a:r>
            <a:endParaRPr/>
          </a:p>
        </p:txBody>
      </p:sp>
      <p:sp>
        <p:nvSpPr>
          <p:cNvPr id="661" name="Google Shape;661;p23"/>
          <p:cNvSpPr txBox="1"/>
          <p:nvPr/>
        </p:nvSpPr>
        <p:spPr>
          <a:xfrm>
            <a:off x="1097280" y="4114800"/>
            <a:ext cx="20231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Chroma · Qdrant · Weaviate</a:t>
            </a:r>
            <a:endParaRPr/>
          </a:p>
        </p:txBody>
      </p:sp>
      <p:sp>
        <p:nvSpPr>
          <p:cNvPr id="662" name="Google Shape;662;p23"/>
          <p:cNvSpPr/>
          <p:nvPr/>
        </p:nvSpPr>
        <p:spPr>
          <a:xfrm>
            <a:off x="3577589" y="1325880"/>
            <a:ext cx="2388870" cy="3246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3"/>
          <p:cNvSpPr/>
          <p:nvPr/>
        </p:nvSpPr>
        <p:spPr>
          <a:xfrm>
            <a:off x="4406265" y="1463040"/>
            <a:ext cx="685800" cy="68580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ayerGroup_w.png" id="664" name="Google Shape;6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4573" y="16413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3"/>
          <p:cNvSpPr txBox="1"/>
          <p:nvPr/>
        </p:nvSpPr>
        <p:spPr>
          <a:xfrm>
            <a:off x="3577589" y="2240280"/>
            <a:ext cx="2388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PARTICIONAMIENTO</a:t>
            </a:r>
            <a:endParaRPr/>
          </a:p>
        </p:txBody>
      </p:sp>
      <p:sp>
        <p:nvSpPr>
          <p:cNvPr id="666" name="Google Shape;666;p23"/>
          <p:cNvSpPr txBox="1"/>
          <p:nvPr/>
        </p:nvSpPr>
        <p:spPr>
          <a:xfrm>
            <a:off x="3577589" y="2487168"/>
            <a:ext cx="23888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IVF</a:t>
            </a:r>
            <a:endParaRPr/>
          </a:p>
        </p:txBody>
      </p:sp>
      <p:sp>
        <p:nvSpPr>
          <p:cNvPr id="667" name="Google Shape;667;p23"/>
          <p:cNvSpPr txBox="1"/>
          <p:nvPr/>
        </p:nvSpPr>
        <p:spPr>
          <a:xfrm>
            <a:off x="3687318" y="2871216"/>
            <a:ext cx="216941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Inverted File Index</a:t>
            </a:r>
            <a:endParaRPr/>
          </a:p>
        </p:txBody>
      </p:sp>
      <p:sp>
        <p:nvSpPr>
          <p:cNvPr id="668" name="Google Shape;668;p23"/>
          <p:cNvSpPr txBox="1"/>
          <p:nvPr/>
        </p:nvSpPr>
        <p:spPr>
          <a:xfrm>
            <a:off x="3760470" y="342900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Agrupa con k-means y busca solo en los clústeres más cercanos a la consulta.</a:t>
            </a:r>
            <a:endParaRPr/>
          </a:p>
        </p:txBody>
      </p:sp>
      <p:sp>
        <p:nvSpPr>
          <p:cNvPr id="669" name="Google Shape;669;p23"/>
          <p:cNvSpPr txBox="1"/>
          <p:nvPr/>
        </p:nvSpPr>
        <p:spPr>
          <a:xfrm>
            <a:off x="3760470" y="4114800"/>
            <a:ext cx="20231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FAISS · Milvus · LanceDB</a:t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6240779" y="1325880"/>
            <a:ext cx="2388870" cy="3246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7069454" y="1463040"/>
            <a:ext cx="685800" cy="6858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mpress_w.png" id="672" name="Google Shape;6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7763" y="16413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3"/>
          <p:cNvSpPr txBox="1"/>
          <p:nvPr/>
        </p:nvSpPr>
        <p:spPr>
          <a:xfrm>
            <a:off x="6240779" y="2240280"/>
            <a:ext cx="2388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CUANTIZACIÓN</a:t>
            </a:r>
            <a:endParaRPr/>
          </a:p>
        </p:txBody>
      </p:sp>
      <p:sp>
        <p:nvSpPr>
          <p:cNvPr id="674" name="Google Shape;674;p23"/>
          <p:cNvSpPr txBox="1"/>
          <p:nvPr/>
        </p:nvSpPr>
        <p:spPr>
          <a:xfrm>
            <a:off x="6240779" y="2487168"/>
            <a:ext cx="23888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PQ · SQ</a:t>
            </a:r>
            <a:endParaRPr/>
          </a:p>
        </p:txBody>
      </p:sp>
      <p:sp>
        <p:nvSpPr>
          <p:cNvPr id="675" name="Google Shape;675;p23"/>
          <p:cNvSpPr txBox="1"/>
          <p:nvPr/>
        </p:nvSpPr>
        <p:spPr>
          <a:xfrm>
            <a:off x="6350507" y="2871216"/>
            <a:ext cx="216941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Product Quantization · Scalar Quantization</a:t>
            </a:r>
            <a:endParaRPr/>
          </a:p>
        </p:txBody>
      </p:sp>
      <p:sp>
        <p:nvSpPr>
          <p:cNvPr id="676" name="Google Shape;676;p23"/>
          <p:cNvSpPr txBox="1"/>
          <p:nvPr/>
        </p:nvSpPr>
        <p:spPr>
          <a:xfrm>
            <a:off x="6423659" y="342900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Comprime los vectores para reducir memoria; se combina con IVF o HNSW.</a:t>
            </a:r>
            <a:endParaRPr/>
          </a:p>
        </p:txBody>
      </p:sp>
      <p:sp>
        <p:nvSpPr>
          <p:cNvPr id="677" name="Google Shape;677;p23"/>
          <p:cNvSpPr txBox="1"/>
          <p:nvPr/>
        </p:nvSpPr>
        <p:spPr>
          <a:xfrm>
            <a:off x="6423659" y="4114800"/>
            <a:ext cx="20231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FAISS · Qdrant · Milvus</a:t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8903969" y="1325880"/>
            <a:ext cx="2388870" cy="3246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9732644" y="1463040"/>
            <a:ext cx="685800" cy="68580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erver_w.png" id="680" name="Google Shape;6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0953" y="16413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3"/>
          <p:cNvSpPr txBox="1"/>
          <p:nvPr/>
        </p:nvSpPr>
        <p:spPr>
          <a:xfrm>
            <a:off x="8903969" y="2240280"/>
            <a:ext cx="2388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9929"/>
                </a:solidFill>
                <a:latin typeface="Arial"/>
                <a:ea typeface="Arial"/>
                <a:cs typeface="Arial"/>
                <a:sym typeface="Arial"/>
              </a:rPr>
              <a:t>EN DISCO</a:t>
            </a:r>
            <a:endParaRPr/>
          </a:p>
        </p:txBody>
      </p:sp>
      <p:sp>
        <p:nvSpPr>
          <p:cNvPr id="682" name="Google Shape;682;p23"/>
          <p:cNvSpPr txBox="1"/>
          <p:nvPr/>
        </p:nvSpPr>
        <p:spPr>
          <a:xfrm>
            <a:off x="8903969" y="2487168"/>
            <a:ext cx="23888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DiskANN</a:t>
            </a:r>
            <a:endParaRPr/>
          </a:p>
        </p:txBody>
      </p:sp>
      <p:sp>
        <p:nvSpPr>
          <p:cNvPr id="683" name="Google Shape;683;p23"/>
          <p:cNvSpPr txBox="1"/>
          <p:nvPr/>
        </p:nvSpPr>
        <p:spPr>
          <a:xfrm>
            <a:off x="9013697" y="2871216"/>
            <a:ext cx="2169413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Disk-based Approximate Nearest Neighbor</a:t>
            </a:r>
            <a:endParaRPr/>
          </a:p>
        </p:txBody>
      </p:sp>
      <p:sp>
        <p:nvSpPr>
          <p:cNvPr id="684" name="Google Shape;684;p23"/>
          <p:cNvSpPr txBox="1"/>
          <p:nvPr/>
        </p:nvSpPr>
        <p:spPr>
          <a:xfrm>
            <a:off x="9086849" y="3429000"/>
            <a:ext cx="20231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Grafos optimizados para SSD cuando los vectores no caben en RAM.</a:t>
            </a:r>
            <a:endParaRPr/>
          </a:p>
        </p:txBody>
      </p:sp>
      <p:sp>
        <p:nvSpPr>
          <p:cNvPr id="685" name="Google Shape;685;p23"/>
          <p:cNvSpPr txBox="1"/>
          <p:nvPr/>
        </p:nvSpPr>
        <p:spPr>
          <a:xfrm>
            <a:off x="9086849" y="4114800"/>
            <a:ext cx="20231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Milvus · SQL Server</a:t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914400" y="4754880"/>
            <a:ext cx="10378440" cy="658368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3875" lIns="73150" spcFirstLastPara="1" rIns="73150" wrap="square" tIns="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ANN (Approximate Nearest Neighbors): </a:t>
            </a:r>
            <a:r>
              <a:rPr b="0" i="0" lang="es-E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devuelve vecinos aproximados con un costo de cómputo mucho menor que la búsqueda exacta.</a:t>
            </a:r>
            <a:endParaRPr/>
          </a:p>
        </p:txBody>
      </p:sp>
      <p:sp>
        <p:nvSpPr>
          <p:cNvPr id="687" name="Google Shape;687;p23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HNSW: grafo jerárquico navegable</a:t>
            </a:r>
            <a:endParaRPr/>
          </a:p>
        </p:txBody>
      </p:sp>
      <p:sp>
        <p:nvSpPr>
          <p:cNvPr id="694" name="Google Shape;694;p24"/>
          <p:cNvSpPr txBox="1"/>
          <p:nvPr>
            <p:ph idx="1" type="body"/>
          </p:nvPr>
        </p:nvSpPr>
        <p:spPr>
          <a:xfrm>
            <a:off x="839800" y="178308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027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7791"/>
              <a:buChar char="•"/>
            </a:pPr>
            <a:r>
              <a:rPr b="0" lang="es-ES" sz="16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HNSW: Hierarchical Navigable Small World.</a:t>
            </a:r>
            <a:endParaRPr sz="1987"/>
          </a:p>
          <a:p>
            <a:pPr indent="-22027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7791"/>
              <a:buChar char="•"/>
            </a:pPr>
            <a:r>
              <a:rPr b="0" lang="es-ES" sz="16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Capas superiores con pocos nodos y enlaces largos; la capa 0 contiene todos los vectores.</a:t>
            </a:r>
            <a:endParaRPr sz="1987"/>
          </a:p>
          <a:p>
            <a:pPr indent="-22027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7791"/>
              <a:buChar char="•"/>
            </a:pPr>
            <a:r>
              <a:rPr b="0" lang="es-ES" sz="16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 búsqueda entra por arriba y desciende acercándose de forma voraz a la consulta.</a:t>
            </a:r>
            <a:endParaRPr sz="1987"/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34847"/>
              <a:buNone/>
            </a:pPr>
            <a:r>
              <a:rPr b="1" lang="es-ES" sz="1687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Parámetros</a:t>
            </a:r>
            <a:endParaRPr sz="1987"/>
          </a:p>
          <a:p>
            <a:pPr indent="-220218" lvl="0" marL="53035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6707"/>
              <a:buChar char="–"/>
            </a:pPr>
            <a:r>
              <a:rPr b="0" lang="es-ES" sz="15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M: enlaces por nodo (memoria)</a:t>
            </a:r>
            <a:endParaRPr sz="1987"/>
          </a:p>
          <a:p>
            <a:pPr indent="-220218" lvl="0" marL="53035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6707"/>
              <a:buChar char="–"/>
            </a:pPr>
            <a:r>
              <a:rPr b="0" lang="es-ES" sz="15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ef_construction: calidad del grafo</a:t>
            </a:r>
            <a:endParaRPr sz="1987"/>
          </a:p>
          <a:p>
            <a:pPr indent="-220218" lvl="0" marL="53035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6707"/>
              <a:buChar char="–"/>
            </a:pPr>
            <a:r>
              <a:rPr b="0" lang="es-ES" sz="15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ef_search: amplitud de la búsqueda</a:t>
            </a:r>
            <a:endParaRPr sz="1987"/>
          </a:p>
          <a:p>
            <a:pPr indent="-22027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7791"/>
              <a:buChar char="•"/>
            </a:pPr>
            <a:r>
              <a:rPr b="0" lang="es-ES" sz="16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Costo aproximado O(log n). Es el índice por defecto en la mayoría de BDV.</a:t>
            </a:r>
            <a:endParaRPr sz="1987"/>
          </a:p>
          <a:p>
            <a:pPr indent="-22027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57791"/>
              <a:buChar char="•"/>
            </a:pPr>
            <a:r>
              <a:rPr b="0" lang="es-ES" sz="168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Chroma: hnsw:M, hnsw:construction_ef y hnsw:search_ef.</a:t>
            </a:r>
            <a:endParaRPr sz="1987"/>
          </a:p>
        </p:txBody>
      </p:sp>
      <p:sp>
        <p:nvSpPr>
          <p:cNvPr id="695" name="Google Shape;695;p2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hnsw.png" id="696" name="Google Shape;6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502920"/>
            <a:ext cx="5743787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4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IVF: índice de archivo invertido</a:t>
            </a:r>
            <a:endParaRPr/>
          </a:p>
        </p:txBody>
      </p:sp>
      <p:sp>
        <p:nvSpPr>
          <p:cNvPr id="704" name="Google Shape;704;p25"/>
          <p:cNvSpPr txBox="1"/>
          <p:nvPr>
            <p:ph idx="1" type="body"/>
          </p:nvPr>
        </p:nvSpPr>
        <p:spPr>
          <a:xfrm>
            <a:off x="839800" y="178308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662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822"/>
              <a:buChar char="•"/>
            </a:pPr>
            <a:r>
              <a:rPr b="0" lang="es-ES" sz="121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IVF: Inverted File Index.</a:t>
            </a:r>
            <a:endParaRPr sz="1400"/>
          </a:p>
          <a:p>
            <a:pPr indent="-22662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822"/>
              <a:buChar char="•"/>
            </a:pPr>
            <a:r>
              <a:rPr b="0" lang="es-ES" sz="121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Entrenamiento: k-means divide el espacio en nlist celdas, cada una con un centroide (✕).</a:t>
            </a:r>
            <a:endParaRPr sz="1400"/>
          </a:p>
          <a:p>
            <a:pPr indent="-22662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822"/>
              <a:buChar char="•"/>
            </a:pPr>
            <a:r>
              <a:rPr b="0" lang="es-ES" sz="121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Consulta: se compara solo con los vectores de las nprobe celdas más cercanas.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22"/>
              <a:buNone/>
            </a:pPr>
            <a:r>
              <a:rPr b="1" lang="es-ES" sz="1213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Ajuste</a:t>
            </a:r>
            <a:endParaRPr sz="1400"/>
          </a:p>
          <a:p>
            <a:pPr indent="-226568" lvl="0" marL="53035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713"/>
              <a:buChar char="–"/>
            </a:pPr>
            <a:r>
              <a:rPr b="0" lang="es-ES" sz="11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nprobe bajo: más rápido, menor recall</a:t>
            </a:r>
            <a:endParaRPr sz="1400"/>
          </a:p>
          <a:p>
            <a:pPr indent="-226568" lvl="0" marL="53035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713"/>
              <a:buChar char="–"/>
            </a:pPr>
            <a:r>
              <a:rPr b="0" lang="es-ES" sz="115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nprobe alto: más lento, mayor recall</a:t>
            </a:r>
            <a:endParaRPr sz="1400"/>
          </a:p>
          <a:p>
            <a:pPr indent="-22662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822"/>
              <a:buChar char="•"/>
            </a:pPr>
            <a:r>
              <a:rPr b="0" lang="es-ES" sz="121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Usa menos memoria que HNSW, pero requiere entrenar con datos representativos.</a:t>
            </a:r>
            <a:endParaRPr sz="1400"/>
          </a:p>
          <a:p>
            <a:pPr indent="-226624" lvl="0" marL="256032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822"/>
              <a:buChar char="•"/>
            </a:pPr>
            <a:r>
              <a:rPr b="0" lang="es-ES" sz="121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Chroma no usa IVF; lo ofrecen FAISS, Milvus y LanceDB.</a:t>
            </a:r>
            <a:endParaRPr sz="1400"/>
          </a:p>
        </p:txBody>
      </p:sp>
      <p:sp>
        <p:nvSpPr>
          <p:cNvPr id="705" name="Google Shape;705;p2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ivf.png" id="706" name="Google Shape;7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548640"/>
            <a:ext cx="522732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5"/>
          <p:cNvSpPr txBox="1"/>
          <p:nvPr/>
        </p:nvSpPr>
        <p:spPr>
          <a:xfrm>
            <a:off x="5852160" y="50292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1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Celdas resaltadas: nprobe = 2</a:t>
            </a:r>
            <a:endParaRPr/>
          </a:p>
        </p:txBody>
      </p:sp>
      <p:sp>
        <p:nvSpPr>
          <p:cNvPr id="708" name="Google Shape;708;p25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6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Cuantización de vectores</a:t>
            </a:r>
            <a:endParaRPr/>
          </a:p>
        </p:txBody>
      </p:sp>
      <p:sp>
        <p:nvSpPr>
          <p:cNvPr id="715" name="Google Shape;715;p2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716" name="Google Shape;716;p26"/>
          <p:cNvGraphicFramePr/>
          <p:nvPr/>
        </p:nvGraphicFramePr>
        <p:xfrm>
          <a:off x="914400" y="1280160"/>
          <a:ext cx="539490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17" name="Google Shape;717;p26"/>
          <p:cNvSpPr/>
          <p:nvPr/>
        </p:nvSpPr>
        <p:spPr>
          <a:xfrm>
            <a:off x="6629400" y="1280160"/>
            <a:ext cx="4663440" cy="10972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6"/>
          <p:cNvSpPr txBox="1"/>
          <p:nvPr/>
        </p:nvSpPr>
        <p:spPr>
          <a:xfrm>
            <a:off x="6812280" y="137160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4×</a:t>
            </a:r>
            <a:endParaRPr/>
          </a:p>
        </p:txBody>
      </p:sp>
      <p:sp>
        <p:nvSpPr>
          <p:cNvPr id="719" name="Google Shape;719;p26"/>
          <p:cNvSpPr txBox="1"/>
          <p:nvPr/>
        </p:nvSpPr>
        <p:spPr>
          <a:xfrm>
            <a:off x="7909560" y="13716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Escalar (SQ)</a:t>
            </a:r>
            <a:endParaRPr/>
          </a:p>
        </p:txBody>
      </p:sp>
      <p:sp>
        <p:nvSpPr>
          <p:cNvPr id="720" name="Google Shape;720;p26"/>
          <p:cNvSpPr txBox="1"/>
          <p:nvPr/>
        </p:nvSpPr>
        <p:spPr>
          <a:xfrm>
            <a:off x="7909560" y="1691639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componente float32 se representa con un entero de 8 bits. Pérdida de calidad baja.</a:t>
            </a:r>
            <a:endParaRPr/>
          </a:p>
        </p:txBody>
      </p:sp>
      <p:sp>
        <p:nvSpPr>
          <p:cNvPr id="721" name="Google Shape;721;p26"/>
          <p:cNvSpPr/>
          <p:nvPr/>
        </p:nvSpPr>
        <p:spPr>
          <a:xfrm>
            <a:off x="6629400" y="2487168"/>
            <a:ext cx="4663440" cy="10972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6"/>
          <p:cNvSpPr txBox="1"/>
          <p:nvPr/>
        </p:nvSpPr>
        <p:spPr>
          <a:xfrm>
            <a:off x="6812280" y="2578608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32×</a:t>
            </a:r>
            <a:endParaRPr/>
          </a:p>
        </p:txBody>
      </p:sp>
      <p:sp>
        <p:nvSpPr>
          <p:cNvPr id="723" name="Google Shape;723;p26"/>
          <p:cNvSpPr txBox="1"/>
          <p:nvPr/>
        </p:nvSpPr>
        <p:spPr>
          <a:xfrm>
            <a:off x="7909560" y="25786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Binaria</a:t>
            </a:r>
            <a:endParaRPr/>
          </a:p>
        </p:txBody>
      </p:sp>
      <p:sp>
        <p:nvSpPr>
          <p:cNvPr id="724" name="Google Shape;724;p26"/>
          <p:cNvSpPr txBox="1"/>
          <p:nvPr/>
        </p:nvSpPr>
        <p:spPr>
          <a:xfrm>
            <a:off x="7909560" y="2898648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componente se reduce a 1 bit (su signo). Requiere reordenar con los vectores originales.</a:t>
            </a:r>
            <a:endParaRPr/>
          </a:p>
        </p:txBody>
      </p:sp>
      <p:sp>
        <p:nvSpPr>
          <p:cNvPr id="725" name="Google Shape;725;p26"/>
          <p:cNvSpPr/>
          <p:nvPr/>
        </p:nvSpPr>
        <p:spPr>
          <a:xfrm>
            <a:off x="6629400" y="3694176"/>
            <a:ext cx="4663440" cy="10972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6"/>
          <p:cNvSpPr txBox="1"/>
          <p:nvPr/>
        </p:nvSpPr>
        <p:spPr>
          <a:xfrm>
            <a:off x="6812280" y="3785615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64×</a:t>
            </a:r>
            <a:endParaRPr/>
          </a:p>
        </p:txBody>
      </p:sp>
      <p:sp>
        <p:nvSpPr>
          <p:cNvPr id="727" name="Google Shape;727;p26"/>
          <p:cNvSpPr txBox="1"/>
          <p:nvPr/>
        </p:nvSpPr>
        <p:spPr>
          <a:xfrm>
            <a:off x="7909560" y="3785615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 (PQ)</a:t>
            </a:r>
            <a:endParaRPr/>
          </a:p>
        </p:txBody>
      </p:sp>
      <p:sp>
        <p:nvSpPr>
          <p:cNvPr id="728" name="Google Shape;728;p26"/>
          <p:cNvSpPr txBox="1"/>
          <p:nvPr/>
        </p:nvSpPr>
        <p:spPr>
          <a:xfrm>
            <a:off x="7909560" y="4105656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Divide el vector en 64 subvectores y guarda el código del centroide más cercano de cada uno.</a:t>
            </a:r>
            <a:endParaRPr/>
          </a:p>
        </p:txBody>
      </p:sp>
      <p:sp>
        <p:nvSpPr>
          <p:cNvPr id="729" name="Google Shape;729;p26"/>
          <p:cNvSpPr/>
          <p:nvPr/>
        </p:nvSpPr>
        <p:spPr>
          <a:xfrm>
            <a:off x="6629400" y="4937760"/>
            <a:ext cx="4663440" cy="50292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82275" lIns="137150" spcFirstLastPara="1" rIns="137150" wrap="square" tIns="82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Uso habitual: </a:t>
            </a:r>
            <a:r>
              <a:rPr b="0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buscar con vectores comprimidos y reordenar el top con precisión completa.</a:t>
            </a:r>
            <a:endParaRPr/>
          </a:p>
        </p:txBody>
      </p:sp>
      <p:sp>
        <p:nvSpPr>
          <p:cNvPr id="730" name="Google Shape;730;p26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7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Recall y latencia</a:t>
            </a:r>
            <a:endParaRPr/>
          </a:p>
        </p:txBody>
      </p:sp>
      <p:sp>
        <p:nvSpPr>
          <p:cNvPr id="737" name="Google Shape;737;p27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738" name="Google Shape;738;p2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aphicFrame>
        <p:nvGraphicFramePr>
          <p:cNvPr id="739" name="Google Shape;739;p27"/>
          <p:cNvGraphicFramePr/>
          <p:nvPr/>
        </p:nvGraphicFramePr>
        <p:xfrm>
          <a:off x="914400" y="1280160"/>
          <a:ext cx="6035040" cy="38862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40" name="Google Shape;740;p27"/>
          <p:cNvSpPr txBox="1"/>
          <p:nvPr/>
        </p:nvSpPr>
        <p:spPr>
          <a:xfrm>
            <a:off x="914400" y="516636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Curva ilustrativa: los valores dependen de los datos, el hardware y los parámetros.</a:t>
            </a:r>
            <a:endParaRPr/>
          </a:p>
        </p:txBody>
      </p:sp>
      <p:sp>
        <p:nvSpPr>
          <p:cNvPr id="741" name="Google Shape;741;p27"/>
          <p:cNvSpPr/>
          <p:nvPr/>
        </p:nvSpPr>
        <p:spPr>
          <a:xfrm>
            <a:off x="7269480" y="1325880"/>
            <a:ext cx="4023359" cy="160020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7"/>
          <p:cNvSpPr txBox="1"/>
          <p:nvPr/>
        </p:nvSpPr>
        <p:spPr>
          <a:xfrm>
            <a:off x="7452360" y="1417320"/>
            <a:ext cx="365759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Recall@k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04EA8"/>
                </a:solidFill>
                <a:latin typeface="Cambria"/>
                <a:ea typeface="Cambria"/>
                <a:cs typeface="Cambria"/>
                <a:sym typeface="Cambria"/>
              </a:rPr>
              <a:t>|ANN ∩ exacto| / 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 de los 10 vecinos reales el índice devuelve 9, recall@10 = 0.9.</a:t>
            </a:r>
            <a:endParaRPr/>
          </a:p>
        </p:txBody>
      </p:sp>
      <p:sp>
        <p:nvSpPr>
          <p:cNvPr id="743" name="Google Shape;743;p27"/>
          <p:cNvSpPr/>
          <p:nvPr/>
        </p:nvSpPr>
        <p:spPr>
          <a:xfrm>
            <a:off x="7269480" y="3063240"/>
            <a:ext cx="4023359" cy="141732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7"/>
          <p:cNvSpPr txBox="1"/>
          <p:nvPr/>
        </p:nvSpPr>
        <p:spPr>
          <a:xfrm>
            <a:off x="7452360" y="3154680"/>
            <a:ext cx="3657599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Parámetros de ajuste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HNSW: hnsw:search_ef (Chroma)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IVF: nprobe (FAISS, Milvus)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Cuantización: re-ranking</a:t>
            </a:r>
            <a:endParaRPr/>
          </a:p>
        </p:txBody>
      </p:sp>
      <p:sp>
        <p:nvSpPr>
          <p:cNvPr id="745" name="Google Shape;745;p27">
            <a:hlinkClick r:id="rId4"/>
          </p:cNvPr>
          <p:cNvSpPr/>
          <p:nvPr/>
        </p:nvSpPr>
        <p:spPr>
          <a:xfrm>
            <a:off x="7269480" y="4663440"/>
            <a:ext cx="4023359" cy="365760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Comparativas: ann-benchmarks.com</a:t>
            </a:r>
            <a:endParaRPr/>
          </a:p>
        </p:txBody>
      </p:sp>
      <p:sp>
        <p:nvSpPr>
          <p:cNvPr id="746" name="Google Shape;746;p27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8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Ecosistema de bases de datos vectoriales</a:t>
            </a:r>
            <a:endParaRPr/>
          </a:p>
        </p:txBody>
      </p:sp>
      <p:sp>
        <p:nvSpPr>
          <p:cNvPr id="753" name="Google Shape;753;p2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4" name="Google Shape;754;p28"/>
          <p:cNvSpPr/>
          <p:nvPr/>
        </p:nvSpPr>
        <p:spPr>
          <a:xfrm>
            <a:off x="914400" y="1280160"/>
            <a:ext cx="3276600" cy="548640"/>
          </a:xfrm>
          <a:prstGeom prst="roundRect">
            <a:avLst>
              <a:gd fmla="val 15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w.png" id="755" name="Google Shape;7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8"/>
          <p:cNvSpPr txBox="1"/>
          <p:nvPr/>
        </p:nvSpPr>
        <p:spPr>
          <a:xfrm>
            <a:off x="1508760" y="1280160"/>
            <a:ext cx="259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BDV nativas</a:t>
            </a:r>
            <a:endParaRPr/>
          </a:p>
        </p:txBody>
      </p:sp>
      <p:sp>
        <p:nvSpPr>
          <p:cNvPr id="757" name="Google Shape;757;p28"/>
          <p:cNvSpPr/>
          <p:nvPr/>
        </p:nvSpPr>
        <p:spPr>
          <a:xfrm>
            <a:off x="914400" y="1938528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8"/>
          <p:cNvSpPr txBox="1"/>
          <p:nvPr/>
        </p:nvSpPr>
        <p:spPr>
          <a:xfrm>
            <a:off x="1051560" y="1938528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Pinecone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servicio gestionado</a:t>
            </a:r>
            <a:endParaRPr/>
          </a:p>
        </p:txBody>
      </p:sp>
      <p:sp>
        <p:nvSpPr>
          <p:cNvPr id="759" name="Google Shape;759;p28"/>
          <p:cNvSpPr/>
          <p:nvPr/>
        </p:nvSpPr>
        <p:spPr>
          <a:xfrm>
            <a:off x="914400" y="2505456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8"/>
          <p:cNvSpPr txBox="1"/>
          <p:nvPr/>
        </p:nvSpPr>
        <p:spPr>
          <a:xfrm>
            <a:off x="1051560" y="2505456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Milvus / Zilliz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gran escala</a:t>
            </a:r>
            <a:endParaRPr/>
          </a:p>
        </p:txBody>
      </p:sp>
      <p:sp>
        <p:nvSpPr>
          <p:cNvPr id="761" name="Google Shape;761;p28"/>
          <p:cNvSpPr/>
          <p:nvPr/>
        </p:nvSpPr>
        <p:spPr>
          <a:xfrm>
            <a:off x="914400" y="3072384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8"/>
          <p:cNvSpPr txBox="1"/>
          <p:nvPr/>
        </p:nvSpPr>
        <p:spPr>
          <a:xfrm>
            <a:off x="1051560" y="3072384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Qdrant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Rust, filtros</a:t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>
            <a:off x="914400" y="3639312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8"/>
          <p:cNvSpPr txBox="1"/>
          <p:nvPr/>
        </p:nvSpPr>
        <p:spPr>
          <a:xfrm>
            <a:off x="1051560" y="3639312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Weaviate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búsqueda híbrida</a:t>
            </a:r>
            <a:endParaRPr/>
          </a:p>
        </p:txBody>
      </p:sp>
      <p:sp>
        <p:nvSpPr>
          <p:cNvPr id="765" name="Google Shape;765;p28"/>
          <p:cNvSpPr/>
          <p:nvPr/>
        </p:nvSpPr>
        <p:spPr>
          <a:xfrm>
            <a:off x="914400" y="4206240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8"/>
          <p:cNvSpPr txBox="1"/>
          <p:nvPr/>
        </p:nvSpPr>
        <p:spPr>
          <a:xfrm>
            <a:off x="1051560" y="4206240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Chroma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prototipos · laboratorio</a:t>
            </a:r>
            <a:endParaRPr/>
          </a:p>
        </p:txBody>
      </p:sp>
      <p:sp>
        <p:nvSpPr>
          <p:cNvPr id="767" name="Google Shape;767;p28"/>
          <p:cNvSpPr/>
          <p:nvPr/>
        </p:nvSpPr>
        <p:spPr>
          <a:xfrm>
            <a:off x="4465320" y="1280160"/>
            <a:ext cx="3276600" cy="548640"/>
          </a:xfrm>
          <a:prstGeom prst="roundRect">
            <a:avLst>
              <a:gd fmla="val 15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erver_w.png" id="768" name="Google Shape;7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248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28"/>
          <p:cNvSpPr txBox="1"/>
          <p:nvPr/>
        </p:nvSpPr>
        <p:spPr>
          <a:xfrm>
            <a:off x="5059680" y="1280160"/>
            <a:ext cx="259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Extensiones de bases existentes</a:t>
            </a:r>
            <a:endParaRPr/>
          </a:p>
        </p:txBody>
      </p:sp>
      <p:sp>
        <p:nvSpPr>
          <p:cNvPr id="770" name="Google Shape;770;p28"/>
          <p:cNvSpPr/>
          <p:nvPr/>
        </p:nvSpPr>
        <p:spPr>
          <a:xfrm>
            <a:off x="4465320" y="1938528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8"/>
          <p:cNvSpPr txBox="1"/>
          <p:nvPr/>
        </p:nvSpPr>
        <p:spPr>
          <a:xfrm>
            <a:off x="4602480" y="1938528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Elasticsearch / OpenSearch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texto + vectores</a:t>
            </a:r>
            <a:endParaRPr/>
          </a:p>
        </p:txBody>
      </p:sp>
      <p:sp>
        <p:nvSpPr>
          <p:cNvPr id="772" name="Google Shape;772;p28"/>
          <p:cNvSpPr/>
          <p:nvPr/>
        </p:nvSpPr>
        <p:spPr>
          <a:xfrm>
            <a:off x="4465320" y="2505456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8"/>
          <p:cNvSpPr txBox="1"/>
          <p:nvPr/>
        </p:nvSpPr>
        <p:spPr>
          <a:xfrm>
            <a:off x="4602480" y="2505456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MongoDB Atlas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Vector Search</a:t>
            </a:r>
            <a:endParaRPr/>
          </a:p>
        </p:txBody>
      </p:sp>
      <p:sp>
        <p:nvSpPr>
          <p:cNvPr id="774" name="Google Shape;774;p28"/>
          <p:cNvSpPr/>
          <p:nvPr/>
        </p:nvSpPr>
        <p:spPr>
          <a:xfrm>
            <a:off x="4465320" y="3072384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8"/>
          <p:cNvSpPr txBox="1"/>
          <p:nvPr/>
        </p:nvSpPr>
        <p:spPr>
          <a:xfrm>
            <a:off x="4602480" y="3072384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Oracle Database 23ai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AI Vector Search</a:t>
            </a:r>
            <a:endParaRPr/>
          </a:p>
        </p:txBody>
      </p:sp>
      <p:sp>
        <p:nvSpPr>
          <p:cNvPr id="776" name="Google Shape;776;p28"/>
          <p:cNvSpPr/>
          <p:nvPr/>
        </p:nvSpPr>
        <p:spPr>
          <a:xfrm>
            <a:off x="4465320" y="3639312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8"/>
          <p:cNvSpPr txBox="1"/>
          <p:nvPr/>
        </p:nvSpPr>
        <p:spPr>
          <a:xfrm>
            <a:off x="4602480" y="3639312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SQL Server 2025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tipo VECTOR</a:t>
            </a:r>
            <a:endParaRPr/>
          </a:p>
        </p:txBody>
      </p:sp>
      <p:sp>
        <p:nvSpPr>
          <p:cNvPr id="778" name="Google Shape;778;p28"/>
          <p:cNvSpPr/>
          <p:nvPr/>
        </p:nvSpPr>
        <p:spPr>
          <a:xfrm>
            <a:off x="4465320" y="4206240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4602480" y="4206240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caché + vectores</a:t>
            </a:r>
            <a:endParaRPr/>
          </a:p>
        </p:txBody>
      </p:sp>
      <p:sp>
        <p:nvSpPr>
          <p:cNvPr id="780" name="Google Shape;780;p28"/>
          <p:cNvSpPr/>
          <p:nvPr/>
        </p:nvSpPr>
        <p:spPr>
          <a:xfrm>
            <a:off x="8016239" y="1280160"/>
            <a:ext cx="3276600" cy="548640"/>
          </a:xfrm>
          <a:prstGeom prst="roundRect">
            <a:avLst>
              <a:gd fmla="val 15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de_w.png" id="781" name="Google Shape;78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399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8"/>
          <p:cNvSpPr txBox="1"/>
          <p:nvPr/>
        </p:nvSpPr>
        <p:spPr>
          <a:xfrm>
            <a:off x="8610600" y="1280160"/>
            <a:ext cx="259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Librerías y almacenamiento</a:t>
            </a:r>
            <a:endParaRPr/>
          </a:p>
        </p:txBody>
      </p:sp>
      <p:sp>
        <p:nvSpPr>
          <p:cNvPr id="783" name="Google Shape;783;p28"/>
          <p:cNvSpPr/>
          <p:nvPr/>
        </p:nvSpPr>
        <p:spPr>
          <a:xfrm>
            <a:off x="8016239" y="1938528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8"/>
          <p:cNvSpPr txBox="1"/>
          <p:nvPr/>
        </p:nvSpPr>
        <p:spPr>
          <a:xfrm>
            <a:off x="8153399" y="1938528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FAISS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librería de Meta</a:t>
            </a:r>
            <a:endParaRPr/>
          </a:p>
        </p:txBody>
      </p:sp>
      <p:sp>
        <p:nvSpPr>
          <p:cNvPr id="785" name="Google Shape;785;p28"/>
          <p:cNvSpPr/>
          <p:nvPr/>
        </p:nvSpPr>
        <p:spPr>
          <a:xfrm>
            <a:off x="8016239" y="2505456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8"/>
          <p:cNvSpPr txBox="1"/>
          <p:nvPr/>
        </p:nvSpPr>
        <p:spPr>
          <a:xfrm>
            <a:off x="8153399" y="2505456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hnswlib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HNSW en memoria</a:t>
            </a:r>
            <a:endParaRPr/>
          </a:p>
        </p:txBody>
      </p:sp>
      <p:sp>
        <p:nvSpPr>
          <p:cNvPr id="787" name="Google Shape;787;p28"/>
          <p:cNvSpPr/>
          <p:nvPr/>
        </p:nvSpPr>
        <p:spPr>
          <a:xfrm>
            <a:off x="8016239" y="3072384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8"/>
          <p:cNvSpPr txBox="1"/>
          <p:nvPr/>
        </p:nvSpPr>
        <p:spPr>
          <a:xfrm>
            <a:off x="8153399" y="3072384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LanceDB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embebida, formato Lance</a:t>
            </a:r>
            <a:endParaRPr/>
          </a:p>
        </p:txBody>
      </p:sp>
      <p:sp>
        <p:nvSpPr>
          <p:cNvPr id="789" name="Google Shape;789;p28"/>
          <p:cNvSpPr/>
          <p:nvPr/>
        </p:nvSpPr>
        <p:spPr>
          <a:xfrm>
            <a:off x="8016239" y="3639312"/>
            <a:ext cx="3276600" cy="493776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8"/>
          <p:cNvSpPr txBox="1"/>
          <p:nvPr/>
        </p:nvSpPr>
        <p:spPr>
          <a:xfrm>
            <a:off x="8153399" y="3639312"/>
            <a:ext cx="3002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Amazon S3 Vectors</a:t>
            </a: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  ·  almacenamiento de bajo costo</a:t>
            </a:r>
            <a:endParaRPr/>
          </a:p>
        </p:txBody>
      </p:sp>
      <p:sp>
        <p:nvSpPr>
          <p:cNvPr id="791" name="Google Shape;791;p28"/>
          <p:cNvSpPr/>
          <p:nvPr/>
        </p:nvSpPr>
        <p:spPr>
          <a:xfrm>
            <a:off x="914400" y="4846320"/>
            <a:ext cx="10378440" cy="566928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109725" lIns="182875" spcFirstLastPara="1" rIns="18287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Criterios de elección: </a:t>
            </a:r>
            <a:r>
              <a:rPr b="0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escala, servicio gestionado o autoalojado, filtros y búsqueda híbrida, costo e integración con la base de datos existente.</a:t>
            </a:r>
            <a:endParaRPr/>
          </a:p>
        </p:txBody>
      </p:sp>
      <p:sp>
        <p:nvSpPr>
          <p:cNvPr id="792" name="Google Shape;792;p28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9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ChromaDB: base de datos vectorial embebida en Python</a:t>
            </a:r>
            <a:endParaRPr/>
          </a:p>
        </p:txBody>
      </p:sp>
      <p:sp>
        <p:nvSpPr>
          <p:cNvPr id="799" name="Google Shape;799;p2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00" name="Google Shape;800;p29"/>
          <p:cNvSpPr/>
          <p:nvPr/>
        </p:nvSpPr>
        <p:spPr>
          <a:xfrm>
            <a:off x="914400" y="1280160"/>
            <a:ext cx="6903720" cy="416052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pip install chromadb   (sin servidor, Windows/macOS/Linux)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chromadb, pandas </a:t>
            </a: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chromadb.utils </a:t>
            </a:r>
            <a:r>
              <a:rPr b="0" i="0" lang="es-ES" sz="10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embedding_functions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ef = embedding_functions.SentenceTransformerEmbeddingFunction(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model_name=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"paraphrase-multilingual-MiniLM-L12-v2"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cliente = chromadb.PersistentClient(path=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"./bdv"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 = cliente.get_or_create_collection(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name=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"productos"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embedding_function=ef,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metadata={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"hnsw:space"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"cosine"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"data/productos.csv"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col.add(ids=df[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].astype(str).tolist(),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documents=(df[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 + 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". 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+ df[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"descripcion"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]).tolist(),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metadatas=df[[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"categoria"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"precio"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]].to_dict(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"records"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res = col.query(query_texts=[</a:t>
            </a:r>
            <a:r>
              <a:rPr b="0" i="0" lang="es-ES" sz="10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"celular con buena cámara"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n_results=</a:t>
            </a:r>
            <a:r>
              <a:rPr b="0" i="0" lang="es-ES" sz="10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s-ES" sz="10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801" name="Google Shape;801;p29"/>
          <p:cNvSpPr/>
          <p:nvPr/>
        </p:nvSpPr>
        <p:spPr>
          <a:xfrm>
            <a:off x="8092440" y="1280160"/>
            <a:ext cx="3200400" cy="960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9"/>
          <p:cNvSpPr/>
          <p:nvPr/>
        </p:nvSpPr>
        <p:spPr>
          <a:xfrm>
            <a:off x="8229600" y="1481328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erver_w.png" id="803" name="Google Shape;8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246" y="162397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9"/>
          <p:cNvSpPr txBox="1"/>
          <p:nvPr/>
        </p:nvSpPr>
        <p:spPr>
          <a:xfrm>
            <a:off x="8915400" y="13533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PersistentClient</a:t>
            </a:r>
            <a:endParaRPr/>
          </a:p>
        </p:txBody>
      </p:sp>
      <p:sp>
        <p:nvSpPr>
          <p:cNvPr id="805" name="Google Shape;805;p29"/>
          <p:cNvSpPr txBox="1"/>
          <p:nvPr/>
        </p:nvSpPr>
        <p:spPr>
          <a:xfrm>
            <a:off x="8915400" y="1664207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Base guardada en disco (./bdv), sin servidor.</a:t>
            </a:r>
            <a:endParaRPr/>
          </a:p>
        </p:txBody>
      </p:sp>
      <p:sp>
        <p:nvSpPr>
          <p:cNvPr id="806" name="Google Shape;806;p29"/>
          <p:cNvSpPr/>
          <p:nvPr/>
        </p:nvSpPr>
        <p:spPr>
          <a:xfrm>
            <a:off x="8092440" y="2350008"/>
            <a:ext cx="3200400" cy="960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9"/>
          <p:cNvSpPr/>
          <p:nvPr/>
        </p:nvSpPr>
        <p:spPr>
          <a:xfrm>
            <a:off x="8229600" y="2551176"/>
            <a:ext cx="548640" cy="54864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able_w.png" id="808" name="Google Shape;80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2246" y="2693822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29"/>
          <p:cNvSpPr txBox="1"/>
          <p:nvPr/>
        </p:nvSpPr>
        <p:spPr>
          <a:xfrm>
            <a:off x="8915400" y="24231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Collection</a:t>
            </a:r>
            <a:endParaRPr/>
          </a:p>
        </p:txBody>
      </p:sp>
      <p:sp>
        <p:nvSpPr>
          <p:cNvPr id="810" name="Google Shape;810;p29"/>
          <p:cNvSpPr txBox="1"/>
          <p:nvPr/>
        </p:nvSpPr>
        <p:spPr>
          <a:xfrm>
            <a:off x="8915400" y="273405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Equivale a una tabla: documentos, vectores y metadatos.</a:t>
            </a:r>
            <a:endParaRPr/>
          </a:p>
        </p:txBody>
      </p:sp>
      <p:sp>
        <p:nvSpPr>
          <p:cNvPr id="811" name="Google Shape;811;p29"/>
          <p:cNvSpPr/>
          <p:nvPr/>
        </p:nvSpPr>
        <p:spPr>
          <a:xfrm>
            <a:off x="8092440" y="3419856"/>
            <a:ext cx="3200400" cy="960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9"/>
          <p:cNvSpPr/>
          <p:nvPr/>
        </p:nvSpPr>
        <p:spPr>
          <a:xfrm>
            <a:off x="8229600" y="3621024"/>
            <a:ext cx="548640" cy="5486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oxOpen_w.png" id="813" name="Google Shape;81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2246" y="376367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29"/>
          <p:cNvSpPr txBox="1"/>
          <p:nvPr/>
        </p:nvSpPr>
        <p:spPr>
          <a:xfrm>
            <a:off x="8915400" y="34930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add / upsert</a:t>
            </a:r>
            <a:endParaRPr/>
          </a:p>
        </p:txBody>
      </p:sp>
      <p:sp>
        <p:nvSpPr>
          <p:cNvPr id="815" name="Google Shape;815;p29"/>
          <p:cNvSpPr txBox="1"/>
          <p:nvPr/>
        </p:nvSpPr>
        <p:spPr>
          <a:xfrm>
            <a:off x="8915400" y="3803904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Inserta; con documents vectoriza automáticamente.</a:t>
            </a:r>
            <a:endParaRPr/>
          </a:p>
        </p:txBody>
      </p:sp>
      <p:sp>
        <p:nvSpPr>
          <p:cNvPr id="816" name="Google Shape;816;p29"/>
          <p:cNvSpPr/>
          <p:nvPr/>
        </p:nvSpPr>
        <p:spPr>
          <a:xfrm>
            <a:off x="8092440" y="4489704"/>
            <a:ext cx="3200400" cy="96012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9"/>
          <p:cNvSpPr/>
          <p:nvPr/>
        </p:nvSpPr>
        <p:spPr>
          <a:xfrm>
            <a:off x="8229600" y="4690872"/>
            <a:ext cx="548640" cy="54864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ter_w.png" id="818" name="Google Shape;81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2246" y="483351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29"/>
          <p:cNvSpPr txBox="1"/>
          <p:nvPr/>
        </p:nvSpPr>
        <p:spPr>
          <a:xfrm>
            <a:off x="8915400" y="45628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query + where</a:t>
            </a:r>
            <a:endParaRPr/>
          </a:p>
        </p:txBody>
      </p:sp>
      <p:sp>
        <p:nvSpPr>
          <p:cNvPr id="820" name="Google Shape;820;p29"/>
          <p:cNvSpPr txBox="1"/>
          <p:nvPr/>
        </p:nvSpPr>
        <p:spPr>
          <a:xfrm>
            <a:off x="8915400" y="487375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Top-k por similitud con filtros sobre metadatos.</a:t>
            </a:r>
            <a:endParaRPr/>
          </a:p>
        </p:txBody>
      </p:sp>
      <p:sp>
        <p:nvSpPr>
          <p:cNvPr id="821" name="Google Shape;821;p29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0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ChromaDB: filtros, actualizaciones y vectores</a:t>
            </a:r>
            <a:endParaRPr/>
          </a:p>
        </p:txBody>
      </p:sp>
      <p:sp>
        <p:nvSpPr>
          <p:cNvPr id="828" name="Google Shape;828;p30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829" name="Google Shape;829;p3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914400" y="1234440"/>
            <a:ext cx="10378440" cy="566928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109725" lIns="182875" spcFirstLastPara="1" rIns="18287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Funciones de base de datos: </a:t>
            </a:r>
            <a:r>
              <a:rPr b="0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filtros declarativos, operaciones de actualización y borrado, y acceso a los vectores guardados.</a:t>
            </a:r>
            <a:endParaRPr/>
          </a:p>
        </p:txBody>
      </p:sp>
      <p:sp>
        <p:nvSpPr>
          <p:cNvPr id="831" name="Google Shape;831;p30"/>
          <p:cNvSpPr/>
          <p:nvPr/>
        </p:nvSpPr>
        <p:spPr>
          <a:xfrm>
            <a:off x="914400" y="1965960"/>
            <a:ext cx="3276600" cy="2834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0"/>
          <p:cNvSpPr/>
          <p:nvPr/>
        </p:nvSpPr>
        <p:spPr>
          <a:xfrm>
            <a:off x="1097280" y="2084831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ter_w.png" id="833" name="Google Shape;8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039" y="2215591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30"/>
          <p:cNvSpPr txBox="1"/>
          <p:nvPr/>
        </p:nvSpPr>
        <p:spPr>
          <a:xfrm>
            <a:off x="1737360" y="2084831"/>
            <a:ext cx="2362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Filtros combinados</a:t>
            </a:r>
            <a:endParaRPr/>
          </a:p>
        </p:txBody>
      </p:sp>
      <p:sp>
        <p:nvSpPr>
          <p:cNvPr id="835" name="Google Shape;835;p30"/>
          <p:cNvSpPr txBox="1"/>
          <p:nvPr/>
        </p:nvSpPr>
        <p:spPr>
          <a:xfrm>
            <a:off x="1097280" y="2651760"/>
            <a:ext cx="2956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Metadatos con where; texto con where_document.</a:t>
            </a:r>
            <a:endParaRPr/>
          </a:p>
        </p:txBody>
      </p:sp>
      <p:sp>
        <p:nvSpPr>
          <p:cNvPr id="836" name="Google Shape;836;p30"/>
          <p:cNvSpPr/>
          <p:nvPr/>
        </p:nvSpPr>
        <p:spPr>
          <a:xfrm>
            <a:off x="1051560" y="3154680"/>
            <a:ext cx="3002280" cy="155448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col.query(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query_texts=[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"audífonos"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n_results=</a:t>
            </a:r>
            <a:r>
              <a:rPr b="0" i="0" lang="es-ES" sz="9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where={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"$and"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"categoria"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"Audio"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"precio"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"$lt"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9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2000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}}]})</a:t>
            </a:r>
            <a:endParaRPr/>
          </a:p>
        </p:txBody>
      </p:sp>
      <p:sp>
        <p:nvSpPr>
          <p:cNvPr id="837" name="Google Shape;837;p30"/>
          <p:cNvSpPr/>
          <p:nvPr/>
        </p:nvSpPr>
        <p:spPr>
          <a:xfrm>
            <a:off x="4465320" y="1965960"/>
            <a:ext cx="3276600" cy="2834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0"/>
          <p:cNvSpPr/>
          <p:nvPr/>
        </p:nvSpPr>
        <p:spPr>
          <a:xfrm>
            <a:off x="4648200" y="2084831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Gears_w.png" id="839" name="Google Shape;8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8959" y="2215591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30"/>
          <p:cNvSpPr txBox="1"/>
          <p:nvPr/>
        </p:nvSpPr>
        <p:spPr>
          <a:xfrm>
            <a:off x="5288280" y="2084831"/>
            <a:ext cx="2362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Actualizar y borrar</a:t>
            </a:r>
            <a:endParaRPr/>
          </a:p>
        </p:txBody>
      </p:sp>
      <p:sp>
        <p:nvSpPr>
          <p:cNvPr id="841" name="Google Shape;841;p30"/>
          <p:cNvSpPr txBox="1"/>
          <p:nvPr/>
        </p:nvSpPr>
        <p:spPr>
          <a:xfrm>
            <a:off x="4648200" y="2651760"/>
            <a:ext cx="2956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Mantener la colección al día sin reconstruirla.</a:t>
            </a:r>
            <a:endParaRPr/>
          </a:p>
        </p:txBody>
      </p:sp>
      <p:sp>
        <p:nvSpPr>
          <p:cNvPr id="842" name="Google Shape;842;p30"/>
          <p:cNvSpPr/>
          <p:nvPr/>
        </p:nvSpPr>
        <p:spPr>
          <a:xfrm>
            <a:off x="4602480" y="3154680"/>
            <a:ext cx="3002280" cy="155448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col.update(ids=[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"21"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metadatas=[{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"categoria"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"Audio"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"precio"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9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1499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col.upsert(ids=[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"91"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 ...)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col.delete(where={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"categoria"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"Drones"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</p:txBody>
      </p:sp>
      <p:sp>
        <p:nvSpPr>
          <p:cNvPr id="843" name="Google Shape;843;p30"/>
          <p:cNvSpPr/>
          <p:nvPr/>
        </p:nvSpPr>
        <p:spPr>
          <a:xfrm>
            <a:off x="8016239" y="1965960"/>
            <a:ext cx="3276600" cy="2834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0"/>
          <p:cNvSpPr/>
          <p:nvPr/>
        </p:nvSpPr>
        <p:spPr>
          <a:xfrm>
            <a:off x="8199119" y="2084831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ubes_w.png" id="845" name="Google Shape;84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9879" y="2215591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30"/>
          <p:cNvSpPr txBox="1"/>
          <p:nvPr/>
        </p:nvSpPr>
        <p:spPr>
          <a:xfrm>
            <a:off x="8839200" y="2084831"/>
            <a:ext cx="2362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Recuperar vectores</a:t>
            </a:r>
            <a:endParaRPr/>
          </a:p>
        </p:txBody>
      </p:sp>
      <p:sp>
        <p:nvSpPr>
          <p:cNvPr id="847" name="Google Shape;847;p30"/>
          <p:cNvSpPr txBox="1"/>
          <p:nvPr/>
        </p:nvSpPr>
        <p:spPr>
          <a:xfrm>
            <a:off x="8199119" y="2651760"/>
            <a:ext cx="2956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Base del perfil de cliente en el laboratorio.</a:t>
            </a:r>
            <a:endParaRPr/>
          </a:p>
        </p:txBody>
      </p:sp>
      <p:sp>
        <p:nvSpPr>
          <p:cNvPr id="848" name="Google Shape;848;p30"/>
          <p:cNvSpPr/>
          <p:nvPr/>
        </p:nvSpPr>
        <p:spPr>
          <a:xfrm>
            <a:off x="8153399" y="3154680"/>
            <a:ext cx="3002280" cy="155448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g = col.get(ids=[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"3"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"33"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include=[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"embeddings"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"metadatas"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perfil = g[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"embeddings"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].mean(</a:t>
            </a:r>
            <a:r>
              <a:rPr b="0" i="0" lang="es-ES" sz="9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col.query(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query_embeddings=[perfil])</a:t>
            </a:r>
            <a:endParaRPr/>
          </a:p>
        </p:txBody>
      </p:sp>
      <p:sp>
        <p:nvSpPr>
          <p:cNvPr id="849" name="Google Shape;849;p30"/>
          <p:cNvSpPr/>
          <p:nvPr/>
        </p:nvSpPr>
        <p:spPr>
          <a:xfrm>
            <a:off x="914400" y="4937760"/>
            <a:ext cx="10378440" cy="50292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109725" lIns="182875" spcFirstLastPara="1" rIns="18287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Nota: </a:t>
            </a:r>
            <a:r>
              <a:rPr b="0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query() devuelve distancias; con métrica coseno, similitud = 1 − distancia.</a:t>
            </a:r>
            <a:endParaRPr/>
          </a:p>
        </p:txBody>
      </p:sp>
      <p:sp>
        <p:nvSpPr>
          <p:cNvPr id="850" name="Google Shape;850;p30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1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Filtros por metadatos y búsqueda híbrida</a:t>
            </a:r>
            <a:endParaRPr/>
          </a:p>
        </p:txBody>
      </p:sp>
      <p:sp>
        <p:nvSpPr>
          <p:cNvPr id="857" name="Google Shape;857;p3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58" name="Google Shape;858;p31"/>
          <p:cNvSpPr/>
          <p:nvPr/>
        </p:nvSpPr>
        <p:spPr>
          <a:xfrm>
            <a:off x="914400" y="1280160"/>
            <a:ext cx="5052059" cy="41148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1"/>
          <p:cNvSpPr txBox="1"/>
          <p:nvPr/>
        </p:nvSpPr>
        <p:spPr>
          <a:xfrm>
            <a:off x="1143000" y="1371600"/>
            <a:ext cx="459485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Filtros por metadatos</a:t>
            </a:r>
            <a:endParaRPr/>
          </a:p>
        </p:txBody>
      </p:sp>
      <p:sp>
        <p:nvSpPr>
          <p:cNvPr id="860" name="Google Shape;860;p31"/>
          <p:cNvSpPr txBox="1"/>
          <p:nvPr/>
        </p:nvSpPr>
        <p:spPr>
          <a:xfrm>
            <a:off x="1143000" y="1874519"/>
            <a:ext cx="45948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Pre-filtrado</a:t>
            </a:r>
            <a:endParaRPr/>
          </a:p>
        </p:txBody>
      </p:sp>
      <p:sp>
        <p:nvSpPr>
          <p:cNvPr id="861" name="Google Shape;861;p31"/>
          <p:cNvSpPr/>
          <p:nvPr/>
        </p:nvSpPr>
        <p:spPr>
          <a:xfrm>
            <a:off x="1143000" y="2221991"/>
            <a:ext cx="141732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WHERE precio &lt; 2000</a:t>
            </a:r>
            <a:endParaRPr/>
          </a:p>
        </p:txBody>
      </p:sp>
      <p:cxnSp>
        <p:nvCxnSpPr>
          <p:cNvPr id="862" name="Google Shape;862;p31"/>
          <p:cNvCxnSpPr/>
          <p:nvPr/>
        </p:nvCxnSpPr>
        <p:spPr>
          <a:xfrm>
            <a:off x="2587751" y="2473452"/>
            <a:ext cx="219457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3" name="Google Shape;863;p31"/>
          <p:cNvSpPr/>
          <p:nvPr/>
        </p:nvSpPr>
        <p:spPr>
          <a:xfrm>
            <a:off x="2834640" y="2221991"/>
            <a:ext cx="141732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ANN</a:t>
            </a:r>
            <a:endParaRPr/>
          </a:p>
        </p:txBody>
      </p:sp>
      <p:cxnSp>
        <p:nvCxnSpPr>
          <p:cNvPr id="864" name="Google Shape;864;p31"/>
          <p:cNvCxnSpPr/>
          <p:nvPr/>
        </p:nvCxnSpPr>
        <p:spPr>
          <a:xfrm>
            <a:off x="4279392" y="2473452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16C78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5" name="Google Shape;865;p31"/>
          <p:cNvSpPr/>
          <p:nvPr/>
        </p:nvSpPr>
        <p:spPr>
          <a:xfrm>
            <a:off x="4526280" y="2221991"/>
            <a:ext cx="141732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Top-k</a:t>
            </a:r>
            <a:endParaRPr/>
          </a:p>
        </p:txBody>
      </p:sp>
      <p:sp>
        <p:nvSpPr>
          <p:cNvPr id="866" name="Google Shape;866;p31"/>
          <p:cNvSpPr txBox="1"/>
          <p:nvPr/>
        </p:nvSpPr>
        <p:spPr>
          <a:xfrm>
            <a:off x="1143000" y="2788920"/>
            <a:ext cx="45948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Siempre devuelve k resultados válidos; puede ser más lento.</a:t>
            </a:r>
            <a:endParaRPr/>
          </a:p>
        </p:txBody>
      </p:sp>
      <p:sp>
        <p:nvSpPr>
          <p:cNvPr id="867" name="Google Shape;867;p31"/>
          <p:cNvSpPr txBox="1"/>
          <p:nvPr/>
        </p:nvSpPr>
        <p:spPr>
          <a:xfrm>
            <a:off x="1143000" y="3611879"/>
            <a:ext cx="45948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9929"/>
                </a:solidFill>
                <a:latin typeface="Arial"/>
                <a:ea typeface="Arial"/>
                <a:cs typeface="Arial"/>
                <a:sym typeface="Arial"/>
              </a:rPr>
              <a:t>Post-filtrado</a:t>
            </a:r>
            <a:endParaRPr/>
          </a:p>
        </p:txBody>
      </p:sp>
      <p:sp>
        <p:nvSpPr>
          <p:cNvPr id="868" name="Google Shape;868;p31"/>
          <p:cNvSpPr/>
          <p:nvPr/>
        </p:nvSpPr>
        <p:spPr>
          <a:xfrm>
            <a:off x="1143000" y="3959352"/>
            <a:ext cx="141732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9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ANN</a:t>
            </a:r>
            <a:endParaRPr/>
          </a:p>
        </p:txBody>
      </p:sp>
      <p:cxnSp>
        <p:nvCxnSpPr>
          <p:cNvPr id="869" name="Google Shape;869;p31"/>
          <p:cNvCxnSpPr/>
          <p:nvPr/>
        </p:nvCxnSpPr>
        <p:spPr>
          <a:xfrm>
            <a:off x="2587751" y="4210812"/>
            <a:ext cx="219457" cy="0"/>
          </a:xfrm>
          <a:prstGeom prst="straightConnector1">
            <a:avLst/>
          </a:prstGeom>
          <a:noFill/>
          <a:ln cap="flat" cmpd="sng" w="19050">
            <a:solidFill>
              <a:srgbClr val="FF992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70" name="Google Shape;870;p31"/>
          <p:cNvSpPr/>
          <p:nvPr/>
        </p:nvSpPr>
        <p:spPr>
          <a:xfrm>
            <a:off x="2834640" y="3959352"/>
            <a:ext cx="141732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9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WHERE precio &lt; 2000</a:t>
            </a:r>
            <a:endParaRPr/>
          </a:p>
        </p:txBody>
      </p:sp>
      <p:cxnSp>
        <p:nvCxnSpPr>
          <p:cNvPr id="871" name="Google Shape;871;p31"/>
          <p:cNvCxnSpPr/>
          <p:nvPr/>
        </p:nvCxnSpPr>
        <p:spPr>
          <a:xfrm>
            <a:off x="4279392" y="4210812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FF992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72" name="Google Shape;872;p31"/>
          <p:cNvSpPr/>
          <p:nvPr/>
        </p:nvSpPr>
        <p:spPr>
          <a:xfrm>
            <a:off x="4526280" y="3959352"/>
            <a:ext cx="141732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9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≤ k resultados</a:t>
            </a:r>
            <a:endParaRPr/>
          </a:p>
        </p:txBody>
      </p:sp>
      <p:sp>
        <p:nvSpPr>
          <p:cNvPr id="873" name="Google Shape;873;p31"/>
          <p:cNvSpPr txBox="1"/>
          <p:nvPr/>
        </p:nvSpPr>
        <p:spPr>
          <a:xfrm>
            <a:off x="1143000" y="4526279"/>
            <a:ext cx="45948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Rápido, pero puede devolver menos de k resultados.</a:t>
            </a:r>
            <a:endParaRPr/>
          </a:p>
        </p:txBody>
      </p:sp>
      <p:sp>
        <p:nvSpPr>
          <p:cNvPr id="874" name="Google Shape;874;p31"/>
          <p:cNvSpPr/>
          <p:nvPr/>
        </p:nvSpPr>
        <p:spPr>
          <a:xfrm>
            <a:off x="6240779" y="1280160"/>
            <a:ext cx="5052059" cy="411480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1"/>
          <p:cNvSpPr txBox="1"/>
          <p:nvPr/>
        </p:nvSpPr>
        <p:spPr>
          <a:xfrm>
            <a:off x="6469379" y="1325880"/>
            <a:ext cx="45948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híbrida</a:t>
            </a:r>
            <a:endParaRPr/>
          </a:p>
        </p:txBody>
      </p:sp>
      <p:sp>
        <p:nvSpPr>
          <p:cNvPr id="876" name="Google Shape;876;p31"/>
          <p:cNvSpPr txBox="1"/>
          <p:nvPr/>
        </p:nvSpPr>
        <p:spPr>
          <a:xfrm>
            <a:off x="6469379" y="1645920"/>
            <a:ext cx="45948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BM25: </a:t>
            </a: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búsqueda clásica por palabras clave. Puntúa según la frecuencia de los términos de la consulta y su rareza en la colección.</a:t>
            </a:r>
            <a:endParaRPr/>
          </a:p>
        </p:txBody>
      </p:sp>
      <p:sp>
        <p:nvSpPr>
          <p:cNvPr id="877" name="Google Shape;877;p31"/>
          <p:cNvSpPr/>
          <p:nvPr/>
        </p:nvSpPr>
        <p:spPr>
          <a:xfrm>
            <a:off x="6469379" y="2194560"/>
            <a:ext cx="1463040" cy="91440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3875" lIns="73150" spcFirstLastPara="1" rIns="73150" wrap="square" tIns="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«funda Galaxy S24»</a:t>
            </a:r>
            <a:endParaRPr/>
          </a:p>
        </p:txBody>
      </p:sp>
      <p:sp>
        <p:nvSpPr>
          <p:cNvPr id="878" name="Google Shape;878;p31"/>
          <p:cNvSpPr/>
          <p:nvPr/>
        </p:nvSpPr>
        <p:spPr>
          <a:xfrm>
            <a:off x="8298179" y="2103120"/>
            <a:ext cx="182880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450" lIns="27425" spcFirstLastPara="1" rIns="27425" wrap="square" tIns="1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BM25 (léxica)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marcas, códigos</a:t>
            </a:r>
            <a:endParaRPr/>
          </a:p>
        </p:txBody>
      </p:sp>
      <p:sp>
        <p:nvSpPr>
          <p:cNvPr id="879" name="Google Shape;879;p31"/>
          <p:cNvSpPr/>
          <p:nvPr/>
        </p:nvSpPr>
        <p:spPr>
          <a:xfrm>
            <a:off x="8298179" y="2697480"/>
            <a:ext cx="1828800" cy="502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450" lIns="27425" spcFirstLastPara="1" rIns="27425" wrap="square" tIns="1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Vectorial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significado</a:t>
            </a:r>
            <a:endParaRPr/>
          </a:p>
        </p:txBody>
      </p:sp>
      <p:sp>
        <p:nvSpPr>
          <p:cNvPr id="880" name="Google Shape;880;p31"/>
          <p:cNvSpPr/>
          <p:nvPr/>
        </p:nvSpPr>
        <p:spPr>
          <a:xfrm>
            <a:off x="10447019" y="2286000"/>
            <a:ext cx="777240" cy="731520"/>
          </a:xfrm>
          <a:prstGeom prst="roundRect">
            <a:avLst>
              <a:gd fmla="val 8000" name="adj"/>
            </a:avLst>
          </a:prstGeom>
          <a:solidFill>
            <a:srgbClr val="004EA8"/>
          </a:solidFill>
          <a:ln>
            <a:noFill/>
          </a:ln>
        </p:spPr>
        <p:txBody>
          <a:bodyPr anchorCtr="0" anchor="ctr" bIns="10950" lIns="18275" spcFirstLastPara="1" rIns="18275" wrap="square" tIns="1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RRF</a:t>
            </a:r>
            <a:endParaRPr/>
          </a:p>
        </p:txBody>
      </p:sp>
      <p:cxnSp>
        <p:nvCxnSpPr>
          <p:cNvPr id="881" name="Google Shape;881;p31"/>
          <p:cNvCxnSpPr/>
          <p:nvPr/>
        </p:nvCxnSpPr>
        <p:spPr>
          <a:xfrm flipH="1" rot="10800000">
            <a:off x="7950708" y="2359152"/>
            <a:ext cx="329184" cy="155448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82" name="Google Shape;882;p31"/>
          <p:cNvCxnSpPr/>
          <p:nvPr/>
        </p:nvCxnSpPr>
        <p:spPr>
          <a:xfrm>
            <a:off x="7950708" y="2788920"/>
            <a:ext cx="329184" cy="155448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83" name="Google Shape;883;p31"/>
          <p:cNvCxnSpPr/>
          <p:nvPr/>
        </p:nvCxnSpPr>
        <p:spPr>
          <a:xfrm>
            <a:off x="10145267" y="2359152"/>
            <a:ext cx="283465" cy="201168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84" name="Google Shape;884;p31"/>
          <p:cNvCxnSpPr/>
          <p:nvPr/>
        </p:nvCxnSpPr>
        <p:spPr>
          <a:xfrm flipH="1" rot="10800000">
            <a:off x="10145267" y="2788920"/>
            <a:ext cx="283465" cy="155448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5" name="Google Shape;885;p31"/>
          <p:cNvSpPr txBox="1"/>
          <p:nvPr/>
        </p:nvSpPr>
        <p:spPr>
          <a:xfrm>
            <a:off x="6469379" y="3246120"/>
            <a:ext cx="45948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RRF: Reciprocal Rank Fusion</a:t>
            </a:r>
            <a:endParaRPr/>
          </a:p>
        </p:txBody>
      </p:sp>
      <p:sp>
        <p:nvSpPr>
          <p:cNvPr id="886" name="Google Shape;886;p31"/>
          <p:cNvSpPr txBox="1"/>
          <p:nvPr/>
        </p:nvSpPr>
        <p:spPr>
          <a:xfrm>
            <a:off x="6469379" y="3566160"/>
            <a:ext cx="459485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04EA8"/>
                </a:solidFill>
                <a:latin typeface="Cambria"/>
                <a:ea typeface="Cambria"/>
                <a:cs typeface="Cambria"/>
                <a:sym typeface="Cambria"/>
              </a:rPr>
              <a:t>RRF(d) = Σ 1 / (k + rangoᵢ(d)),   k ≈ 60</a:t>
            </a:r>
            <a:endParaRPr/>
          </a:p>
        </p:txBody>
      </p:sp>
      <p:sp>
        <p:nvSpPr>
          <p:cNvPr id="887" name="Google Shape;887;p31"/>
          <p:cNvSpPr txBox="1"/>
          <p:nvPr/>
        </p:nvSpPr>
        <p:spPr>
          <a:xfrm>
            <a:off x="6469379" y="3950208"/>
            <a:ext cx="459485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Sirve para unir en una sola lista los resultados de la búsqueda léxica y la vectorial. Los puntajes de BM25 y del coseno están en escalas distintas y no se pueden sumar, así que RRF usa solo la posición (rango) de cada documento en cada lista.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aparición suma 1 / (k + rango); la constante k ≈ 60 evita que el primer puesto domine. Gana el documento bien ubicado en ambas listas.</a:t>
            </a:r>
            <a:endParaRPr/>
          </a:p>
        </p:txBody>
      </p:sp>
      <p:sp>
        <p:nvSpPr>
          <p:cNvPr id="888" name="Google Shape;888;p31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Ejemplo de fusión con RRF</a:t>
            </a:r>
            <a:endParaRPr/>
          </a:p>
        </p:txBody>
      </p:sp>
      <p:sp>
        <p:nvSpPr>
          <p:cNvPr id="895" name="Google Shape;895;p32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896" name="Google Shape;896;p32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97" name="Google Shape;897;p32"/>
          <p:cNvSpPr/>
          <p:nvPr/>
        </p:nvSpPr>
        <p:spPr>
          <a:xfrm>
            <a:off x="914400" y="1207008"/>
            <a:ext cx="10378440" cy="50292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109725" lIns="182875" spcFirstLastPara="1" rIns="18287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Consulta: </a:t>
            </a:r>
            <a:r>
              <a:rPr b="0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«funda para Galaxy S24»</a:t>
            </a:r>
            <a:r>
              <a:rPr b="0" i="0" lang="es-ES" sz="1300" u="none" cap="none" strike="noStrike">
                <a:solidFill>
                  <a:srgbClr val="C9CED6"/>
                </a:solidFill>
                <a:latin typeface="Arial"/>
                <a:ea typeface="Arial"/>
                <a:cs typeface="Arial"/>
                <a:sym typeface="Arial"/>
              </a:rPr>
              <a:t>      ·      k = 60</a:t>
            </a:r>
            <a:endParaRPr/>
          </a:p>
        </p:txBody>
      </p:sp>
      <p:sp>
        <p:nvSpPr>
          <p:cNvPr id="898" name="Google Shape;898;p32"/>
          <p:cNvSpPr txBox="1"/>
          <p:nvPr/>
        </p:nvSpPr>
        <p:spPr>
          <a:xfrm>
            <a:off x="914400" y="187451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Búsqueda léxica (BM25)</a:t>
            </a:r>
            <a:endParaRPr/>
          </a:p>
        </p:txBody>
      </p:sp>
      <p:sp>
        <p:nvSpPr>
          <p:cNvPr id="899" name="Google Shape;899;p32"/>
          <p:cNvSpPr/>
          <p:nvPr/>
        </p:nvSpPr>
        <p:spPr>
          <a:xfrm>
            <a:off x="914400" y="2240279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2"/>
          <p:cNvSpPr txBox="1"/>
          <p:nvPr/>
        </p:nvSpPr>
        <p:spPr>
          <a:xfrm>
            <a:off x="1005840" y="2240279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901" name="Google Shape;901;p32"/>
          <p:cNvSpPr txBox="1"/>
          <p:nvPr/>
        </p:nvSpPr>
        <p:spPr>
          <a:xfrm>
            <a:off x="1325880" y="2240279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Funda de silicona S24 Ultra</a:t>
            </a:r>
            <a:endParaRPr/>
          </a:p>
        </p:txBody>
      </p:sp>
      <p:sp>
        <p:nvSpPr>
          <p:cNvPr id="902" name="Google Shape;902;p32"/>
          <p:cNvSpPr/>
          <p:nvPr/>
        </p:nvSpPr>
        <p:spPr>
          <a:xfrm>
            <a:off x="914400" y="2578608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2"/>
          <p:cNvSpPr txBox="1"/>
          <p:nvPr/>
        </p:nvSpPr>
        <p:spPr>
          <a:xfrm>
            <a:off x="1005840" y="2578608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904" name="Google Shape;904;p32"/>
          <p:cNvSpPr txBox="1"/>
          <p:nvPr/>
        </p:nvSpPr>
        <p:spPr>
          <a:xfrm>
            <a:off x="1325880" y="2578608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Protector de pantalla S24</a:t>
            </a:r>
            <a:endParaRPr/>
          </a:p>
        </p:txBody>
      </p:sp>
      <p:sp>
        <p:nvSpPr>
          <p:cNvPr id="905" name="Google Shape;905;p32"/>
          <p:cNvSpPr/>
          <p:nvPr/>
        </p:nvSpPr>
        <p:spPr>
          <a:xfrm>
            <a:off x="914400" y="2916935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2"/>
          <p:cNvSpPr txBox="1"/>
          <p:nvPr/>
        </p:nvSpPr>
        <p:spPr>
          <a:xfrm>
            <a:off x="1005840" y="2916935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907" name="Google Shape;907;p32"/>
          <p:cNvSpPr txBox="1"/>
          <p:nvPr/>
        </p:nvSpPr>
        <p:spPr>
          <a:xfrm>
            <a:off x="1325880" y="2916935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Galaxy S24 Ultra 512 GB</a:t>
            </a:r>
            <a:endParaRPr/>
          </a:p>
        </p:txBody>
      </p:sp>
      <p:sp>
        <p:nvSpPr>
          <p:cNvPr id="908" name="Google Shape;908;p32"/>
          <p:cNvSpPr/>
          <p:nvPr/>
        </p:nvSpPr>
        <p:spPr>
          <a:xfrm>
            <a:off x="914400" y="3255263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2"/>
          <p:cNvSpPr txBox="1"/>
          <p:nvPr/>
        </p:nvSpPr>
        <p:spPr>
          <a:xfrm>
            <a:off x="1005840" y="3255263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</p:txBody>
      </p:sp>
      <p:sp>
        <p:nvSpPr>
          <p:cNvPr id="910" name="Google Shape;910;p32"/>
          <p:cNvSpPr txBox="1"/>
          <p:nvPr/>
        </p:nvSpPr>
        <p:spPr>
          <a:xfrm>
            <a:off x="1325880" y="3255263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Case transparente 6.8"</a:t>
            </a:r>
            <a:endParaRPr/>
          </a:p>
        </p:txBody>
      </p:sp>
      <p:sp>
        <p:nvSpPr>
          <p:cNvPr id="911" name="Google Shape;911;p32"/>
          <p:cNvSpPr txBox="1"/>
          <p:nvPr/>
        </p:nvSpPr>
        <p:spPr>
          <a:xfrm>
            <a:off x="914400" y="37033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Búsqueda vectorial</a:t>
            </a: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914400" y="4069080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2"/>
          <p:cNvSpPr txBox="1"/>
          <p:nvPr/>
        </p:nvSpPr>
        <p:spPr>
          <a:xfrm>
            <a:off x="1005840" y="4069080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914" name="Google Shape;914;p32"/>
          <p:cNvSpPr txBox="1"/>
          <p:nvPr/>
        </p:nvSpPr>
        <p:spPr>
          <a:xfrm>
            <a:off x="1325880" y="40690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Estuche antigolpes Samsung</a:t>
            </a:r>
            <a:endParaRPr/>
          </a:p>
        </p:txBody>
      </p:sp>
      <p:sp>
        <p:nvSpPr>
          <p:cNvPr id="915" name="Google Shape;915;p32"/>
          <p:cNvSpPr/>
          <p:nvPr/>
        </p:nvSpPr>
        <p:spPr>
          <a:xfrm>
            <a:off x="914400" y="4407408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2"/>
          <p:cNvSpPr txBox="1"/>
          <p:nvPr/>
        </p:nvSpPr>
        <p:spPr>
          <a:xfrm>
            <a:off x="1005840" y="4407408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917" name="Google Shape;917;p32"/>
          <p:cNvSpPr txBox="1"/>
          <p:nvPr/>
        </p:nvSpPr>
        <p:spPr>
          <a:xfrm>
            <a:off x="1325880" y="4407408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Funda de silicona S24 Ultra</a:t>
            </a:r>
            <a:endParaRPr/>
          </a:p>
        </p:txBody>
      </p:sp>
      <p:sp>
        <p:nvSpPr>
          <p:cNvPr id="918" name="Google Shape;918;p32"/>
          <p:cNvSpPr/>
          <p:nvPr/>
        </p:nvSpPr>
        <p:spPr>
          <a:xfrm>
            <a:off x="914400" y="4745736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2"/>
          <p:cNvSpPr txBox="1"/>
          <p:nvPr/>
        </p:nvSpPr>
        <p:spPr>
          <a:xfrm>
            <a:off x="1005840" y="4745736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920" name="Google Shape;920;p32"/>
          <p:cNvSpPr txBox="1"/>
          <p:nvPr/>
        </p:nvSpPr>
        <p:spPr>
          <a:xfrm>
            <a:off x="1325880" y="4745736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Case transparente 6.8"</a:t>
            </a:r>
            <a:endParaRPr/>
          </a:p>
        </p:txBody>
      </p:sp>
      <p:sp>
        <p:nvSpPr>
          <p:cNvPr id="921" name="Google Shape;921;p32"/>
          <p:cNvSpPr/>
          <p:nvPr/>
        </p:nvSpPr>
        <p:spPr>
          <a:xfrm>
            <a:off x="914400" y="5084064"/>
            <a:ext cx="3017520" cy="30175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2"/>
          <p:cNvSpPr txBox="1"/>
          <p:nvPr/>
        </p:nvSpPr>
        <p:spPr>
          <a:xfrm>
            <a:off x="1005840" y="5084064"/>
            <a:ext cx="320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</p:txBody>
      </p:sp>
      <p:sp>
        <p:nvSpPr>
          <p:cNvPr id="923" name="Google Shape;923;p32"/>
          <p:cNvSpPr txBox="1"/>
          <p:nvPr/>
        </p:nvSpPr>
        <p:spPr>
          <a:xfrm>
            <a:off x="1325880" y="5084064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  </a:t>
            </a:r>
            <a:r>
              <a:rPr b="0" i="0" lang="es-ES" sz="9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Protector de pantalla S24</a:t>
            </a:r>
            <a:endParaRPr/>
          </a:p>
        </p:txBody>
      </p:sp>
      <p:graphicFrame>
        <p:nvGraphicFramePr>
          <p:cNvPr id="924" name="Google Shape;924;p32"/>
          <p:cNvGraphicFramePr/>
          <p:nvPr/>
        </p:nvGraphicFramePr>
        <p:xfrm>
          <a:off x="4251959" y="187451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{BE92FFFE-BF21-46D7-B298-DD327AE4D51F}</a:tableStyleId>
              </a:tblPr>
              <a:tblGrid>
                <a:gridCol w="640075"/>
                <a:gridCol w="1051550"/>
                <a:gridCol w="1188725"/>
                <a:gridCol w="1371600"/>
                <a:gridCol w="777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Doc.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Rango BM25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Rango vectorial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Cálculo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RRF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04235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16C7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1/61 + 1/62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0.0325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16C7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1/62 + 1/64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0.0318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16C7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1/64 + 1/63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0.0315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1/61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0.0164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1/63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150" u="none" cap="none" strike="noStrike">
                          <a:solidFill>
                            <a:srgbClr val="1919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0.0159</a:t>
                      </a:r>
                      <a:endParaRPr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5" name="Google Shape;925;p32"/>
          <p:cNvSpPr txBox="1"/>
          <p:nvPr/>
        </p:nvSpPr>
        <p:spPr>
          <a:xfrm>
            <a:off x="4251959" y="4389120"/>
            <a:ext cx="5029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documento suma 1 / (60 + rango) por cada lista en la que aparece.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Lectura del resultado: </a:t>
            </a: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 y E no encabezan ninguna lista, pero aparecen en las dos y superan a C, que solo destaca en la vectorial.</a:t>
            </a:r>
            <a:endParaRPr/>
          </a:p>
        </p:txBody>
      </p:sp>
      <p:sp>
        <p:nvSpPr>
          <p:cNvPr id="926" name="Google Shape;926;p32"/>
          <p:cNvSpPr txBox="1"/>
          <p:nvPr/>
        </p:nvSpPr>
        <p:spPr>
          <a:xfrm>
            <a:off x="9555480" y="1874519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927" name="Google Shape;927;p32"/>
          <p:cNvSpPr/>
          <p:nvPr/>
        </p:nvSpPr>
        <p:spPr>
          <a:xfrm>
            <a:off x="9555480" y="2240280"/>
            <a:ext cx="1737360" cy="36576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2"/>
          <p:cNvSpPr/>
          <p:nvPr/>
        </p:nvSpPr>
        <p:spPr>
          <a:xfrm>
            <a:off x="9628632" y="2286000"/>
            <a:ext cx="274320" cy="2743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29" name="Google Shape;929;p32"/>
          <p:cNvSpPr txBox="1"/>
          <p:nvPr/>
        </p:nvSpPr>
        <p:spPr>
          <a:xfrm>
            <a:off x="9994392" y="2240280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  </a:t>
            </a:r>
            <a:r>
              <a:rPr b="0" i="0" lang="es-ES" sz="8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Funda de silicona </a:t>
            </a:r>
            <a:endParaRPr/>
          </a:p>
        </p:txBody>
      </p:sp>
      <p:sp>
        <p:nvSpPr>
          <p:cNvPr id="930" name="Google Shape;930;p32"/>
          <p:cNvSpPr/>
          <p:nvPr/>
        </p:nvSpPr>
        <p:spPr>
          <a:xfrm>
            <a:off x="9555480" y="2651760"/>
            <a:ext cx="1737360" cy="36576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9628632" y="2697480"/>
            <a:ext cx="274320" cy="2743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32" name="Google Shape;932;p32"/>
          <p:cNvSpPr txBox="1"/>
          <p:nvPr/>
        </p:nvSpPr>
        <p:spPr>
          <a:xfrm>
            <a:off x="9994392" y="2651760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  </a:t>
            </a:r>
            <a:r>
              <a:rPr b="0" i="0" lang="es-ES" sz="8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Protector de panta</a:t>
            </a:r>
            <a:endParaRPr/>
          </a:p>
        </p:txBody>
      </p:sp>
      <p:sp>
        <p:nvSpPr>
          <p:cNvPr id="933" name="Google Shape;933;p32"/>
          <p:cNvSpPr/>
          <p:nvPr/>
        </p:nvSpPr>
        <p:spPr>
          <a:xfrm>
            <a:off x="9555480" y="3063240"/>
            <a:ext cx="1737360" cy="36576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9628632" y="3108960"/>
            <a:ext cx="274320" cy="2743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35" name="Google Shape;935;p32"/>
          <p:cNvSpPr txBox="1"/>
          <p:nvPr/>
        </p:nvSpPr>
        <p:spPr>
          <a:xfrm>
            <a:off x="9994392" y="3063240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  </a:t>
            </a:r>
            <a:r>
              <a:rPr b="0" i="0" lang="es-ES" sz="8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Case transparente </a:t>
            </a: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9555480" y="3474720"/>
            <a:ext cx="1737360" cy="3657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9628632" y="3520440"/>
            <a:ext cx="274320" cy="274320"/>
          </a:xfrm>
          <a:prstGeom prst="ellipse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38" name="Google Shape;938;p32"/>
          <p:cNvSpPr txBox="1"/>
          <p:nvPr/>
        </p:nvSpPr>
        <p:spPr>
          <a:xfrm>
            <a:off x="9994392" y="3474720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  </a:t>
            </a:r>
            <a:r>
              <a:rPr b="0" i="0" lang="es-ES" sz="8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Estuche antigolpes</a:t>
            </a:r>
            <a:endParaRPr/>
          </a:p>
        </p:txBody>
      </p:sp>
      <p:sp>
        <p:nvSpPr>
          <p:cNvPr id="939" name="Google Shape;939;p32"/>
          <p:cNvSpPr/>
          <p:nvPr/>
        </p:nvSpPr>
        <p:spPr>
          <a:xfrm>
            <a:off x="9555480" y="3886200"/>
            <a:ext cx="1737360" cy="3657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9628632" y="3931920"/>
            <a:ext cx="274320" cy="274320"/>
          </a:xfrm>
          <a:prstGeom prst="ellipse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41" name="Google Shape;941;p32"/>
          <p:cNvSpPr txBox="1"/>
          <p:nvPr/>
        </p:nvSpPr>
        <p:spPr>
          <a:xfrm>
            <a:off x="9994392" y="3886200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  </a:t>
            </a:r>
            <a:r>
              <a:rPr b="0" i="0" lang="es-ES" sz="8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Galaxy S24 Ultra 5</a:t>
            </a:r>
            <a:endParaRPr/>
          </a:p>
        </p:txBody>
      </p:sp>
      <p:sp>
        <p:nvSpPr>
          <p:cNvPr id="942" name="Google Shape;942;p32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3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 para la clase: ¿qué solución elegirían?</a:t>
            </a:r>
            <a:endParaRPr/>
          </a:p>
        </p:txBody>
      </p:sp>
      <p:sp>
        <p:nvSpPr>
          <p:cNvPr id="949" name="Google Shape;949;p3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50" name="Google Shape;950;p33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En grupos de dos: elijan un motor y un tipo de índice para cada escenario y justifiquen.</a:t>
            </a:r>
            <a:endParaRPr/>
          </a:p>
        </p:txBody>
      </p:sp>
      <p:sp>
        <p:nvSpPr>
          <p:cNvPr id="951" name="Google Shape;951;p33"/>
          <p:cNvSpPr/>
          <p:nvPr/>
        </p:nvSpPr>
        <p:spPr>
          <a:xfrm>
            <a:off x="914400" y="1737360"/>
            <a:ext cx="3276600" cy="25146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1143000" y="1920240"/>
            <a:ext cx="640080" cy="6400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pic>
        <p:nvPicPr>
          <p:cNvPr descr="FaLaptopCode_n.png" id="953" name="Google Shape;9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3"/>
          <p:cNvSpPr txBox="1"/>
          <p:nvPr/>
        </p:nvSpPr>
        <p:spPr>
          <a:xfrm>
            <a:off x="1143000" y="2697480"/>
            <a:ext cx="281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Tienda del curso</a:t>
            </a:r>
            <a:endParaRPr/>
          </a:p>
        </p:txBody>
      </p:sp>
      <p:sp>
        <p:nvSpPr>
          <p:cNvPr id="955" name="Google Shape;955;p33"/>
          <p:cNvSpPr txBox="1"/>
          <p:nvPr/>
        </p:nvSpPr>
        <p:spPr>
          <a:xfrm>
            <a:off x="1143000" y="3108960"/>
            <a:ext cx="2819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90 productos y 135 comentarios. Prototipo en una laptop.</a:t>
            </a:r>
            <a:endParaRPr/>
          </a:p>
        </p:txBody>
      </p:sp>
      <p:sp>
        <p:nvSpPr>
          <p:cNvPr id="956" name="Google Shape;956;p33"/>
          <p:cNvSpPr/>
          <p:nvPr/>
        </p:nvSpPr>
        <p:spPr>
          <a:xfrm>
            <a:off x="4465320" y="1737360"/>
            <a:ext cx="3276600" cy="25146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4693920" y="1920240"/>
            <a:ext cx="640080" cy="64008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pic>
        <p:nvPicPr>
          <p:cNvPr descr="FaShieldHalved_n.png" id="958" name="Google Shape;95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61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33"/>
          <p:cNvSpPr txBox="1"/>
          <p:nvPr/>
        </p:nvSpPr>
        <p:spPr>
          <a:xfrm>
            <a:off x="4693920" y="2697480"/>
            <a:ext cx="281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Banco</a:t>
            </a:r>
            <a:endParaRPr/>
          </a:p>
        </p:txBody>
      </p:sp>
      <p:sp>
        <p:nvSpPr>
          <p:cNvPr id="960" name="Google Shape;960;p33"/>
          <p:cNvSpPr txBox="1"/>
          <p:nvPr/>
        </p:nvSpPr>
        <p:spPr>
          <a:xfrm>
            <a:off x="4693920" y="3108960"/>
            <a:ext cx="2819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50 millones de documentos en una base relacional corporativa, con requisitos de auditoría.</a:t>
            </a:r>
            <a:endParaRPr/>
          </a:p>
        </p:txBody>
      </p:sp>
      <p:sp>
        <p:nvSpPr>
          <p:cNvPr id="961" name="Google Shape;961;p33"/>
          <p:cNvSpPr/>
          <p:nvPr/>
        </p:nvSpPr>
        <p:spPr>
          <a:xfrm>
            <a:off x="8016239" y="1737360"/>
            <a:ext cx="3276600" cy="25146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3"/>
          <p:cNvSpPr/>
          <p:nvPr/>
        </p:nvSpPr>
        <p:spPr>
          <a:xfrm>
            <a:off x="8244839" y="1920240"/>
            <a:ext cx="640080" cy="6400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descr="FaImage_n.png" id="963" name="Google Shape;96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704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33"/>
          <p:cNvSpPr txBox="1"/>
          <p:nvPr/>
        </p:nvSpPr>
        <p:spPr>
          <a:xfrm>
            <a:off x="8244839" y="2697480"/>
            <a:ext cx="281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Buscador de imágenes</a:t>
            </a:r>
            <a:endParaRPr/>
          </a:p>
        </p:txBody>
      </p:sp>
      <p:sp>
        <p:nvSpPr>
          <p:cNvPr id="965" name="Google Shape;965;p33"/>
          <p:cNvSpPr txBox="1"/>
          <p:nvPr/>
        </p:nvSpPr>
        <p:spPr>
          <a:xfrm>
            <a:off x="8244839" y="3108960"/>
            <a:ext cx="2819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2 000 millones de vectores y un presupuesto de memoria RAM limitado.</a:t>
            </a:r>
            <a:endParaRPr/>
          </a:p>
        </p:txBody>
      </p:sp>
      <p:sp>
        <p:nvSpPr>
          <p:cNvPr id="966" name="Google Shape;966;p33"/>
          <p:cNvSpPr txBox="1"/>
          <p:nvPr/>
        </p:nvSpPr>
        <p:spPr>
          <a:xfrm>
            <a:off x="914400" y="448056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Motores</a:t>
            </a:r>
            <a:endParaRPr/>
          </a:p>
        </p:txBody>
      </p:sp>
      <p:sp>
        <p:nvSpPr>
          <p:cNvPr id="967" name="Google Shape;967;p33"/>
          <p:cNvSpPr/>
          <p:nvPr/>
        </p:nvSpPr>
        <p:spPr>
          <a:xfrm>
            <a:off x="2148840" y="448056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Chroma</a:t>
            </a:r>
            <a:endParaRPr/>
          </a:p>
        </p:txBody>
      </p:sp>
      <p:sp>
        <p:nvSpPr>
          <p:cNvPr id="968" name="Google Shape;968;p33"/>
          <p:cNvSpPr/>
          <p:nvPr/>
        </p:nvSpPr>
        <p:spPr>
          <a:xfrm>
            <a:off x="3172968" y="448056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FAISS</a:t>
            </a:r>
            <a:endParaRPr/>
          </a:p>
        </p:txBody>
      </p:sp>
      <p:sp>
        <p:nvSpPr>
          <p:cNvPr id="969" name="Google Shape;969;p33"/>
          <p:cNvSpPr/>
          <p:nvPr/>
        </p:nvSpPr>
        <p:spPr>
          <a:xfrm>
            <a:off x="4105656" y="448056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Milvus</a:t>
            </a:r>
            <a:endParaRPr/>
          </a:p>
        </p:txBody>
      </p:sp>
      <p:sp>
        <p:nvSpPr>
          <p:cNvPr id="970" name="Google Shape;970;p33"/>
          <p:cNvSpPr/>
          <p:nvPr/>
        </p:nvSpPr>
        <p:spPr>
          <a:xfrm>
            <a:off x="5129784" y="4480560"/>
            <a:ext cx="109728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Pinecone</a:t>
            </a:r>
            <a:endParaRPr/>
          </a:p>
        </p:txBody>
      </p:sp>
      <p:sp>
        <p:nvSpPr>
          <p:cNvPr id="971" name="Google Shape;971;p33"/>
          <p:cNvSpPr/>
          <p:nvPr/>
        </p:nvSpPr>
        <p:spPr>
          <a:xfrm>
            <a:off x="6336792" y="448056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Qdrant</a:t>
            </a:r>
            <a:endParaRPr/>
          </a:p>
        </p:txBody>
      </p:sp>
      <p:sp>
        <p:nvSpPr>
          <p:cNvPr id="972" name="Google Shape;972;p33"/>
          <p:cNvSpPr/>
          <p:nvPr/>
        </p:nvSpPr>
        <p:spPr>
          <a:xfrm>
            <a:off x="7360920" y="4480560"/>
            <a:ext cx="109728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Weaviate</a:t>
            </a:r>
            <a:endParaRPr/>
          </a:p>
        </p:txBody>
      </p:sp>
      <p:sp>
        <p:nvSpPr>
          <p:cNvPr id="973" name="Google Shape;973;p33"/>
          <p:cNvSpPr txBox="1"/>
          <p:nvPr/>
        </p:nvSpPr>
        <p:spPr>
          <a:xfrm>
            <a:off x="914400" y="498348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Índices</a:t>
            </a:r>
            <a:endParaRPr/>
          </a:p>
        </p:txBody>
      </p:sp>
      <p:sp>
        <p:nvSpPr>
          <p:cNvPr id="974" name="Google Shape;974;p33"/>
          <p:cNvSpPr/>
          <p:nvPr/>
        </p:nvSpPr>
        <p:spPr>
          <a:xfrm>
            <a:off x="2148840" y="4983480"/>
            <a:ext cx="155448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Flat (exacto)</a:t>
            </a:r>
            <a:endParaRPr/>
          </a:p>
        </p:txBody>
      </p:sp>
      <p:sp>
        <p:nvSpPr>
          <p:cNvPr id="975" name="Google Shape;975;p33"/>
          <p:cNvSpPr/>
          <p:nvPr/>
        </p:nvSpPr>
        <p:spPr>
          <a:xfrm>
            <a:off x="3813048" y="4983480"/>
            <a:ext cx="73152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HNSW</a:t>
            </a:r>
            <a:endParaRPr/>
          </a:p>
        </p:txBody>
      </p:sp>
      <p:sp>
        <p:nvSpPr>
          <p:cNvPr id="976" name="Google Shape;976;p33"/>
          <p:cNvSpPr/>
          <p:nvPr/>
        </p:nvSpPr>
        <p:spPr>
          <a:xfrm>
            <a:off x="4654296" y="4983480"/>
            <a:ext cx="64008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IVF</a:t>
            </a:r>
            <a:endParaRPr/>
          </a:p>
        </p:txBody>
      </p:sp>
      <p:sp>
        <p:nvSpPr>
          <p:cNvPr id="977" name="Google Shape;977;p33"/>
          <p:cNvSpPr/>
          <p:nvPr/>
        </p:nvSpPr>
        <p:spPr>
          <a:xfrm>
            <a:off x="5404104" y="498348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IVF-PQ</a:t>
            </a:r>
            <a:endParaRPr/>
          </a:p>
        </p:txBody>
      </p:sp>
      <p:sp>
        <p:nvSpPr>
          <p:cNvPr id="978" name="Google Shape;978;p33"/>
          <p:cNvSpPr/>
          <p:nvPr/>
        </p:nvSpPr>
        <p:spPr>
          <a:xfrm>
            <a:off x="6428232" y="4983480"/>
            <a:ext cx="100584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DiskANN</a:t>
            </a:r>
            <a:endParaRPr/>
          </a:p>
        </p:txBody>
      </p:sp>
      <p:sp>
        <p:nvSpPr>
          <p:cNvPr id="979" name="Google Shape;979;p33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4"/>
          <p:cNvSpPr txBox="1"/>
          <p:nvPr>
            <p:ph type="ctrTitle"/>
          </p:nvPr>
        </p:nvSpPr>
        <p:spPr>
          <a:xfrm>
            <a:off x="1069848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s-ES" sz="32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Parte 3. Aplicaciones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6" name="Google Shape;986;p34"/>
          <p:cNvSpPr txBox="1"/>
          <p:nvPr>
            <p:ph idx="1" type="subTitle"/>
          </p:nvPr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ES" sz="1800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RAG, recomendación y tendencias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87" name="Google Shape;987;p34"/>
          <p:cNvSpPr/>
          <p:nvPr/>
        </p:nvSpPr>
        <p:spPr>
          <a:xfrm>
            <a:off x="5641848" y="1188720"/>
            <a:ext cx="914400" cy="9144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88" name="Google Shape;988;p34">
            <a:hlinkClick action="ppaction://hlinksldjump" r:id="rId3"/>
          </p:cNvPr>
          <p:cNvSpPr/>
          <p:nvPr/>
        </p:nvSpPr>
        <p:spPr>
          <a:xfrm>
            <a:off x="9646920" y="384048"/>
            <a:ext cx="164592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Volver a la agenda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5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RAG: generación aumentada por recuperación</a:t>
            </a:r>
            <a:endParaRPr/>
          </a:p>
        </p:txBody>
      </p:sp>
      <p:sp>
        <p:nvSpPr>
          <p:cNvPr id="995" name="Google Shape;995;p35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996" name="Google Shape;996;p3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97" name="Google Shape;997;p35"/>
          <p:cNvSpPr/>
          <p:nvPr/>
        </p:nvSpPr>
        <p:spPr>
          <a:xfrm>
            <a:off x="914400" y="1234440"/>
            <a:ext cx="2103120" cy="274320"/>
          </a:xfrm>
          <a:prstGeom prst="roundRect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Ingesta (una vez)</a:t>
            </a:r>
            <a:endParaRPr/>
          </a:p>
        </p:txBody>
      </p:sp>
      <p:sp>
        <p:nvSpPr>
          <p:cNvPr id="998" name="Google Shape;998;p35"/>
          <p:cNvSpPr/>
          <p:nvPr/>
        </p:nvSpPr>
        <p:spPr>
          <a:xfrm>
            <a:off x="3200400" y="1188720"/>
            <a:ext cx="1417320" cy="3840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16450" lIns="27425" spcFirstLastPara="1" rIns="27425" wrap="square" tIns="1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Documentos</a:t>
            </a:r>
            <a:endParaRPr/>
          </a:p>
        </p:txBody>
      </p:sp>
      <p:cxnSp>
        <p:nvCxnSpPr>
          <p:cNvPr id="999" name="Google Shape;999;p35"/>
          <p:cNvCxnSpPr/>
          <p:nvPr/>
        </p:nvCxnSpPr>
        <p:spPr>
          <a:xfrm>
            <a:off x="4645152" y="1380744"/>
            <a:ext cx="265176" cy="0"/>
          </a:xfrm>
          <a:prstGeom prst="straightConnector1">
            <a:avLst/>
          </a:prstGeom>
          <a:noFill/>
          <a:ln cap="flat" cmpd="sng" w="1587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00" name="Google Shape;1000;p35"/>
          <p:cNvSpPr/>
          <p:nvPr/>
        </p:nvSpPr>
        <p:spPr>
          <a:xfrm>
            <a:off x="4937760" y="1188720"/>
            <a:ext cx="1417320" cy="3840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16450" lIns="27425" spcFirstLastPara="1" rIns="27425" wrap="square" tIns="1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Fragmentos</a:t>
            </a:r>
            <a:endParaRPr/>
          </a:p>
        </p:txBody>
      </p:sp>
      <p:cxnSp>
        <p:nvCxnSpPr>
          <p:cNvPr id="1001" name="Google Shape;1001;p35"/>
          <p:cNvCxnSpPr/>
          <p:nvPr/>
        </p:nvCxnSpPr>
        <p:spPr>
          <a:xfrm>
            <a:off x="6382512" y="1380744"/>
            <a:ext cx="265176" cy="0"/>
          </a:xfrm>
          <a:prstGeom prst="straightConnector1">
            <a:avLst/>
          </a:prstGeom>
          <a:noFill/>
          <a:ln cap="flat" cmpd="sng" w="1587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02" name="Google Shape;1002;p35"/>
          <p:cNvSpPr/>
          <p:nvPr/>
        </p:nvSpPr>
        <p:spPr>
          <a:xfrm>
            <a:off x="6675120" y="1188720"/>
            <a:ext cx="1417320" cy="3840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16450" lIns="27425" spcFirstLastPara="1" rIns="27425" wrap="square" tIns="1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/>
          </a:p>
        </p:txBody>
      </p:sp>
      <p:cxnSp>
        <p:nvCxnSpPr>
          <p:cNvPr id="1003" name="Google Shape;1003;p35"/>
          <p:cNvCxnSpPr/>
          <p:nvPr/>
        </p:nvCxnSpPr>
        <p:spPr>
          <a:xfrm>
            <a:off x="8119871" y="1380744"/>
            <a:ext cx="265177" cy="0"/>
          </a:xfrm>
          <a:prstGeom prst="straightConnector1">
            <a:avLst/>
          </a:prstGeom>
          <a:noFill/>
          <a:ln cap="flat" cmpd="sng" w="1587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04" name="Google Shape;1004;p35"/>
          <p:cNvSpPr/>
          <p:nvPr/>
        </p:nvSpPr>
        <p:spPr>
          <a:xfrm>
            <a:off x="8412480" y="1188720"/>
            <a:ext cx="1417320" cy="384048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16450" lIns="27425" spcFirstLastPara="1" rIns="27425" wrap="square" tIns="1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BDV</a:t>
            </a:r>
            <a:endParaRPr/>
          </a:p>
        </p:txBody>
      </p:sp>
      <p:sp>
        <p:nvSpPr>
          <p:cNvPr id="1005" name="Google Shape;1005;p35"/>
          <p:cNvSpPr/>
          <p:nvPr/>
        </p:nvSpPr>
        <p:spPr>
          <a:xfrm>
            <a:off x="914400" y="1920240"/>
            <a:ext cx="1819655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5"/>
          <p:cNvSpPr/>
          <p:nvPr/>
        </p:nvSpPr>
        <p:spPr>
          <a:xfrm>
            <a:off x="1504188" y="2057400"/>
            <a:ext cx="640080" cy="64008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_w.png" id="1007" name="Google Shape;10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608" y="22238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35"/>
          <p:cNvSpPr txBox="1"/>
          <p:nvPr/>
        </p:nvSpPr>
        <p:spPr>
          <a:xfrm>
            <a:off x="1005840" y="2761488"/>
            <a:ext cx="16367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  <a:endParaRPr/>
          </a:p>
        </p:txBody>
      </p:sp>
      <p:sp>
        <p:nvSpPr>
          <p:cNvPr id="1009" name="Google Shape;1009;p35"/>
          <p:cNvSpPr txBox="1"/>
          <p:nvPr/>
        </p:nvSpPr>
        <p:spPr>
          <a:xfrm>
            <a:off x="1005840" y="3063240"/>
            <a:ext cx="163677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«¿De qué se quejan los clientes de Arequipa?»</a:t>
            </a:r>
            <a:endParaRPr/>
          </a:p>
        </p:txBody>
      </p:sp>
      <p:sp>
        <p:nvSpPr>
          <p:cNvPr id="1010" name="Google Shape;1010;p35"/>
          <p:cNvSpPr/>
          <p:nvPr/>
        </p:nvSpPr>
        <p:spPr>
          <a:xfrm>
            <a:off x="2807208" y="265176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5"/>
          <p:cNvSpPr/>
          <p:nvPr/>
        </p:nvSpPr>
        <p:spPr>
          <a:xfrm>
            <a:off x="3054096" y="1920240"/>
            <a:ext cx="1819655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5"/>
          <p:cNvSpPr/>
          <p:nvPr/>
        </p:nvSpPr>
        <p:spPr>
          <a:xfrm>
            <a:off x="3643884" y="2057400"/>
            <a:ext cx="640080" cy="64008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1013" name="Google Shape;101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304" y="22238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35"/>
          <p:cNvSpPr txBox="1"/>
          <p:nvPr/>
        </p:nvSpPr>
        <p:spPr>
          <a:xfrm>
            <a:off x="3145536" y="2761488"/>
            <a:ext cx="16367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</p:txBody>
      </p:sp>
      <p:sp>
        <p:nvSpPr>
          <p:cNvPr id="1015" name="Google Shape;1015;p35"/>
          <p:cNvSpPr txBox="1"/>
          <p:nvPr/>
        </p:nvSpPr>
        <p:spPr>
          <a:xfrm>
            <a:off x="3145536" y="3063240"/>
            <a:ext cx="163677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de la pregunta</a:t>
            </a:r>
            <a:endParaRPr/>
          </a:p>
        </p:txBody>
      </p:sp>
      <p:sp>
        <p:nvSpPr>
          <p:cNvPr id="1016" name="Google Shape;1016;p35"/>
          <p:cNvSpPr/>
          <p:nvPr/>
        </p:nvSpPr>
        <p:spPr>
          <a:xfrm>
            <a:off x="4946904" y="265176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5"/>
          <p:cNvSpPr/>
          <p:nvPr/>
        </p:nvSpPr>
        <p:spPr>
          <a:xfrm>
            <a:off x="5193792" y="1920240"/>
            <a:ext cx="1819655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5783580" y="2057400"/>
            <a:ext cx="640080" cy="6400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Database_w.png" id="1019" name="Google Shape;101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0000" y="22238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35"/>
          <p:cNvSpPr txBox="1"/>
          <p:nvPr/>
        </p:nvSpPr>
        <p:spPr>
          <a:xfrm>
            <a:off x="5285231" y="2761488"/>
            <a:ext cx="16367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Recuperación</a:t>
            </a:r>
            <a:endParaRPr/>
          </a:p>
        </p:txBody>
      </p:sp>
      <p:sp>
        <p:nvSpPr>
          <p:cNvPr id="1021" name="Google Shape;1021;p35"/>
          <p:cNvSpPr txBox="1"/>
          <p:nvPr/>
        </p:nvSpPr>
        <p:spPr>
          <a:xfrm>
            <a:off x="5285231" y="3063240"/>
            <a:ext cx="163677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top-k fragmentos + filtro ciudad</a:t>
            </a:r>
            <a:endParaRPr/>
          </a:p>
        </p:txBody>
      </p:sp>
      <p:sp>
        <p:nvSpPr>
          <p:cNvPr id="1022" name="Google Shape;1022;p35"/>
          <p:cNvSpPr/>
          <p:nvPr/>
        </p:nvSpPr>
        <p:spPr>
          <a:xfrm>
            <a:off x="7086600" y="265176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5"/>
          <p:cNvSpPr/>
          <p:nvPr/>
        </p:nvSpPr>
        <p:spPr>
          <a:xfrm>
            <a:off x="7333488" y="1920240"/>
            <a:ext cx="1819655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7923275" y="2057400"/>
            <a:ext cx="640080" cy="6400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eLines_w.png" id="1025" name="Google Shape;102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696" y="22238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35"/>
          <p:cNvSpPr txBox="1"/>
          <p:nvPr/>
        </p:nvSpPr>
        <p:spPr>
          <a:xfrm>
            <a:off x="7424927" y="2761488"/>
            <a:ext cx="16367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Prompt aumentado</a:t>
            </a:r>
            <a:endParaRPr/>
          </a:p>
        </p:txBody>
      </p:sp>
      <p:sp>
        <p:nvSpPr>
          <p:cNvPr id="1027" name="Google Shape;1027;p35"/>
          <p:cNvSpPr txBox="1"/>
          <p:nvPr/>
        </p:nvSpPr>
        <p:spPr>
          <a:xfrm>
            <a:off x="7424927" y="3063240"/>
            <a:ext cx="163677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pregunta + contexto recuperado</a:t>
            </a:r>
            <a:endParaRPr/>
          </a:p>
        </p:txBody>
      </p:sp>
      <p:sp>
        <p:nvSpPr>
          <p:cNvPr id="1028" name="Google Shape;1028;p35"/>
          <p:cNvSpPr/>
          <p:nvPr/>
        </p:nvSpPr>
        <p:spPr>
          <a:xfrm>
            <a:off x="9226296" y="2651760"/>
            <a:ext cx="182880" cy="292608"/>
          </a:xfrm>
          <a:prstGeom prst="chevron">
            <a:avLst>
              <a:gd fmla="val 50000" name="adj"/>
            </a:avLst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5"/>
          <p:cNvSpPr/>
          <p:nvPr/>
        </p:nvSpPr>
        <p:spPr>
          <a:xfrm>
            <a:off x="9473184" y="1920240"/>
            <a:ext cx="1819655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5"/>
          <p:cNvSpPr/>
          <p:nvPr/>
        </p:nvSpPr>
        <p:spPr>
          <a:xfrm>
            <a:off x="10062972" y="2057400"/>
            <a:ext cx="640080" cy="64008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obot_w.png" id="1031" name="Google Shape;1031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9392" y="22238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35"/>
          <p:cNvSpPr txBox="1"/>
          <p:nvPr/>
        </p:nvSpPr>
        <p:spPr>
          <a:xfrm>
            <a:off x="9564624" y="2761488"/>
            <a:ext cx="163677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/>
          </a:p>
        </p:txBody>
      </p:sp>
      <p:sp>
        <p:nvSpPr>
          <p:cNvPr id="1033" name="Google Shape;1033;p35"/>
          <p:cNvSpPr txBox="1"/>
          <p:nvPr/>
        </p:nvSpPr>
        <p:spPr>
          <a:xfrm>
            <a:off x="9564624" y="3063240"/>
            <a:ext cx="163677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respuesta con fuentes citadas</a:t>
            </a:r>
            <a:endParaRPr/>
          </a:p>
        </p:txBody>
      </p:sp>
      <p:cxnSp>
        <p:nvCxnSpPr>
          <p:cNvPr id="1034" name="Google Shape;1034;p35"/>
          <p:cNvCxnSpPr/>
          <p:nvPr/>
        </p:nvCxnSpPr>
        <p:spPr>
          <a:xfrm flipH="1">
            <a:off x="6103620" y="1581912"/>
            <a:ext cx="3012947" cy="320040"/>
          </a:xfrm>
          <a:prstGeom prst="straightConnector1">
            <a:avLst/>
          </a:prstGeom>
          <a:noFill/>
          <a:ln cap="flat" cmpd="sng" w="19050">
            <a:solidFill>
              <a:srgbClr val="042354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35" name="Google Shape;1035;p35"/>
          <p:cNvSpPr/>
          <p:nvPr/>
        </p:nvSpPr>
        <p:spPr>
          <a:xfrm>
            <a:off x="914400" y="3977639"/>
            <a:ext cx="2388870" cy="141732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5"/>
          <p:cNvSpPr/>
          <p:nvPr/>
        </p:nvSpPr>
        <p:spPr>
          <a:xfrm>
            <a:off x="1097280" y="4114800"/>
            <a:ext cx="365760" cy="36576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heck_w.png" id="1037" name="Google Shape;103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92377" y="4209897"/>
            <a:ext cx="175564" cy="17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35"/>
          <p:cNvSpPr txBox="1"/>
          <p:nvPr/>
        </p:nvSpPr>
        <p:spPr>
          <a:xfrm>
            <a:off x="1572768" y="4069080"/>
            <a:ext cx="161162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Reduce alucinaciones</a:t>
            </a:r>
            <a:endParaRPr/>
          </a:p>
        </p:txBody>
      </p:sp>
      <p:sp>
        <p:nvSpPr>
          <p:cNvPr id="1039" name="Google Shape;1039;p35"/>
          <p:cNvSpPr txBox="1"/>
          <p:nvPr/>
        </p:nvSpPr>
        <p:spPr>
          <a:xfrm>
            <a:off x="1097280" y="4617720"/>
            <a:ext cx="20688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responde con base en documentos recuperados</a:t>
            </a:r>
            <a:endParaRPr/>
          </a:p>
        </p:txBody>
      </p:sp>
      <p:sp>
        <p:nvSpPr>
          <p:cNvPr id="1040" name="Google Shape;1040;p35"/>
          <p:cNvSpPr/>
          <p:nvPr/>
        </p:nvSpPr>
        <p:spPr>
          <a:xfrm>
            <a:off x="3577589" y="3977639"/>
            <a:ext cx="2388870" cy="141732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5"/>
          <p:cNvSpPr/>
          <p:nvPr/>
        </p:nvSpPr>
        <p:spPr>
          <a:xfrm>
            <a:off x="3760470" y="4114800"/>
            <a:ext cx="365760" cy="36576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heck_w.png" id="1042" name="Google Shape;1042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5567" y="4209897"/>
            <a:ext cx="175564" cy="17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35"/>
          <p:cNvSpPr txBox="1"/>
          <p:nvPr/>
        </p:nvSpPr>
        <p:spPr>
          <a:xfrm>
            <a:off x="4235957" y="4069080"/>
            <a:ext cx="161162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Conocimiento actualizable</a:t>
            </a:r>
            <a:endParaRPr/>
          </a:p>
        </p:txBody>
      </p:sp>
      <p:sp>
        <p:nvSpPr>
          <p:cNvPr id="1044" name="Google Shape;1044;p35"/>
          <p:cNvSpPr txBox="1"/>
          <p:nvPr/>
        </p:nvSpPr>
        <p:spPr>
          <a:xfrm>
            <a:off x="3760470" y="4617720"/>
            <a:ext cx="20688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basta con reindexar, sin reentrenar el modelo</a:t>
            </a:r>
            <a:endParaRPr/>
          </a:p>
        </p:txBody>
      </p:sp>
      <p:sp>
        <p:nvSpPr>
          <p:cNvPr id="1045" name="Google Shape;1045;p35"/>
          <p:cNvSpPr/>
          <p:nvPr/>
        </p:nvSpPr>
        <p:spPr>
          <a:xfrm>
            <a:off x="6240779" y="3977639"/>
            <a:ext cx="2388870" cy="141732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5"/>
          <p:cNvSpPr/>
          <p:nvPr/>
        </p:nvSpPr>
        <p:spPr>
          <a:xfrm>
            <a:off x="6423659" y="4114800"/>
            <a:ext cx="365760" cy="36576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heck_w.png" id="1047" name="Google Shape;104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8757" y="4209897"/>
            <a:ext cx="175564" cy="17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35"/>
          <p:cNvSpPr txBox="1"/>
          <p:nvPr/>
        </p:nvSpPr>
        <p:spPr>
          <a:xfrm>
            <a:off x="6899147" y="4069080"/>
            <a:ext cx="161162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Datos privados</a:t>
            </a:r>
            <a:endParaRPr/>
          </a:p>
        </p:txBody>
      </p:sp>
      <p:sp>
        <p:nvSpPr>
          <p:cNvPr id="1049" name="Google Shape;1049;p35"/>
          <p:cNvSpPr txBox="1"/>
          <p:nvPr/>
        </p:nvSpPr>
        <p:spPr>
          <a:xfrm>
            <a:off x="6423659" y="4617720"/>
            <a:ext cx="20688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usa información interna que el LLM no conoce</a:t>
            </a:r>
            <a:endParaRPr/>
          </a:p>
        </p:txBody>
      </p:sp>
      <p:sp>
        <p:nvSpPr>
          <p:cNvPr id="1050" name="Google Shape;1050;p35"/>
          <p:cNvSpPr/>
          <p:nvPr/>
        </p:nvSpPr>
        <p:spPr>
          <a:xfrm>
            <a:off x="8903969" y="3977639"/>
            <a:ext cx="2388870" cy="141732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5"/>
          <p:cNvSpPr/>
          <p:nvPr/>
        </p:nvSpPr>
        <p:spPr>
          <a:xfrm>
            <a:off x="9086849" y="4114800"/>
            <a:ext cx="365760" cy="36576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heck_w.png" id="1052" name="Google Shape;1052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1947" y="4209897"/>
            <a:ext cx="175564" cy="17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35"/>
          <p:cNvSpPr txBox="1"/>
          <p:nvPr/>
        </p:nvSpPr>
        <p:spPr>
          <a:xfrm>
            <a:off x="9562338" y="4069080"/>
            <a:ext cx="161162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/>
          </a:p>
        </p:txBody>
      </p:sp>
      <p:sp>
        <p:nvSpPr>
          <p:cNvPr id="1054" name="Google Shape;1054;p35"/>
          <p:cNvSpPr txBox="1"/>
          <p:nvPr/>
        </p:nvSpPr>
        <p:spPr>
          <a:xfrm>
            <a:off x="9086849" y="4617720"/>
            <a:ext cx="206882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cada respuesta puede citar su fuente</a:t>
            </a:r>
            <a:endParaRPr/>
          </a:p>
        </p:txBody>
      </p:sp>
      <p:sp>
        <p:nvSpPr>
          <p:cNvPr id="1055" name="Google Shape;1055;p35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6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Fragmentación de documentos (chunking)</a:t>
            </a:r>
            <a:endParaRPr/>
          </a:p>
        </p:txBody>
      </p:sp>
      <p:sp>
        <p:nvSpPr>
          <p:cNvPr id="1062" name="Google Shape;1062;p3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63" name="Google Shape;1063;p36"/>
          <p:cNvSpPr/>
          <p:nvPr/>
        </p:nvSpPr>
        <p:spPr>
          <a:xfrm>
            <a:off x="914400" y="1207008"/>
            <a:ext cx="10378440" cy="713232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36"/>
          <p:cNvSpPr txBox="1"/>
          <p:nvPr/>
        </p:nvSpPr>
        <p:spPr>
          <a:xfrm>
            <a:off x="1143000" y="1207008"/>
            <a:ext cx="9921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Fragmentar es dividir un documento largo en partes que se indexan por separado. </a:t>
            </a: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El modelo de embedding tiene un límite de tokens y un solo vector para un documento extenso mezcla varios temas. Con fragmentos, la búsqueda devuelve el pasaje relevante y el LLM recibe solo ese contexto.</a:t>
            </a:r>
            <a:endParaRPr/>
          </a:p>
        </p:txBody>
      </p:sp>
      <p:sp>
        <p:nvSpPr>
          <p:cNvPr id="1065" name="Google Shape;1065;p36"/>
          <p:cNvSpPr/>
          <p:nvPr/>
        </p:nvSpPr>
        <p:spPr>
          <a:xfrm>
            <a:off x="914400" y="2011680"/>
            <a:ext cx="3276600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6"/>
          <p:cNvSpPr txBox="1"/>
          <p:nvPr/>
        </p:nvSpPr>
        <p:spPr>
          <a:xfrm>
            <a:off x="1143000" y="2084831"/>
            <a:ext cx="281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Tamaño fijo</a:t>
            </a:r>
            <a:endParaRPr/>
          </a:p>
        </p:txBody>
      </p:sp>
      <p:sp>
        <p:nvSpPr>
          <p:cNvPr id="1067" name="Google Shape;1067;p36"/>
          <p:cNvSpPr/>
          <p:nvPr/>
        </p:nvSpPr>
        <p:spPr>
          <a:xfrm>
            <a:off x="1143000" y="2560320"/>
            <a:ext cx="424180" cy="384048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6"/>
          <p:cNvSpPr/>
          <p:nvPr/>
        </p:nvSpPr>
        <p:spPr>
          <a:xfrm>
            <a:off x="1466596" y="2514600"/>
            <a:ext cx="182880" cy="475488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6"/>
          <p:cNvSpPr/>
          <p:nvPr/>
        </p:nvSpPr>
        <p:spPr>
          <a:xfrm>
            <a:off x="1612900" y="2560320"/>
            <a:ext cx="424180" cy="384048"/>
          </a:xfrm>
          <a:prstGeom prst="rect">
            <a:avLst/>
          </a:prstGeom>
          <a:solidFill>
            <a:srgbClr val="9FC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6"/>
          <p:cNvSpPr/>
          <p:nvPr/>
        </p:nvSpPr>
        <p:spPr>
          <a:xfrm>
            <a:off x="1936495" y="2514600"/>
            <a:ext cx="182880" cy="475488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6"/>
          <p:cNvSpPr/>
          <p:nvPr/>
        </p:nvSpPr>
        <p:spPr>
          <a:xfrm>
            <a:off x="2082800" y="2560320"/>
            <a:ext cx="424180" cy="384048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6"/>
          <p:cNvSpPr/>
          <p:nvPr/>
        </p:nvSpPr>
        <p:spPr>
          <a:xfrm>
            <a:off x="2406395" y="2514600"/>
            <a:ext cx="182880" cy="475488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6"/>
          <p:cNvSpPr/>
          <p:nvPr/>
        </p:nvSpPr>
        <p:spPr>
          <a:xfrm>
            <a:off x="2552700" y="2560320"/>
            <a:ext cx="424180" cy="384048"/>
          </a:xfrm>
          <a:prstGeom prst="rect">
            <a:avLst/>
          </a:prstGeom>
          <a:solidFill>
            <a:srgbClr val="9FC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6"/>
          <p:cNvSpPr/>
          <p:nvPr/>
        </p:nvSpPr>
        <p:spPr>
          <a:xfrm>
            <a:off x="2876295" y="2514600"/>
            <a:ext cx="182880" cy="475488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6"/>
          <p:cNvSpPr/>
          <p:nvPr/>
        </p:nvSpPr>
        <p:spPr>
          <a:xfrm>
            <a:off x="3022600" y="2560320"/>
            <a:ext cx="424180" cy="384048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36"/>
          <p:cNvSpPr/>
          <p:nvPr/>
        </p:nvSpPr>
        <p:spPr>
          <a:xfrm>
            <a:off x="3346195" y="2514600"/>
            <a:ext cx="182880" cy="475488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6"/>
          <p:cNvSpPr/>
          <p:nvPr/>
        </p:nvSpPr>
        <p:spPr>
          <a:xfrm>
            <a:off x="3492500" y="2560320"/>
            <a:ext cx="424180" cy="384048"/>
          </a:xfrm>
          <a:prstGeom prst="rect">
            <a:avLst/>
          </a:prstGeom>
          <a:solidFill>
            <a:srgbClr val="9FC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6"/>
          <p:cNvSpPr txBox="1"/>
          <p:nvPr/>
        </p:nvSpPr>
        <p:spPr>
          <a:xfrm>
            <a:off x="1143000" y="3035808"/>
            <a:ext cx="2819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 tokens con solapamiento. Simple y predecible; puede cortar ideas a la mitad.</a:t>
            </a:r>
            <a:endParaRPr/>
          </a:p>
        </p:txBody>
      </p:sp>
      <p:sp>
        <p:nvSpPr>
          <p:cNvPr id="1079" name="Google Shape;1079;p36"/>
          <p:cNvSpPr/>
          <p:nvPr/>
        </p:nvSpPr>
        <p:spPr>
          <a:xfrm>
            <a:off x="4465320" y="2011680"/>
            <a:ext cx="3276600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6"/>
          <p:cNvSpPr txBox="1"/>
          <p:nvPr/>
        </p:nvSpPr>
        <p:spPr>
          <a:xfrm>
            <a:off x="4693920" y="2084831"/>
            <a:ext cx="281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Estructural</a:t>
            </a:r>
            <a:endParaRPr/>
          </a:p>
        </p:txBody>
      </p:sp>
      <p:sp>
        <p:nvSpPr>
          <p:cNvPr id="1081" name="Google Shape;1081;p36"/>
          <p:cNvSpPr/>
          <p:nvPr/>
        </p:nvSpPr>
        <p:spPr>
          <a:xfrm>
            <a:off x="4693920" y="2560320"/>
            <a:ext cx="988060" cy="384048"/>
          </a:xfrm>
          <a:prstGeom prst="rect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6"/>
          <p:cNvSpPr/>
          <p:nvPr/>
        </p:nvSpPr>
        <p:spPr>
          <a:xfrm>
            <a:off x="5727700" y="2560320"/>
            <a:ext cx="471170" cy="384048"/>
          </a:xfrm>
          <a:prstGeom prst="rect">
            <a:avLst/>
          </a:prstGeom>
          <a:solidFill>
            <a:srgbClr val="7FA3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6"/>
          <p:cNvSpPr/>
          <p:nvPr/>
        </p:nvSpPr>
        <p:spPr>
          <a:xfrm>
            <a:off x="6244590" y="2560320"/>
            <a:ext cx="706120" cy="384048"/>
          </a:xfrm>
          <a:prstGeom prst="rect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6"/>
          <p:cNvSpPr/>
          <p:nvPr/>
        </p:nvSpPr>
        <p:spPr>
          <a:xfrm>
            <a:off x="6996430" y="2560320"/>
            <a:ext cx="471170" cy="384048"/>
          </a:xfrm>
          <a:prstGeom prst="rect">
            <a:avLst/>
          </a:prstGeom>
          <a:solidFill>
            <a:srgbClr val="7FA3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6"/>
          <p:cNvSpPr txBox="1"/>
          <p:nvPr/>
        </p:nvSpPr>
        <p:spPr>
          <a:xfrm>
            <a:off x="4693920" y="3035808"/>
            <a:ext cx="2819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Por párrafos, secciones o filas. Respeta la estructura del documento.</a:t>
            </a:r>
            <a:endParaRPr/>
          </a:p>
        </p:txBody>
      </p:sp>
      <p:sp>
        <p:nvSpPr>
          <p:cNvPr id="1086" name="Google Shape;1086;p36"/>
          <p:cNvSpPr/>
          <p:nvPr/>
        </p:nvSpPr>
        <p:spPr>
          <a:xfrm>
            <a:off x="8016239" y="2011680"/>
            <a:ext cx="3276600" cy="1783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6"/>
          <p:cNvSpPr txBox="1"/>
          <p:nvPr/>
        </p:nvSpPr>
        <p:spPr>
          <a:xfrm>
            <a:off x="8244839" y="2084831"/>
            <a:ext cx="2819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Semántica</a:t>
            </a:r>
            <a:endParaRPr/>
          </a:p>
        </p:txBody>
      </p:sp>
      <p:sp>
        <p:nvSpPr>
          <p:cNvPr id="1088" name="Google Shape;1088;p36"/>
          <p:cNvSpPr/>
          <p:nvPr/>
        </p:nvSpPr>
        <p:spPr>
          <a:xfrm>
            <a:off x="8244839" y="2560320"/>
            <a:ext cx="612140" cy="384048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6"/>
          <p:cNvSpPr/>
          <p:nvPr/>
        </p:nvSpPr>
        <p:spPr>
          <a:xfrm>
            <a:off x="8902700" y="2560320"/>
            <a:ext cx="1176020" cy="384048"/>
          </a:xfrm>
          <a:prstGeom prst="rect">
            <a:avLst/>
          </a:prstGeom>
          <a:solidFill>
            <a:srgbClr val="8BE3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6"/>
          <p:cNvSpPr/>
          <p:nvPr/>
        </p:nvSpPr>
        <p:spPr>
          <a:xfrm>
            <a:off x="10124440" y="2560320"/>
            <a:ext cx="894080" cy="384048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6"/>
          <p:cNvSpPr txBox="1"/>
          <p:nvPr/>
        </p:nvSpPr>
        <p:spPr>
          <a:xfrm>
            <a:off x="8244839" y="3035808"/>
            <a:ext cx="2819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Corta donde cambia el tema (según embeddings). Mejor coherencia, mayor costo.</a:t>
            </a:r>
            <a:endParaRPr/>
          </a:p>
        </p:txBody>
      </p:sp>
      <p:sp>
        <p:nvSpPr>
          <p:cNvPr id="1092" name="Google Shape;1092;p36"/>
          <p:cNvSpPr/>
          <p:nvPr/>
        </p:nvSpPr>
        <p:spPr>
          <a:xfrm>
            <a:off x="914400" y="3931920"/>
            <a:ext cx="4983480" cy="146304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6"/>
          <p:cNvSpPr txBox="1"/>
          <p:nvPr/>
        </p:nvSpPr>
        <p:spPr>
          <a:xfrm>
            <a:off x="1143000" y="4005072"/>
            <a:ext cx="4526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¿Quién fragmenta? El programador, antes de indexar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La BDV no fragmenta: recibe cada fragmento como un documento con su id y sus metadatos. ChromaDB no tiene parámetro de fragmentación.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Los parámetros están en el código: chunk_size (200–800 tokens) y chunk_overlap (10–20 %).</a:t>
            </a:r>
            <a:endParaRPr/>
          </a:p>
        </p:txBody>
      </p:sp>
      <p:sp>
        <p:nvSpPr>
          <p:cNvPr id="1094" name="Google Shape;1094;p36"/>
          <p:cNvSpPr/>
          <p:nvPr/>
        </p:nvSpPr>
        <p:spPr>
          <a:xfrm>
            <a:off x="6217920" y="3931920"/>
            <a:ext cx="5074920" cy="146304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langchain_text_splitters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splitter = RecursiveCharacterTextSplitter(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chunk_size=</a:t>
            </a:r>
            <a:r>
              <a:rPr b="0" i="0" lang="es-ES" sz="9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800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chunk_overlap=</a:t>
            </a:r>
            <a:r>
              <a:rPr b="0" i="0" lang="es-ES" sz="950" u="none" cap="none" strike="noStrike">
                <a:solidFill>
                  <a:srgbClr val="FF9929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fragmentos = splitter.split_text(texto)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col.add(ids=[f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"manual-{i}"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ES" sz="9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s-ES" sz="9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range(len(fragmentos))],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documents=fragmentos,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metadatas=[{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"fuente"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"manual.pdf"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s-ES" sz="95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"parte"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: i}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0" i="0" lang="es-ES" sz="9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i="0" lang="es-ES" sz="95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s-ES" sz="95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range(len(fragmentos))])</a:t>
            </a:r>
            <a:endParaRPr/>
          </a:p>
        </p:txBody>
      </p:sp>
      <p:sp>
        <p:nvSpPr>
          <p:cNvPr id="1095" name="Google Shape;1095;p36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7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Sistemas de recomendación basados en embeddings</a:t>
            </a:r>
            <a:endParaRPr/>
          </a:p>
        </p:txBody>
      </p:sp>
      <p:sp>
        <p:nvSpPr>
          <p:cNvPr id="1102" name="Google Shape;1102;p37"/>
          <p:cNvSpPr txBox="1"/>
          <p:nvPr>
            <p:ph idx="1" type="body"/>
          </p:nvPr>
        </p:nvSpPr>
        <p:spPr>
          <a:xfrm>
            <a:off x="838200" y="1825625"/>
            <a:ext cx="105156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t/>
            </a:r>
            <a:endParaRPr/>
          </a:p>
        </p:txBody>
      </p:sp>
      <p:sp>
        <p:nvSpPr>
          <p:cNvPr id="1103" name="Google Shape;1103;p3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04" name="Google Shape;1104;p37"/>
          <p:cNvSpPr/>
          <p:nvPr/>
        </p:nvSpPr>
        <p:spPr>
          <a:xfrm>
            <a:off x="914400" y="1325880"/>
            <a:ext cx="2148840" cy="1691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7"/>
          <p:cNvSpPr/>
          <p:nvPr/>
        </p:nvSpPr>
        <p:spPr>
          <a:xfrm>
            <a:off x="1097280" y="1463040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ubes_w.png" id="1106" name="Google Shape;110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039" y="159379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37"/>
          <p:cNvSpPr txBox="1"/>
          <p:nvPr/>
        </p:nvSpPr>
        <p:spPr>
          <a:xfrm>
            <a:off x="1691640" y="14630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Uso de embeddings</a:t>
            </a:r>
            <a:endParaRPr/>
          </a:p>
        </p:txBody>
      </p:sp>
      <p:sp>
        <p:nvSpPr>
          <p:cNvPr id="1108" name="Google Shape;1108;p37"/>
          <p:cNvSpPr txBox="1"/>
          <p:nvPr/>
        </p:nvSpPr>
        <p:spPr>
          <a:xfrm>
            <a:off x="1097280" y="210312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Clientes y productos en el mismo espacio vectorial</a:t>
            </a:r>
            <a:endParaRPr/>
          </a:p>
        </p:txBody>
      </p:sp>
      <p:cxnSp>
        <p:nvCxnSpPr>
          <p:cNvPr id="1109" name="Google Shape;1109;p37"/>
          <p:cNvCxnSpPr/>
          <p:nvPr/>
        </p:nvCxnSpPr>
        <p:spPr>
          <a:xfrm>
            <a:off x="3108960" y="2167128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10" name="Google Shape;1110;p37"/>
          <p:cNvSpPr/>
          <p:nvPr/>
        </p:nvSpPr>
        <p:spPr>
          <a:xfrm>
            <a:off x="3474720" y="1325880"/>
            <a:ext cx="2148840" cy="1691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7"/>
          <p:cNvSpPr/>
          <p:nvPr/>
        </p:nvSpPr>
        <p:spPr>
          <a:xfrm>
            <a:off x="3657600" y="146304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User_w.png" id="1112" name="Google Shape;11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8359" y="159379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37"/>
          <p:cNvSpPr txBox="1"/>
          <p:nvPr/>
        </p:nvSpPr>
        <p:spPr>
          <a:xfrm>
            <a:off x="4251960" y="14630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 del cliente</a:t>
            </a:r>
            <a:endParaRPr/>
          </a:p>
        </p:txBody>
      </p:sp>
      <p:sp>
        <p:nvSpPr>
          <p:cNvPr id="1114" name="Google Shape;1114;p37"/>
          <p:cNvSpPr txBox="1"/>
          <p:nvPr/>
        </p:nvSpPr>
        <p:spPr>
          <a:xfrm>
            <a:off x="3657600" y="210312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 que le gusta: compras pasadas y reseñas</a:t>
            </a:r>
            <a:endParaRPr/>
          </a:p>
        </p:txBody>
      </p:sp>
      <p:cxnSp>
        <p:nvCxnSpPr>
          <p:cNvPr id="1115" name="Google Shape;1115;p37"/>
          <p:cNvCxnSpPr/>
          <p:nvPr/>
        </p:nvCxnSpPr>
        <p:spPr>
          <a:xfrm>
            <a:off x="5669280" y="2167128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16" name="Google Shape;1116;p37"/>
          <p:cNvSpPr/>
          <p:nvPr/>
        </p:nvSpPr>
        <p:spPr>
          <a:xfrm>
            <a:off x="6035040" y="1325880"/>
            <a:ext cx="2148840" cy="1691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7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oxOpen_w.png" id="1118" name="Google Shape;111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8679" y="159379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37"/>
          <p:cNvSpPr txBox="1"/>
          <p:nvPr/>
        </p:nvSpPr>
        <p:spPr>
          <a:xfrm>
            <a:off x="6812280" y="14630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 del producto</a:t>
            </a:r>
            <a:endParaRPr/>
          </a:p>
        </p:txBody>
      </p:sp>
      <p:sp>
        <p:nvSpPr>
          <p:cNvPr id="1120" name="Google Shape;1120;p37"/>
          <p:cNvSpPr txBox="1"/>
          <p:nvPr/>
        </p:nvSpPr>
        <p:spPr>
          <a:xfrm>
            <a:off x="6217920" y="210312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Características y temática de su descripción</a:t>
            </a:r>
            <a:endParaRPr/>
          </a:p>
        </p:txBody>
      </p:sp>
      <p:sp>
        <p:nvSpPr>
          <p:cNvPr id="1121" name="Google Shape;1121;p37"/>
          <p:cNvSpPr/>
          <p:nvPr/>
        </p:nvSpPr>
        <p:spPr>
          <a:xfrm>
            <a:off x="3474720" y="3429000"/>
            <a:ext cx="2148840" cy="1691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7"/>
          <p:cNvSpPr/>
          <p:nvPr/>
        </p:nvSpPr>
        <p:spPr>
          <a:xfrm>
            <a:off x="3657600" y="356616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MagnifyingGlass_w.png" id="1123" name="Google Shape;112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88359" y="369691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37"/>
          <p:cNvSpPr txBox="1"/>
          <p:nvPr/>
        </p:nvSpPr>
        <p:spPr>
          <a:xfrm>
            <a:off x="4251959" y="35661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en la BDV</a:t>
            </a:r>
            <a:endParaRPr/>
          </a:p>
        </p:txBody>
      </p:sp>
      <p:sp>
        <p:nvSpPr>
          <p:cNvPr id="1125" name="Google Shape;1125;p37"/>
          <p:cNvSpPr txBox="1"/>
          <p:nvPr/>
        </p:nvSpPr>
        <p:spPr>
          <a:xfrm>
            <a:off x="3657600" y="420624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Productos más cercanos al vector del cliente</a:t>
            </a:r>
            <a:endParaRPr/>
          </a:p>
        </p:txBody>
      </p:sp>
      <p:sp>
        <p:nvSpPr>
          <p:cNvPr id="1126" name="Google Shape;1126;p37"/>
          <p:cNvSpPr/>
          <p:nvPr/>
        </p:nvSpPr>
        <p:spPr>
          <a:xfrm>
            <a:off x="6035040" y="3429000"/>
            <a:ext cx="2148840" cy="16916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7"/>
          <p:cNvSpPr/>
          <p:nvPr/>
        </p:nvSpPr>
        <p:spPr>
          <a:xfrm>
            <a:off x="6217920" y="3566160"/>
            <a:ext cx="502920" cy="50292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tar_w.png" id="1128" name="Google Shape;1128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8679" y="369691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37"/>
          <p:cNvSpPr txBox="1"/>
          <p:nvPr/>
        </p:nvSpPr>
        <p:spPr>
          <a:xfrm>
            <a:off x="6812279" y="35661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1130" name="Google Shape;1130;p37"/>
          <p:cNvSpPr txBox="1"/>
          <p:nvPr/>
        </p:nvSpPr>
        <p:spPr>
          <a:xfrm>
            <a:off x="6217920" y="420624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Recomendaciones por significado, no solo por historial</a:t>
            </a:r>
            <a:endParaRPr/>
          </a:p>
        </p:txBody>
      </p:sp>
      <p:cxnSp>
        <p:nvCxnSpPr>
          <p:cNvPr id="1131" name="Google Shape;1131;p37"/>
          <p:cNvCxnSpPr/>
          <p:nvPr/>
        </p:nvCxnSpPr>
        <p:spPr>
          <a:xfrm flipH="1">
            <a:off x="4549140" y="3017520"/>
            <a:ext cx="2560320" cy="393192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2" name="Google Shape;1132;p37"/>
          <p:cNvCxnSpPr/>
          <p:nvPr/>
        </p:nvCxnSpPr>
        <p:spPr>
          <a:xfrm>
            <a:off x="5669280" y="4270248"/>
            <a:ext cx="320040" cy="0"/>
          </a:xfrm>
          <a:prstGeom prst="straightConnector1">
            <a:avLst/>
          </a:prstGeom>
          <a:noFill/>
          <a:ln cap="flat" cmpd="sng" w="22225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33" name="Google Shape;1133;p37"/>
          <p:cNvSpPr/>
          <p:nvPr/>
        </p:nvSpPr>
        <p:spPr>
          <a:xfrm>
            <a:off x="8823960" y="1325880"/>
            <a:ext cx="2468879" cy="251460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egComments_w.png" id="1134" name="Google Shape;113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256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37"/>
          <p:cNvSpPr txBox="1"/>
          <p:nvPr/>
        </p:nvSpPr>
        <p:spPr>
          <a:xfrm>
            <a:off x="9052560" y="2057400"/>
            <a:ext cx="205739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«Las recomendaciones de productos no tienen mucho sentido con lo que realmente compro, parecen genéricas.»</a:t>
            </a:r>
            <a:endParaRPr/>
          </a:p>
        </p:txBody>
      </p:sp>
      <p:sp>
        <p:nvSpPr>
          <p:cNvPr id="1136" name="Google Shape;1136;p37"/>
          <p:cNvSpPr txBox="1"/>
          <p:nvPr/>
        </p:nvSpPr>
        <p:spPr>
          <a:xfrm>
            <a:off x="9052560" y="3291840"/>
            <a:ext cx="2057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comentarios.csv  ·  ★★☆☆☆</a:t>
            </a:r>
            <a:endParaRPr/>
          </a:p>
        </p:txBody>
      </p:sp>
      <p:sp>
        <p:nvSpPr>
          <p:cNvPr id="1137" name="Google Shape;1137;p37"/>
          <p:cNvSpPr/>
          <p:nvPr/>
        </p:nvSpPr>
        <p:spPr>
          <a:xfrm>
            <a:off x="8823960" y="4023360"/>
            <a:ext cx="2468879" cy="13716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7"/>
          <p:cNvSpPr txBox="1"/>
          <p:nvPr/>
        </p:nvSpPr>
        <p:spPr>
          <a:xfrm>
            <a:off x="9006840" y="4069080"/>
            <a:ext cx="2148839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Ventaja: </a:t>
            </a:r>
            <a:r>
              <a:rPr b="0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recomienda productos nuevos o sin ventas, porque solo necesita su descripción.</a:t>
            </a:r>
            <a:endParaRPr/>
          </a:p>
        </p:txBody>
      </p:sp>
      <p:sp>
        <p:nvSpPr>
          <p:cNvPr id="1139" name="Google Shape;1139;p37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3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Perfil de cliente como vector</a:t>
            </a:r>
            <a:endParaRPr/>
          </a:p>
        </p:txBody>
      </p:sp>
      <p:sp>
        <p:nvSpPr>
          <p:cNvPr id="1146" name="Google Shape;1146;p38"/>
          <p:cNvSpPr txBox="1"/>
          <p:nvPr>
            <p:ph idx="1" type="body"/>
          </p:nvPr>
        </p:nvSpPr>
        <p:spPr>
          <a:xfrm>
            <a:off x="839800" y="178308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8427"/>
              <a:buNone/>
            </a:pPr>
            <a:r>
              <a:rPr b="1" lang="es-ES" sz="2573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perfil = Σ wᵢ · vᵢ / Σ wᵢ</a:t>
            </a:r>
            <a:endParaRPr sz="2873"/>
          </a:p>
          <a:p>
            <a:pPr indent="-24561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7897"/>
              <a:buChar char="•"/>
            </a:pPr>
            <a:r>
              <a:rPr b="0" lang="es-ES" sz="257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vᵢ: embedding de cada producto comprado; wᵢ: peso según la calificación de la reseña.</a:t>
            </a:r>
            <a:endParaRPr sz="2873"/>
          </a:p>
          <a:p>
            <a:pPr indent="-24561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7897"/>
              <a:buChar char="•"/>
            </a:pPr>
            <a:r>
              <a:rPr b="0" lang="es-ES" sz="257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Recomendar los k productos más cercanos al perfil, excluyendo los ya comprados.</a:t>
            </a:r>
            <a:endParaRPr sz="2873"/>
          </a:p>
          <a:p>
            <a:pPr indent="-24561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7897"/>
              <a:buChar char="•"/>
            </a:pPr>
            <a:r>
              <a:rPr b="0" lang="es-ES" sz="257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 los datos: el cliente 1 reseñó un Galaxy S24 Ultra, un Sony Bravia OLED y una Canon EOS Rebel T7.</a:t>
            </a:r>
            <a:endParaRPr sz="2873"/>
          </a:p>
          <a:p>
            <a:pPr indent="-24561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37897"/>
              <a:buChar char="•"/>
            </a:pPr>
            <a:r>
              <a:rPr b="0" lang="es-ES" sz="257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Riesgo: intereses muy distintos se promedian «en el medio»; una alternativa es mantener varios perfiles.</a:t>
            </a:r>
            <a:endParaRPr sz="2873"/>
          </a:p>
        </p:txBody>
      </p:sp>
      <p:sp>
        <p:nvSpPr>
          <p:cNvPr id="1147" name="Google Shape;1147;p3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perfil.png" id="1148" name="Google Shape;114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594360"/>
            <a:ext cx="6466114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38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39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Otras aplicaciones de la búsqueda vectorial</a:t>
            </a:r>
            <a:endParaRPr/>
          </a:p>
        </p:txBody>
      </p:sp>
      <p:sp>
        <p:nvSpPr>
          <p:cNvPr id="1156" name="Google Shape;1156;p39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1157" name="Google Shape;1157;p3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58" name="Google Shape;1158;p39"/>
          <p:cNvSpPr/>
          <p:nvPr/>
        </p:nvSpPr>
        <p:spPr>
          <a:xfrm>
            <a:off x="914400" y="1325880"/>
            <a:ext cx="3276600" cy="19202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9"/>
          <p:cNvSpPr/>
          <p:nvPr/>
        </p:nvSpPr>
        <p:spPr>
          <a:xfrm>
            <a:off x="1143000" y="1554480"/>
            <a:ext cx="640080" cy="64008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py_w.png" id="1160" name="Google Shape;11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420" y="172090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39"/>
          <p:cNvSpPr txBox="1"/>
          <p:nvPr/>
        </p:nvSpPr>
        <p:spPr>
          <a:xfrm>
            <a:off x="1920240" y="1554480"/>
            <a:ext cx="213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Detección de duplicados</a:t>
            </a:r>
            <a:endParaRPr/>
          </a:p>
        </p:txBody>
      </p:sp>
      <p:sp>
        <p:nvSpPr>
          <p:cNvPr id="1162" name="Google Shape;1162;p39"/>
          <p:cNvSpPr txBox="1"/>
          <p:nvPr/>
        </p:nvSpPr>
        <p:spPr>
          <a:xfrm>
            <a:off x="1143000" y="2331720"/>
            <a:ext cx="2865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Tickets, reseñas o productos repetidos en el catálogo con redacción distinta.</a:t>
            </a:r>
            <a:endParaRPr/>
          </a:p>
        </p:txBody>
      </p:sp>
      <p:sp>
        <p:nvSpPr>
          <p:cNvPr id="1163" name="Google Shape;1163;p39"/>
          <p:cNvSpPr/>
          <p:nvPr/>
        </p:nvSpPr>
        <p:spPr>
          <a:xfrm>
            <a:off x="4465320" y="1325880"/>
            <a:ext cx="3276600" cy="19202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9"/>
          <p:cNvSpPr/>
          <p:nvPr/>
        </p:nvSpPr>
        <p:spPr>
          <a:xfrm>
            <a:off x="4693920" y="1554480"/>
            <a:ext cx="640080" cy="64008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LayerGroup_w.png" id="1165" name="Google Shape;116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340" y="172090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39"/>
          <p:cNvSpPr txBox="1"/>
          <p:nvPr/>
        </p:nvSpPr>
        <p:spPr>
          <a:xfrm>
            <a:off x="5471159" y="1554480"/>
            <a:ext cx="213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Agrupamiento de feedback</a:t>
            </a:r>
            <a:endParaRPr/>
          </a:p>
        </p:txBody>
      </p:sp>
      <p:sp>
        <p:nvSpPr>
          <p:cNvPr id="1167" name="Google Shape;1167;p39"/>
          <p:cNvSpPr txBox="1"/>
          <p:nvPr/>
        </p:nvSpPr>
        <p:spPr>
          <a:xfrm>
            <a:off x="4693920" y="2331720"/>
            <a:ext cx="2865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Descubrir temas en miles de comentarios sin etiquetas previas (clustering).</a:t>
            </a:r>
            <a:endParaRPr/>
          </a:p>
        </p:txBody>
      </p:sp>
      <p:sp>
        <p:nvSpPr>
          <p:cNvPr id="1168" name="Google Shape;1168;p39"/>
          <p:cNvSpPr/>
          <p:nvPr/>
        </p:nvSpPr>
        <p:spPr>
          <a:xfrm>
            <a:off x="8016239" y="1325880"/>
            <a:ext cx="3276600" cy="19202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9"/>
          <p:cNvSpPr/>
          <p:nvPr/>
        </p:nvSpPr>
        <p:spPr>
          <a:xfrm>
            <a:off x="8244839" y="1554480"/>
            <a:ext cx="640080" cy="640080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hieldHalved_w.png" id="1170" name="Google Shape;117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1260" y="172090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39"/>
          <p:cNvSpPr txBox="1"/>
          <p:nvPr/>
        </p:nvSpPr>
        <p:spPr>
          <a:xfrm>
            <a:off x="9022079" y="1554480"/>
            <a:ext cx="213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Anomalías y fraude</a:t>
            </a:r>
            <a:endParaRPr/>
          </a:p>
        </p:txBody>
      </p:sp>
      <p:sp>
        <p:nvSpPr>
          <p:cNvPr id="1172" name="Google Shape;1172;p39"/>
          <p:cNvSpPr txBox="1"/>
          <p:nvPr/>
        </p:nvSpPr>
        <p:spPr>
          <a:xfrm>
            <a:off x="8244839" y="2331720"/>
            <a:ext cx="2865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Transacciones o sesiones lejanas a todo comportamiento conocido.</a:t>
            </a:r>
            <a:endParaRPr/>
          </a:p>
        </p:txBody>
      </p:sp>
      <p:sp>
        <p:nvSpPr>
          <p:cNvPr id="1173" name="Google Shape;1173;p39"/>
          <p:cNvSpPr/>
          <p:nvPr/>
        </p:nvSpPr>
        <p:spPr>
          <a:xfrm>
            <a:off x="914400" y="3429000"/>
            <a:ext cx="3276600" cy="19202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9"/>
          <p:cNvSpPr/>
          <p:nvPr/>
        </p:nvSpPr>
        <p:spPr>
          <a:xfrm>
            <a:off x="1143000" y="3657600"/>
            <a:ext cx="640080" cy="6400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Image_w.png" id="1175" name="Google Shape;117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9420" y="38240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39"/>
          <p:cNvSpPr txBox="1"/>
          <p:nvPr/>
        </p:nvSpPr>
        <p:spPr>
          <a:xfrm>
            <a:off x="1920240" y="3657600"/>
            <a:ext cx="213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multimodal</a:t>
            </a:r>
            <a:endParaRPr/>
          </a:p>
        </p:txBody>
      </p:sp>
      <p:sp>
        <p:nvSpPr>
          <p:cNvPr id="1177" name="Google Shape;1177;p39"/>
          <p:cNvSpPr txBox="1"/>
          <p:nvPr/>
        </p:nvSpPr>
        <p:spPr>
          <a:xfrm>
            <a:off x="1143000" y="4434840"/>
            <a:ext cx="2865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Texto e imagen en un mismo espacio (CLIP): «zapatillas rojas» → fotos.</a:t>
            </a:r>
            <a:endParaRPr/>
          </a:p>
        </p:txBody>
      </p:sp>
      <p:sp>
        <p:nvSpPr>
          <p:cNvPr id="1178" name="Google Shape;1178;p39"/>
          <p:cNvSpPr/>
          <p:nvPr/>
        </p:nvSpPr>
        <p:spPr>
          <a:xfrm>
            <a:off x="4465320" y="3429000"/>
            <a:ext cx="3276600" cy="19202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9"/>
          <p:cNvSpPr/>
          <p:nvPr/>
        </p:nvSpPr>
        <p:spPr>
          <a:xfrm>
            <a:off x="4693920" y="3657600"/>
            <a:ext cx="640080" cy="64008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obot_w.png" id="1180" name="Google Shape;1180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0340" y="38240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39"/>
          <p:cNvSpPr txBox="1"/>
          <p:nvPr/>
        </p:nvSpPr>
        <p:spPr>
          <a:xfrm>
            <a:off x="5471159" y="3657600"/>
            <a:ext cx="213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Memoria de agentes de IA</a:t>
            </a:r>
            <a:endParaRPr/>
          </a:p>
        </p:txBody>
      </p:sp>
      <p:sp>
        <p:nvSpPr>
          <p:cNvPr id="1182" name="Google Shape;1182;p39"/>
          <p:cNvSpPr txBox="1"/>
          <p:nvPr/>
        </p:nvSpPr>
        <p:spPr>
          <a:xfrm>
            <a:off x="4693920" y="4434840"/>
            <a:ext cx="2865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 asistentes recuperan conversaciones y hechos previos relevantes.</a:t>
            </a:r>
            <a:endParaRPr/>
          </a:p>
        </p:txBody>
      </p:sp>
      <p:sp>
        <p:nvSpPr>
          <p:cNvPr id="1183" name="Google Shape;1183;p39"/>
          <p:cNvSpPr/>
          <p:nvPr/>
        </p:nvSpPr>
        <p:spPr>
          <a:xfrm>
            <a:off x="8016239" y="3429000"/>
            <a:ext cx="3276600" cy="19202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9"/>
          <p:cNvSpPr/>
          <p:nvPr/>
        </p:nvSpPr>
        <p:spPr>
          <a:xfrm>
            <a:off x="8244839" y="3657600"/>
            <a:ext cx="640080" cy="64008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de_w.png" id="1185" name="Google Shape;1185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1260" y="382402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39"/>
          <p:cNvSpPr txBox="1"/>
          <p:nvPr/>
        </p:nvSpPr>
        <p:spPr>
          <a:xfrm>
            <a:off x="9022079" y="3657600"/>
            <a:ext cx="213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de código</a:t>
            </a:r>
            <a:endParaRPr/>
          </a:p>
        </p:txBody>
      </p:sp>
      <p:sp>
        <p:nvSpPr>
          <p:cNvPr id="1187" name="Google Shape;1187;p39"/>
          <p:cNvSpPr txBox="1"/>
          <p:nvPr/>
        </p:nvSpPr>
        <p:spPr>
          <a:xfrm>
            <a:off x="8244839" y="4434840"/>
            <a:ext cx="2865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Encontrar funciones o documentación a partir de una descripción en lenguaje natural.</a:t>
            </a:r>
            <a:endParaRPr/>
          </a:p>
        </p:txBody>
      </p:sp>
      <p:sp>
        <p:nvSpPr>
          <p:cNvPr id="1188" name="Google Shape;1188;p39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0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Tendencias actuales (2025–2026)</a:t>
            </a:r>
            <a:endParaRPr/>
          </a:p>
        </p:txBody>
      </p:sp>
      <p:sp>
        <p:nvSpPr>
          <p:cNvPr id="1195" name="Google Shape;1195;p40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96" name="Google Shape;1196;p40"/>
          <p:cNvSpPr/>
          <p:nvPr/>
        </p:nvSpPr>
        <p:spPr>
          <a:xfrm>
            <a:off x="914400" y="1280160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0"/>
          <p:cNvSpPr/>
          <p:nvPr/>
        </p:nvSpPr>
        <p:spPr>
          <a:xfrm>
            <a:off x="1024128" y="137160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rain_w.png" id="1198" name="Google Shape;119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4904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40"/>
          <p:cNvSpPr txBox="1"/>
          <p:nvPr/>
        </p:nvSpPr>
        <p:spPr>
          <a:xfrm>
            <a:off x="1645920" y="128016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Embeddings basados en LLM</a:t>
            </a:r>
            <a:endParaRPr/>
          </a:p>
        </p:txBody>
      </p:sp>
      <p:sp>
        <p:nvSpPr>
          <p:cNvPr id="1200" name="Google Shape;1200;p40"/>
          <p:cNvSpPr txBox="1"/>
          <p:nvPr/>
        </p:nvSpPr>
        <p:spPr>
          <a:xfrm>
            <a:off x="5257800" y="1280160"/>
            <a:ext cx="58978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Qwen3-Embedding y Gemini Embedding lideran MTEB; modelos de 0.6B parámetros ya son muy competitivos.</a:t>
            </a:r>
            <a:endParaRPr/>
          </a:p>
        </p:txBody>
      </p:sp>
      <p:sp>
        <p:nvSpPr>
          <p:cNvPr id="1201" name="Google Shape;1201;p40"/>
          <p:cNvSpPr/>
          <p:nvPr/>
        </p:nvSpPr>
        <p:spPr>
          <a:xfrm>
            <a:off x="914400" y="1993391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40"/>
          <p:cNvSpPr/>
          <p:nvPr/>
        </p:nvSpPr>
        <p:spPr>
          <a:xfrm>
            <a:off x="1024128" y="2084831"/>
            <a:ext cx="457200" cy="45720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Compress_w.png" id="1203" name="Google Shape;120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20370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40"/>
          <p:cNvSpPr txBox="1"/>
          <p:nvPr/>
        </p:nvSpPr>
        <p:spPr>
          <a:xfrm>
            <a:off x="1645920" y="1993391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Matryoshka y cuantización binaria</a:t>
            </a:r>
            <a:endParaRPr/>
          </a:p>
        </p:txBody>
      </p:sp>
      <p:sp>
        <p:nvSpPr>
          <p:cNvPr id="1205" name="Google Shape;1205;p40"/>
          <p:cNvSpPr txBox="1"/>
          <p:nvPr/>
        </p:nvSpPr>
        <p:spPr>
          <a:xfrm>
            <a:off x="5257800" y="1993391"/>
            <a:ext cx="58978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Vectores más cortos y compactos con pérdida mínima: menos costo de almacenamiento y cómputo.</a:t>
            </a:r>
            <a:endParaRPr/>
          </a:p>
        </p:txBody>
      </p:sp>
      <p:sp>
        <p:nvSpPr>
          <p:cNvPr id="1206" name="Google Shape;1206;p40"/>
          <p:cNvSpPr/>
          <p:nvPr/>
        </p:nvSpPr>
        <p:spPr>
          <a:xfrm>
            <a:off x="914400" y="2706623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0"/>
          <p:cNvSpPr/>
          <p:nvPr/>
        </p:nvSpPr>
        <p:spPr>
          <a:xfrm>
            <a:off x="1024128" y="2798063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erver_w.png" id="1208" name="Google Shape;120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2916935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40"/>
          <p:cNvSpPr txBox="1"/>
          <p:nvPr/>
        </p:nvSpPr>
        <p:spPr>
          <a:xfrm>
            <a:off x="1645920" y="2706623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Vectores en bases de datos generalistas</a:t>
            </a:r>
            <a:endParaRPr/>
          </a:p>
        </p:txBody>
      </p:sp>
      <p:sp>
        <p:nvSpPr>
          <p:cNvPr id="1210" name="Google Shape;1210;p40"/>
          <p:cNvSpPr txBox="1"/>
          <p:nvPr/>
        </p:nvSpPr>
        <p:spPr>
          <a:xfrm>
            <a:off x="5257800" y="2706623"/>
            <a:ext cx="58978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Oracle, SQL Server, MongoDB, Elasticsearch y el almacenamiento de objetos (S3 Vectors) integran búsqueda vectorial.</a:t>
            </a:r>
            <a:endParaRPr/>
          </a:p>
        </p:txBody>
      </p:sp>
      <p:sp>
        <p:nvSpPr>
          <p:cNvPr id="1211" name="Google Shape;1211;p40"/>
          <p:cNvSpPr/>
          <p:nvPr/>
        </p:nvSpPr>
        <p:spPr>
          <a:xfrm>
            <a:off x="914400" y="3419855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0"/>
          <p:cNvSpPr/>
          <p:nvPr/>
        </p:nvSpPr>
        <p:spPr>
          <a:xfrm>
            <a:off x="1024128" y="3511295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Filter_w.png" id="1213" name="Google Shape;1213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63016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40"/>
          <p:cNvSpPr txBox="1"/>
          <p:nvPr/>
        </p:nvSpPr>
        <p:spPr>
          <a:xfrm>
            <a:off x="1645920" y="3419855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híbrida con reranking</a:t>
            </a:r>
            <a:endParaRPr/>
          </a:p>
        </p:txBody>
      </p:sp>
      <p:sp>
        <p:nvSpPr>
          <p:cNvPr id="1215" name="Google Shape;1215;p40"/>
          <p:cNvSpPr txBox="1"/>
          <p:nvPr/>
        </p:nvSpPr>
        <p:spPr>
          <a:xfrm>
            <a:off x="5257800" y="3419855"/>
            <a:ext cx="58978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Léxica + semántica + reordenamiento con cross-encoders como configuración por defecto en RAG.</a:t>
            </a:r>
            <a:endParaRPr/>
          </a:p>
        </p:txBody>
      </p:sp>
      <p:sp>
        <p:nvSpPr>
          <p:cNvPr id="1216" name="Google Shape;1216;p40"/>
          <p:cNvSpPr/>
          <p:nvPr/>
        </p:nvSpPr>
        <p:spPr>
          <a:xfrm>
            <a:off x="914400" y="4133087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40"/>
          <p:cNvSpPr/>
          <p:nvPr/>
        </p:nvSpPr>
        <p:spPr>
          <a:xfrm>
            <a:off x="1024128" y="4224527"/>
            <a:ext cx="457200" cy="45720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obot_w.png" id="1218" name="Google Shape;121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434339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40"/>
          <p:cNvSpPr txBox="1"/>
          <p:nvPr/>
        </p:nvSpPr>
        <p:spPr>
          <a:xfrm>
            <a:off x="1645920" y="4133087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Memoria para agentes y RAG agéntico</a:t>
            </a:r>
            <a:endParaRPr/>
          </a:p>
        </p:txBody>
      </p:sp>
      <p:sp>
        <p:nvSpPr>
          <p:cNvPr id="1220" name="Google Shape;1220;p40"/>
          <p:cNvSpPr txBox="1"/>
          <p:nvPr/>
        </p:nvSpPr>
        <p:spPr>
          <a:xfrm>
            <a:off x="5257800" y="4133087"/>
            <a:ext cx="58978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El agente decide cuándo y qué recuperar; la BDV actúa como memoria de largo plazo.</a:t>
            </a:r>
            <a:endParaRPr/>
          </a:p>
        </p:txBody>
      </p:sp>
      <p:sp>
        <p:nvSpPr>
          <p:cNvPr id="1221" name="Google Shape;1221;p40"/>
          <p:cNvSpPr/>
          <p:nvPr/>
        </p:nvSpPr>
        <p:spPr>
          <a:xfrm>
            <a:off x="914400" y="4846320"/>
            <a:ext cx="10378440" cy="640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0"/>
          <p:cNvSpPr/>
          <p:nvPr/>
        </p:nvSpPr>
        <p:spPr>
          <a:xfrm>
            <a:off x="1024128" y="4937759"/>
            <a:ext cx="457200" cy="45720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Image_w.png" id="1223" name="Google Shape;1223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3000" y="5056631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40"/>
          <p:cNvSpPr txBox="1"/>
          <p:nvPr/>
        </p:nvSpPr>
        <p:spPr>
          <a:xfrm>
            <a:off x="1645920" y="484632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Multimodalidad</a:t>
            </a:r>
            <a:endParaRPr/>
          </a:p>
        </p:txBody>
      </p:sp>
      <p:sp>
        <p:nvSpPr>
          <p:cNvPr id="1225" name="Google Shape;1225;p40"/>
          <p:cNvSpPr txBox="1"/>
          <p:nvPr/>
        </p:nvSpPr>
        <p:spPr>
          <a:xfrm>
            <a:off x="5257800" y="4846320"/>
            <a:ext cx="58978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índice para texto, imágenes y audio; interacción tardía (ColBERT, ColPali) para documentos visuales.</a:t>
            </a:r>
            <a:endParaRPr/>
          </a:p>
        </p:txBody>
      </p:sp>
      <p:sp>
        <p:nvSpPr>
          <p:cNvPr id="1226" name="Google Shape;1226;p40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41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Ejercicio 2: clasificación de reseñas sin entrenamiento</a:t>
            </a:r>
            <a:endParaRPr/>
          </a:p>
        </p:txBody>
      </p:sp>
      <p:sp>
        <p:nvSpPr>
          <p:cNvPr id="1233" name="Google Shape;1233;p41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34" name="Google Shape;1234;p41"/>
          <p:cNvSpPr/>
          <p:nvPr/>
        </p:nvSpPr>
        <p:spPr>
          <a:xfrm>
            <a:off x="914400" y="1234440"/>
            <a:ext cx="2926080" cy="310896"/>
          </a:xfrm>
          <a:prstGeom prst="roundRect">
            <a:avLst>
              <a:gd fmla="val 50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Demostración guiada en PyCharm</a:t>
            </a:r>
            <a:endParaRPr/>
          </a:p>
        </p:txBody>
      </p:sp>
      <p:sp>
        <p:nvSpPr>
          <p:cNvPr id="1235" name="Google Shape;1235;p41"/>
          <p:cNvSpPr/>
          <p:nvPr/>
        </p:nvSpPr>
        <p:spPr>
          <a:xfrm>
            <a:off x="3977639" y="1234440"/>
            <a:ext cx="3017520" cy="310896"/>
          </a:xfrm>
          <a:prstGeom prst="roundRect">
            <a:avLst>
              <a:gd fmla="val 50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resenas_entrega.csv · 110 reseñas</a:t>
            </a:r>
            <a:endParaRPr/>
          </a:p>
        </p:txBody>
      </p:sp>
      <p:sp>
        <p:nvSpPr>
          <p:cNvPr id="1236" name="Google Shape;1236;p41"/>
          <p:cNvSpPr/>
          <p:nvPr/>
        </p:nvSpPr>
        <p:spPr>
          <a:xfrm>
            <a:off x="914400" y="1783080"/>
            <a:ext cx="5760720" cy="91440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1"/>
          <p:cNvSpPr txBox="1"/>
          <p:nvPr/>
        </p:nvSpPr>
        <p:spPr>
          <a:xfrm>
            <a:off x="1097280" y="1783080"/>
            <a:ext cx="539495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Reseña: </a:t>
            </a:r>
            <a:r>
              <a:rPr b="0" i="1" lang="es-E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«Recibí el pedido incompleto, faltaba el cable de carga original del OnePlus 12…»</a:t>
            </a:r>
            <a:endParaRPr/>
          </a:p>
        </p:txBody>
      </p:sp>
      <p:sp>
        <p:nvSpPr>
          <p:cNvPr id="1238" name="Google Shape;1238;p41"/>
          <p:cNvSpPr txBox="1"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Retraso en la entrega</a:t>
            </a:r>
            <a:endParaRPr/>
          </a:p>
        </p:txBody>
      </p:sp>
      <p:sp>
        <p:nvSpPr>
          <p:cNvPr id="1239" name="Google Shape;1239;p41"/>
          <p:cNvSpPr/>
          <p:nvPr/>
        </p:nvSpPr>
        <p:spPr>
          <a:xfrm>
            <a:off x="3931920" y="2907792"/>
            <a:ext cx="1007668" cy="219456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1"/>
          <p:cNvSpPr txBox="1"/>
          <p:nvPr/>
        </p:nvSpPr>
        <p:spPr>
          <a:xfrm>
            <a:off x="914400" y="3255264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Producto dañado o defectuoso</a:t>
            </a:r>
            <a:endParaRPr/>
          </a:p>
        </p:txBody>
      </p:sp>
      <p:sp>
        <p:nvSpPr>
          <p:cNvPr id="1241" name="Google Shape;1241;p41"/>
          <p:cNvSpPr/>
          <p:nvPr/>
        </p:nvSpPr>
        <p:spPr>
          <a:xfrm>
            <a:off x="3931920" y="3328416"/>
            <a:ext cx="1352397" cy="219456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1"/>
          <p:cNvSpPr txBox="1"/>
          <p:nvPr/>
        </p:nvSpPr>
        <p:spPr>
          <a:xfrm>
            <a:off x="914400" y="367588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Pedido incompleto o accesorio equivocado</a:t>
            </a:r>
            <a:endParaRPr/>
          </a:p>
        </p:txBody>
      </p:sp>
      <p:sp>
        <p:nvSpPr>
          <p:cNvPr id="1243" name="Google Shape;1243;p41"/>
          <p:cNvSpPr/>
          <p:nvPr/>
        </p:nvSpPr>
        <p:spPr>
          <a:xfrm>
            <a:off x="3931920" y="3749040"/>
            <a:ext cx="2174443" cy="219456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1"/>
          <p:cNvSpPr txBox="1"/>
          <p:nvPr/>
        </p:nvSpPr>
        <p:spPr>
          <a:xfrm>
            <a:off x="914400" y="409651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Entrega rápida y en buen estado</a:t>
            </a:r>
            <a:endParaRPr/>
          </a:p>
        </p:txBody>
      </p:sp>
      <p:sp>
        <p:nvSpPr>
          <p:cNvPr id="1245" name="Google Shape;1245;p41"/>
          <p:cNvSpPr/>
          <p:nvPr/>
        </p:nvSpPr>
        <p:spPr>
          <a:xfrm>
            <a:off x="3931920" y="4169664"/>
            <a:ext cx="795528" cy="219456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1"/>
          <p:cNvSpPr txBox="1"/>
          <p:nvPr/>
        </p:nvSpPr>
        <p:spPr>
          <a:xfrm>
            <a:off x="914400" y="451713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Atención de soporte o posventa</a:t>
            </a:r>
            <a:endParaRPr/>
          </a:p>
        </p:txBody>
      </p:sp>
      <p:sp>
        <p:nvSpPr>
          <p:cNvPr id="1247" name="Google Shape;1247;p41"/>
          <p:cNvSpPr/>
          <p:nvPr/>
        </p:nvSpPr>
        <p:spPr>
          <a:xfrm>
            <a:off x="3931920" y="4590288"/>
            <a:ext cx="1166774" cy="219456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41"/>
          <p:cNvSpPr txBox="1"/>
          <p:nvPr/>
        </p:nvSpPr>
        <p:spPr>
          <a:xfrm>
            <a:off x="914400" y="498348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Similitud coseno con cada etiqueta (valores ilustrativos): gana la más alta.</a:t>
            </a:r>
            <a:endParaRPr/>
          </a:p>
        </p:txBody>
      </p:sp>
      <p:sp>
        <p:nvSpPr>
          <p:cNvPr id="1249" name="Google Shape;1249;p41"/>
          <p:cNvSpPr/>
          <p:nvPr/>
        </p:nvSpPr>
        <p:spPr>
          <a:xfrm>
            <a:off x="6995160" y="1801368"/>
            <a:ext cx="402336" cy="402336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50" name="Google Shape;1250;p41"/>
          <p:cNvSpPr txBox="1"/>
          <p:nvPr/>
        </p:nvSpPr>
        <p:spPr>
          <a:xfrm>
            <a:off x="7498080" y="1783080"/>
            <a:ext cx="37947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Definir 5 etiquetas como frases descriptivas.</a:t>
            </a:r>
            <a:endParaRPr/>
          </a:p>
        </p:txBody>
      </p:sp>
      <p:sp>
        <p:nvSpPr>
          <p:cNvPr id="1251" name="Google Shape;1251;p41"/>
          <p:cNvSpPr/>
          <p:nvPr/>
        </p:nvSpPr>
        <p:spPr>
          <a:xfrm>
            <a:off x="6995160" y="2331720"/>
            <a:ext cx="402336" cy="402336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52" name="Google Shape;1252;p41"/>
          <p:cNvSpPr txBox="1"/>
          <p:nvPr/>
        </p:nvSpPr>
        <p:spPr>
          <a:xfrm>
            <a:off x="7498080" y="2313432"/>
            <a:ext cx="37947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Vectorizar las etiquetas y las 110 reseñas.</a:t>
            </a:r>
            <a:endParaRPr/>
          </a:p>
        </p:txBody>
      </p:sp>
      <p:sp>
        <p:nvSpPr>
          <p:cNvPr id="1253" name="Google Shape;1253;p41"/>
          <p:cNvSpPr/>
          <p:nvPr/>
        </p:nvSpPr>
        <p:spPr>
          <a:xfrm>
            <a:off x="6995160" y="2862072"/>
            <a:ext cx="402336" cy="402336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54" name="Google Shape;1254;p41"/>
          <p:cNvSpPr txBox="1"/>
          <p:nvPr/>
        </p:nvSpPr>
        <p:spPr>
          <a:xfrm>
            <a:off x="7498080" y="2843784"/>
            <a:ext cx="37947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Guardar las etiquetas en una colección y consultar n_results = 1.</a:t>
            </a:r>
            <a:endParaRPr/>
          </a:p>
        </p:txBody>
      </p:sp>
      <p:sp>
        <p:nvSpPr>
          <p:cNvPr id="1255" name="Google Shape;1255;p41"/>
          <p:cNvSpPr/>
          <p:nvPr/>
        </p:nvSpPr>
        <p:spPr>
          <a:xfrm>
            <a:off x="6995160" y="3392424"/>
            <a:ext cx="402336" cy="402336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56" name="Google Shape;1256;p41"/>
          <p:cNvSpPr txBox="1"/>
          <p:nvPr/>
        </p:nvSpPr>
        <p:spPr>
          <a:xfrm>
            <a:off x="7498080" y="3374136"/>
            <a:ext cx="37947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Cruzar la etiqueta con la calificación (1–5★).</a:t>
            </a:r>
            <a:endParaRPr/>
          </a:p>
        </p:txBody>
      </p:sp>
      <p:sp>
        <p:nvSpPr>
          <p:cNvPr id="1257" name="Google Shape;1257;p41"/>
          <p:cNvSpPr/>
          <p:nvPr/>
        </p:nvSpPr>
        <p:spPr>
          <a:xfrm>
            <a:off x="6995160" y="3977639"/>
            <a:ext cx="4297679" cy="141732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1"/>
          <p:cNvSpPr txBox="1"/>
          <p:nvPr/>
        </p:nvSpPr>
        <p:spPr>
          <a:xfrm>
            <a:off x="7178040" y="4041648"/>
            <a:ext cx="3931919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Para discutir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¿Qué categoría concentra las calificaciones de 1★ y 2★?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• ¿Cómo cambia el resultado si reformulan las etiquetas?</a:t>
            </a:r>
            <a:endParaRPr/>
          </a:p>
        </p:txBody>
      </p:sp>
      <p:sp>
        <p:nvSpPr>
          <p:cNvPr id="1259" name="Google Shape;1259;p41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42"/>
          <p:cNvSpPr txBox="1"/>
          <p:nvPr>
            <p:ph type="ctrTitle"/>
          </p:nvPr>
        </p:nvSpPr>
        <p:spPr>
          <a:xfrm>
            <a:off x="1069848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s-ES" sz="32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Parte 4. Laboratorio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66" name="Google Shape;1266;p42"/>
          <p:cNvSpPr txBox="1"/>
          <p:nvPr>
            <p:ph idx="1" type="subTitle"/>
          </p:nvPr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ES" sz="1800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Recomendador semántico de productos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67" name="Google Shape;1267;p42"/>
          <p:cNvSpPr/>
          <p:nvPr/>
        </p:nvSpPr>
        <p:spPr>
          <a:xfrm>
            <a:off x="5641848" y="1188720"/>
            <a:ext cx="914400" cy="91440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268" name="Google Shape;1268;p42">
            <a:hlinkClick action="ppaction://hlinksldjump" r:id="rId3"/>
          </p:cNvPr>
          <p:cNvSpPr/>
          <p:nvPr/>
        </p:nvSpPr>
        <p:spPr>
          <a:xfrm>
            <a:off x="9646920" y="384048"/>
            <a:ext cx="1645920" cy="310896"/>
          </a:xfrm>
          <a:prstGeom prst="roundRect">
            <a:avLst>
              <a:gd fmla="val 50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21925" lIns="36575" spcFirstLastPara="1" rIns="36575" wrap="square" tIns="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004EA8"/>
                </a:solidFill>
                <a:latin typeface="Arial"/>
                <a:ea typeface="Arial"/>
                <a:cs typeface="Arial"/>
                <a:sym typeface="Arial"/>
              </a:rPr>
              <a:t>Volver a la agenda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3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Datos del laboratorio</a:t>
            </a:r>
            <a:endParaRPr/>
          </a:p>
        </p:txBody>
      </p:sp>
      <p:sp>
        <p:nvSpPr>
          <p:cNvPr id="1275" name="Google Shape;1275;p43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1276" name="Google Shape;1276;p43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77" name="Google Shape;1277;p43"/>
          <p:cNvSpPr/>
          <p:nvPr/>
        </p:nvSpPr>
        <p:spPr>
          <a:xfrm>
            <a:off x="914400" y="1280160"/>
            <a:ext cx="3276600" cy="1874519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43"/>
          <p:cNvSpPr/>
          <p:nvPr/>
        </p:nvSpPr>
        <p:spPr>
          <a:xfrm>
            <a:off x="1097280" y="1417320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BoxOpen_w.png" id="1279" name="Google Shape;127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9926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43"/>
          <p:cNvSpPr txBox="1"/>
          <p:nvPr/>
        </p:nvSpPr>
        <p:spPr>
          <a:xfrm>
            <a:off x="1783080" y="1389888"/>
            <a:ext cx="231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productos.csv</a:t>
            </a:r>
            <a:endParaRPr/>
          </a:p>
        </p:txBody>
      </p:sp>
      <p:sp>
        <p:nvSpPr>
          <p:cNvPr id="1281" name="Google Shape;1281;p43"/>
          <p:cNvSpPr txBox="1"/>
          <p:nvPr/>
        </p:nvSpPr>
        <p:spPr>
          <a:xfrm>
            <a:off x="1783080" y="1691640"/>
            <a:ext cx="231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A7BC2"/>
                </a:solidFill>
                <a:latin typeface="Arial"/>
                <a:ea typeface="Arial"/>
                <a:cs typeface="Arial"/>
                <a:sym typeface="Arial"/>
              </a:rPr>
              <a:t>90 productos · 9 categorías × 10</a:t>
            </a:r>
            <a:endParaRPr/>
          </a:p>
        </p:txBody>
      </p:sp>
      <p:sp>
        <p:nvSpPr>
          <p:cNvPr id="1282" name="Google Shape;1282;p43"/>
          <p:cNvSpPr txBox="1"/>
          <p:nvPr/>
        </p:nvSpPr>
        <p:spPr>
          <a:xfrm>
            <a:off x="1097280" y="2148840"/>
            <a:ext cx="2910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id, nombre, descripcion, categoria, subcategoria, precio, stock, calificacion_promedio</a:t>
            </a:r>
            <a:endParaRPr/>
          </a:p>
        </p:txBody>
      </p:sp>
      <p:sp>
        <p:nvSpPr>
          <p:cNvPr id="1283" name="Google Shape;1283;p43"/>
          <p:cNvSpPr/>
          <p:nvPr/>
        </p:nvSpPr>
        <p:spPr>
          <a:xfrm>
            <a:off x="4465320" y="1280160"/>
            <a:ext cx="3276600" cy="1874519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3"/>
          <p:cNvSpPr/>
          <p:nvPr/>
        </p:nvSpPr>
        <p:spPr>
          <a:xfrm>
            <a:off x="4648200" y="1417320"/>
            <a:ext cx="548640" cy="5486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ruckFast_w.png" id="1285" name="Google Shape;128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846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43"/>
          <p:cNvSpPr txBox="1"/>
          <p:nvPr/>
        </p:nvSpPr>
        <p:spPr>
          <a:xfrm>
            <a:off x="5334000" y="1389888"/>
            <a:ext cx="231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resenas_entrega.csv</a:t>
            </a:r>
            <a:endParaRPr/>
          </a:p>
        </p:txBody>
      </p:sp>
      <p:sp>
        <p:nvSpPr>
          <p:cNvPr id="1287" name="Google Shape;1287;p43"/>
          <p:cNvSpPr txBox="1"/>
          <p:nvPr/>
        </p:nvSpPr>
        <p:spPr>
          <a:xfrm>
            <a:off x="5334000" y="1691640"/>
            <a:ext cx="231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16C78E"/>
                </a:solidFill>
                <a:latin typeface="Arial"/>
                <a:ea typeface="Arial"/>
                <a:cs typeface="Arial"/>
                <a:sym typeface="Arial"/>
              </a:rPr>
              <a:t>110 reseñas · 63 clientes · 54 productos</a:t>
            </a:r>
            <a:endParaRPr/>
          </a:p>
        </p:txBody>
      </p:sp>
      <p:sp>
        <p:nvSpPr>
          <p:cNvPr id="1288" name="Google Shape;1288;p43"/>
          <p:cNvSpPr txBox="1"/>
          <p:nvPr/>
        </p:nvSpPr>
        <p:spPr>
          <a:xfrm>
            <a:off x="4648200" y="2148840"/>
            <a:ext cx="2910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orden_id, cliente_id, producto_id, calificacion, fecha, texto</a:t>
            </a:r>
            <a:endParaRPr/>
          </a:p>
        </p:txBody>
      </p:sp>
      <p:sp>
        <p:nvSpPr>
          <p:cNvPr id="1289" name="Google Shape;1289;p43"/>
          <p:cNvSpPr/>
          <p:nvPr/>
        </p:nvSpPr>
        <p:spPr>
          <a:xfrm>
            <a:off x="8016239" y="1280160"/>
            <a:ext cx="3276600" cy="1874519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3"/>
          <p:cNvSpPr/>
          <p:nvPr/>
        </p:nvSpPr>
        <p:spPr>
          <a:xfrm>
            <a:off x="8199119" y="1417320"/>
            <a:ext cx="548640" cy="54864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egComments_w.png" id="1291" name="Google Shape;129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1766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43"/>
          <p:cNvSpPr txBox="1"/>
          <p:nvPr/>
        </p:nvSpPr>
        <p:spPr>
          <a:xfrm>
            <a:off x="8884919" y="1389888"/>
            <a:ext cx="231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Courier New"/>
                <a:ea typeface="Courier New"/>
                <a:cs typeface="Courier New"/>
                <a:sym typeface="Courier New"/>
              </a:rPr>
              <a:t>comentarios.csv</a:t>
            </a:r>
            <a:endParaRPr/>
          </a:p>
        </p:txBody>
      </p:sp>
      <p:sp>
        <p:nvSpPr>
          <p:cNvPr id="1293" name="Google Shape;1293;p43"/>
          <p:cNvSpPr txBox="1"/>
          <p:nvPr/>
        </p:nvSpPr>
        <p:spPr>
          <a:xfrm>
            <a:off x="8884919" y="1691640"/>
            <a:ext cx="231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9929"/>
                </a:solidFill>
                <a:latin typeface="Arial"/>
                <a:ea typeface="Arial"/>
                <a:cs typeface="Arial"/>
                <a:sym typeface="Arial"/>
              </a:rPr>
              <a:t>135 comentarios · 96 clientes · 7 países</a:t>
            </a:r>
            <a:endParaRPr/>
          </a:p>
        </p:txBody>
      </p:sp>
      <p:sp>
        <p:nvSpPr>
          <p:cNvPr id="1294" name="Google Shape;1294;p43"/>
          <p:cNvSpPr txBox="1"/>
          <p:nvPr/>
        </p:nvSpPr>
        <p:spPr>
          <a:xfrm>
            <a:off x="8199119" y="2148840"/>
            <a:ext cx="2910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191919"/>
                </a:solidFill>
                <a:latin typeface="Courier New"/>
                <a:ea typeface="Courier New"/>
                <a:cs typeface="Courier New"/>
                <a:sym typeface="Courier New"/>
              </a:rPr>
              <a:t>cliente_id, cliente_ciudad, cliente_pais, calificacion, fecha, texto</a:t>
            </a:r>
            <a:endParaRPr/>
          </a:p>
        </p:txBody>
      </p:sp>
      <p:sp>
        <p:nvSpPr>
          <p:cNvPr id="1295" name="Google Shape;1295;p43"/>
          <p:cNvSpPr txBox="1"/>
          <p:nvPr/>
        </p:nvSpPr>
        <p:spPr>
          <a:xfrm>
            <a:off x="914400" y="3337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endParaRPr/>
          </a:p>
        </p:txBody>
      </p:sp>
      <p:sp>
        <p:nvSpPr>
          <p:cNvPr id="1296" name="Google Shape;1296;p43"/>
          <p:cNvSpPr/>
          <p:nvPr/>
        </p:nvSpPr>
        <p:spPr>
          <a:xfrm>
            <a:off x="914400" y="3749039"/>
            <a:ext cx="1920240" cy="502920"/>
          </a:xfrm>
          <a:prstGeom prst="roundRect">
            <a:avLst>
              <a:gd fmla="val 8000" name="adj"/>
            </a:avLst>
          </a:prstGeom>
          <a:solidFill>
            <a:srgbClr val="16C78E"/>
          </a:solidFill>
          <a:ln>
            <a:noFill/>
          </a:ln>
        </p:spPr>
        <p:txBody>
          <a:bodyPr anchorCtr="0" anchor="ctr" bIns="43875" lIns="73150" spcFirstLastPara="1" rIns="73150" wrap="square" tIns="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resenas_entrega</a:t>
            </a:r>
            <a:endParaRPr/>
          </a:p>
        </p:txBody>
      </p:sp>
      <p:sp>
        <p:nvSpPr>
          <p:cNvPr id="1297" name="Google Shape;1297;p43"/>
          <p:cNvSpPr/>
          <p:nvPr/>
        </p:nvSpPr>
        <p:spPr>
          <a:xfrm>
            <a:off x="3749039" y="3749039"/>
            <a:ext cx="1920240" cy="502920"/>
          </a:xfrm>
          <a:prstGeom prst="roundRect">
            <a:avLst>
              <a:gd fmla="val 8000" name="adj"/>
            </a:avLst>
          </a:prstGeom>
          <a:solidFill>
            <a:srgbClr val="0A7BC2"/>
          </a:solidFill>
          <a:ln>
            <a:noFill/>
          </a:ln>
        </p:spPr>
        <p:txBody>
          <a:bodyPr anchorCtr="0" anchor="ctr" bIns="43875" lIns="73150" spcFirstLastPara="1" rIns="73150" wrap="square" tIns="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/>
          </a:p>
        </p:txBody>
      </p:sp>
      <p:sp>
        <p:nvSpPr>
          <p:cNvPr id="1298" name="Google Shape;1298;p43"/>
          <p:cNvSpPr/>
          <p:nvPr/>
        </p:nvSpPr>
        <p:spPr>
          <a:xfrm>
            <a:off x="914400" y="4846320"/>
            <a:ext cx="1920240" cy="502920"/>
          </a:xfrm>
          <a:prstGeom prst="roundRect">
            <a:avLst>
              <a:gd fmla="val 8000" name="adj"/>
            </a:avLst>
          </a:prstGeom>
          <a:solidFill>
            <a:srgbClr val="FF9929"/>
          </a:solidFill>
          <a:ln>
            <a:noFill/>
          </a:ln>
        </p:spPr>
        <p:txBody>
          <a:bodyPr anchorCtr="0" anchor="ctr" bIns="43875" lIns="73150" spcFirstLastPara="1" rIns="73150" wrap="square" tIns="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comentarios</a:t>
            </a:r>
            <a:endParaRPr/>
          </a:p>
        </p:txBody>
      </p:sp>
      <p:cxnSp>
        <p:nvCxnSpPr>
          <p:cNvPr id="1299" name="Google Shape;1299;p43"/>
          <p:cNvCxnSpPr/>
          <p:nvPr/>
        </p:nvCxnSpPr>
        <p:spPr>
          <a:xfrm>
            <a:off x="2852928" y="4000500"/>
            <a:ext cx="877824" cy="0"/>
          </a:xfrm>
          <a:prstGeom prst="straightConnector1">
            <a:avLst/>
          </a:prstGeom>
          <a:noFill/>
          <a:ln cap="flat" cmpd="sng" w="190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00" name="Google Shape;1300;p43"/>
          <p:cNvSpPr txBox="1"/>
          <p:nvPr/>
        </p:nvSpPr>
        <p:spPr>
          <a:xfrm>
            <a:off x="2788920" y="3520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5B6270"/>
                </a:solidFill>
                <a:latin typeface="Courier New"/>
                <a:ea typeface="Courier New"/>
                <a:cs typeface="Courier New"/>
                <a:sym typeface="Courier New"/>
              </a:rPr>
              <a:t>producto_id</a:t>
            </a:r>
            <a:endParaRPr/>
          </a:p>
        </p:txBody>
      </p:sp>
      <p:cxnSp>
        <p:nvCxnSpPr>
          <p:cNvPr id="1301" name="Google Shape;1301;p43"/>
          <p:cNvCxnSpPr/>
          <p:nvPr/>
        </p:nvCxnSpPr>
        <p:spPr>
          <a:xfrm>
            <a:off x="1874519" y="4270248"/>
            <a:ext cx="0" cy="557784"/>
          </a:xfrm>
          <a:prstGeom prst="straightConnector1">
            <a:avLst/>
          </a:prstGeom>
          <a:noFill/>
          <a:ln cap="flat" cmpd="sng" w="19050">
            <a:solidFill>
              <a:srgbClr val="04235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02" name="Google Shape;1302;p43"/>
          <p:cNvSpPr txBox="1"/>
          <p:nvPr/>
        </p:nvSpPr>
        <p:spPr>
          <a:xfrm>
            <a:off x="1965960" y="4389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950" u="none" cap="none" strike="noStrike">
                <a:solidFill>
                  <a:srgbClr val="5B6270"/>
                </a:solidFill>
                <a:latin typeface="Courier New"/>
                <a:ea typeface="Courier New"/>
                <a:cs typeface="Courier New"/>
                <a:sym typeface="Courier New"/>
              </a:rPr>
              <a:t>cliente_id (54 en común)</a:t>
            </a:r>
            <a:endParaRPr/>
          </a:p>
        </p:txBody>
      </p:sp>
      <p:sp>
        <p:nvSpPr>
          <p:cNvPr id="1303" name="Google Shape;1303;p43"/>
          <p:cNvSpPr txBox="1"/>
          <p:nvPr/>
        </p:nvSpPr>
        <p:spPr>
          <a:xfrm>
            <a:off x="3063240" y="4846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00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Textos sin tildes: normalizar antes de comparar con LIKE.</a:t>
            </a:r>
            <a:endParaRPr/>
          </a:p>
        </p:txBody>
      </p:sp>
      <p:graphicFrame>
        <p:nvGraphicFramePr>
          <p:cNvPr id="1304" name="Google Shape;1304;p43"/>
          <p:cNvGraphicFramePr/>
          <p:nvPr/>
        </p:nvGraphicFramePr>
        <p:xfrm>
          <a:off x="5989320" y="3246120"/>
          <a:ext cx="5303520" cy="2194560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1305" name="Google Shape;1305;p43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4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Configuración del entorno en PyCharm</a:t>
            </a:r>
            <a:endParaRPr/>
          </a:p>
        </p:txBody>
      </p:sp>
      <p:sp>
        <p:nvSpPr>
          <p:cNvPr id="1312" name="Google Shape;1312;p44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13" name="Google Shape;1313;p44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14" name="Google Shape;1314;p44"/>
          <p:cNvSpPr/>
          <p:nvPr/>
        </p:nvSpPr>
        <p:spPr>
          <a:xfrm>
            <a:off x="914400" y="1325880"/>
            <a:ext cx="4754880" cy="94183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4"/>
          <p:cNvSpPr/>
          <p:nvPr/>
        </p:nvSpPr>
        <p:spPr>
          <a:xfrm>
            <a:off x="1097280" y="1527048"/>
            <a:ext cx="530352" cy="53035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16" name="Google Shape;1316;p44"/>
          <p:cNvSpPr txBox="1"/>
          <p:nvPr/>
        </p:nvSpPr>
        <p:spPr>
          <a:xfrm>
            <a:off x="1783080" y="139903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Crear el proyecto</a:t>
            </a:r>
            <a:endParaRPr/>
          </a:p>
        </p:txBody>
      </p:sp>
      <p:sp>
        <p:nvSpPr>
          <p:cNvPr id="1317" name="Google Shape;1317;p44"/>
          <p:cNvSpPr txBox="1"/>
          <p:nvPr/>
        </p:nvSpPr>
        <p:spPr>
          <a:xfrm>
            <a:off x="1783080" y="17373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New Project → intérprete virtualenv con Python 3.11 o superior.</a:t>
            </a:r>
            <a:endParaRPr/>
          </a:p>
        </p:txBody>
      </p:sp>
      <p:sp>
        <p:nvSpPr>
          <p:cNvPr id="1318" name="Google Shape;1318;p44"/>
          <p:cNvSpPr/>
          <p:nvPr/>
        </p:nvSpPr>
        <p:spPr>
          <a:xfrm>
            <a:off x="914400" y="2368296"/>
            <a:ext cx="4754880" cy="94183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44"/>
          <p:cNvSpPr/>
          <p:nvPr/>
        </p:nvSpPr>
        <p:spPr>
          <a:xfrm>
            <a:off x="1097280" y="2569464"/>
            <a:ext cx="530352" cy="530352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20" name="Google Shape;1320;p44"/>
          <p:cNvSpPr txBox="1"/>
          <p:nvPr/>
        </p:nvSpPr>
        <p:spPr>
          <a:xfrm>
            <a:off x="1783080" y="244144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Instalar dependencias</a:t>
            </a:r>
            <a:endParaRPr/>
          </a:p>
        </p:txBody>
      </p:sp>
      <p:sp>
        <p:nvSpPr>
          <p:cNvPr id="1321" name="Google Shape;1321;p44"/>
          <p:cNvSpPr txBox="1"/>
          <p:nvPr/>
        </p:nvSpPr>
        <p:spPr>
          <a:xfrm>
            <a:off x="1783080" y="277977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Solo paquetes de pip: ChromaDB funciona embebida, sin servidor.</a:t>
            </a:r>
            <a:endParaRPr/>
          </a:p>
        </p:txBody>
      </p:sp>
      <p:sp>
        <p:nvSpPr>
          <p:cNvPr id="1322" name="Google Shape;1322;p44"/>
          <p:cNvSpPr/>
          <p:nvPr/>
        </p:nvSpPr>
        <p:spPr>
          <a:xfrm>
            <a:off x="914400" y="3410711"/>
            <a:ext cx="4754880" cy="94183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4"/>
          <p:cNvSpPr/>
          <p:nvPr/>
        </p:nvSpPr>
        <p:spPr>
          <a:xfrm>
            <a:off x="1097280" y="3611879"/>
            <a:ext cx="530352" cy="530352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24" name="Google Shape;1324;p44"/>
          <p:cNvSpPr txBox="1"/>
          <p:nvPr/>
        </p:nvSpPr>
        <p:spPr>
          <a:xfrm>
            <a:off x="1783080" y="3483863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Copiar los datos</a:t>
            </a:r>
            <a:endParaRPr/>
          </a:p>
        </p:txBody>
      </p:sp>
      <p:sp>
        <p:nvSpPr>
          <p:cNvPr id="1325" name="Google Shape;1325;p44"/>
          <p:cNvSpPr txBox="1"/>
          <p:nvPr/>
        </p:nvSpPr>
        <p:spPr>
          <a:xfrm>
            <a:off x="1783080" y="3822191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Ubicar los tres CSV en la carpeta data/ del proyecto.</a:t>
            </a:r>
            <a:endParaRPr/>
          </a:p>
        </p:txBody>
      </p:sp>
      <p:sp>
        <p:nvSpPr>
          <p:cNvPr id="1326" name="Google Shape;1326;p44"/>
          <p:cNvSpPr/>
          <p:nvPr/>
        </p:nvSpPr>
        <p:spPr>
          <a:xfrm>
            <a:off x="914400" y="4453127"/>
            <a:ext cx="4754880" cy="941832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44"/>
          <p:cNvSpPr/>
          <p:nvPr/>
        </p:nvSpPr>
        <p:spPr>
          <a:xfrm>
            <a:off x="1097280" y="4654295"/>
            <a:ext cx="530352" cy="530352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28" name="Google Shape;1328;p44"/>
          <p:cNvSpPr txBox="1"/>
          <p:nvPr/>
        </p:nvSpPr>
        <p:spPr>
          <a:xfrm>
            <a:off x="1783080" y="4526279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Descargar el modelo antes de clase</a:t>
            </a:r>
            <a:endParaRPr/>
          </a:p>
        </p:txBody>
      </p:sp>
      <p:sp>
        <p:nvSpPr>
          <p:cNvPr id="1329" name="Google Shape;1329;p44"/>
          <p:cNvSpPr txBox="1"/>
          <p:nvPr/>
        </p:nvSpPr>
        <p:spPr>
          <a:xfrm>
            <a:off x="1783080" y="4864607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Ejecutar la prueba: descarga ≈ 470 MB una sola vez.</a:t>
            </a:r>
            <a:endParaRPr/>
          </a:p>
        </p:txBody>
      </p:sp>
      <p:sp>
        <p:nvSpPr>
          <p:cNvPr id="1330" name="Google Shape;1330;p44"/>
          <p:cNvSpPr/>
          <p:nvPr/>
        </p:nvSpPr>
        <p:spPr>
          <a:xfrm>
            <a:off x="5943600" y="1325880"/>
            <a:ext cx="5349240" cy="73152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sentence-transformers chromadb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pandas numpy scikit-learn</a:t>
            </a:r>
            <a:endParaRPr/>
          </a:p>
        </p:txBody>
      </p:sp>
      <p:sp>
        <p:nvSpPr>
          <p:cNvPr id="1331" name="Google Shape;1331;p44"/>
          <p:cNvSpPr/>
          <p:nvPr/>
        </p:nvSpPr>
        <p:spPr>
          <a:xfrm>
            <a:off x="5943600" y="2194560"/>
            <a:ext cx="5349240" cy="1874519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lab_bdv/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data/   (productos, resenas_entrega, comentarios)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ejercicio1_busqueda.py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ejercicio2_clasificacion.py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lab_recomendador.py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└── bdv/    </a:t>
            </a:r>
            <a:r>
              <a:rPr b="0" i="0" lang="es-ES" sz="11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base persistente de ChromaDB</a:t>
            </a:r>
            <a:endParaRPr/>
          </a:p>
        </p:txBody>
      </p:sp>
      <p:sp>
        <p:nvSpPr>
          <p:cNvPr id="1332" name="Google Shape;1332;p44"/>
          <p:cNvSpPr/>
          <p:nvPr/>
        </p:nvSpPr>
        <p:spPr>
          <a:xfrm>
            <a:off x="5943600" y="4206240"/>
            <a:ext cx="5349240" cy="1234440"/>
          </a:xfrm>
          <a:prstGeom prst="roundRect">
            <a:avLst>
              <a:gd fmla="val 4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t" bIns="128000" lIns="201150" spcFirstLastPara="1" rIns="20115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sentence_transformers </a:t>
            </a:r>
            <a:r>
              <a:rPr b="0" i="0" lang="es-ES" sz="11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SentenceTransformer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m = SentenceTransformer(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"paraphrase-multilingual-MiniLM-L12-v2"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7CC8F2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(m.encode(</a:t>
            </a:r>
            <a:r>
              <a:rPr b="0" i="0" lang="es-ES" sz="1100" u="none" cap="none" strike="noStrike">
                <a:solidFill>
                  <a:srgbClr val="F0AE19"/>
                </a:solidFill>
                <a:latin typeface="Courier New"/>
                <a:ea typeface="Courier New"/>
                <a:cs typeface="Courier New"/>
                <a:sym typeface="Courier New"/>
              </a:rPr>
              <a:t>"hola"</a:t>
            </a:r>
            <a:r>
              <a:rPr b="0" i="0" lang="es-ES" sz="1100" u="none" cap="none" strike="noStrike">
                <a:solidFill>
                  <a:srgbClr val="E6EDF5"/>
                </a:solidFill>
                <a:latin typeface="Courier New"/>
                <a:ea typeface="Courier New"/>
                <a:cs typeface="Courier New"/>
                <a:sym typeface="Courier New"/>
              </a:rPr>
              <a:t>).shape)    </a:t>
            </a:r>
            <a:r>
              <a:rPr b="0" i="0" lang="es-ES" sz="1100" u="none" cap="none" strike="noStrike">
                <a:solidFill>
                  <a:srgbClr val="16C78E"/>
                </a:solidFill>
                <a:latin typeface="Courier New"/>
                <a:ea typeface="Courier New"/>
                <a:cs typeface="Courier New"/>
                <a:sym typeface="Courier New"/>
              </a:rPr>
              <a:t># (384,)</a:t>
            </a:r>
            <a:endParaRPr/>
          </a:p>
        </p:txBody>
      </p:sp>
      <p:sp>
        <p:nvSpPr>
          <p:cNvPr id="1333" name="Google Shape;1333;p44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5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Laboratorio: recomendador semántico de productos</a:t>
            </a:r>
            <a:endParaRPr/>
          </a:p>
        </p:txBody>
      </p:sp>
      <p:sp>
        <p:nvSpPr>
          <p:cNvPr id="1340" name="Google Shape;1340;p45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41" name="Google Shape;1341;p45"/>
          <p:cNvSpPr/>
          <p:nvPr/>
        </p:nvSpPr>
        <p:spPr>
          <a:xfrm>
            <a:off x="914400" y="1280160"/>
            <a:ext cx="10378440" cy="77724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5"/>
          <p:cNvSpPr/>
          <p:nvPr/>
        </p:nvSpPr>
        <p:spPr>
          <a:xfrm>
            <a:off x="1097280" y="141732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RegComments_w.png" id="1343" name="Google Shape;13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039" y="1548079"/>
            <a:ext cx="241401" cy="24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45"/>
          <p:cNvSpPr txBox="1"/>
          <p:nvPr/>
        </p:nvSpPr>
        <p:spPr>
          <a:xfrm>
            <a:off x="1783080" y="128016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b="0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 tienda recibe quejas porque sus recomendaciones «parecen genéricas». Construyan un recomendador que use el significado de los productos y el historial de cada cliente.</a:t>
            </a:r>
            <a:endParaRPr/>
          </a:p>
        </p:txBody>
      </p:sp>
      <p:sp>
        <p:nvSpPr>
          <p:cNvPr id="1345" name="Google Shape;1345;p45"/>
          <p:cNvSpPr/>
          <p:nvPr/>
        </p:nvSpPr>
        <p:spPr>
          <a:xfrm>
            <a:off x="914400" y="2423160"/>
            <a:ext cx="192024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productos.csv</a:t>
            </a:r>
            <a:endParaRPr/>
          </a:p>
        </p:txBody>
      </p:sp>
      <p:sp>
        <p:nvSpPr>
          <p:cNvPr id="1346" name="Google Shape;1346;p45"/>
          <p:cNvSpPr/>
          <p:nvPr/>
        </p:nvSpPr>
        <p:spPr>
          <a:xfrm>
            <a:off x="3200400" y="2423160"/>
            <a:ext cx="228600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Texto: nombre + categoría + descripción</a:t>
            </a:r>
            <a:endParaRPr/>
          </a:p>
        </p:txBody>
      </p:sp>
      <p:sp>
        <p:nvSpPr>
          <p:cNvPr id="1347" name="Google Shape;1347;p45"/>
          <p:cNvSpPr/>
          <p:nvPr/>
        </p:nvSpPr>
        <p:spPr>
          <a:xfrm>
            <a:off x="5852160" y="2423160"/>
            <a:ext cx="2103120" cy="68580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 cap="flat" cmpd="sng" w="12700">
            <a:solidFill>
              <a:srgbClr val="0A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Colección Chroma «productos»</a:t>
            </a:r>
            <a:endParaRPr/>
          </a:p>
        </p:txBody>
      </p:sp>
      <p:sp>
        <p:nvSpPr>
          <p:cNvPr id="1348" name="Google Shape;1348;p45"/>
          <p:cNvSpPr/>
          <p:nvPr/>
        </p:nvSpPr>
        <p:spPr>
          <a:xfrm>
            <a:off x="914400" y="3611880"/>
            <a:ext cx="192024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resenas_entrega.csv</a:t>
            </a:r>
            <a:endParaRPr/>
          </a:p>
        </p:txBody>
      </p:sp>
      <p:sp>
        <p:nvSpPr>
          <p:cNvPr id="1349" name="Google Shape;1349;p45"/>
          <p:cNvSpPr/>
          <p:nvPr/>
        </p:nvSpPr>
        <p:spPr>
          <a:xfrm>
            <a:off x="3200400" y="3611880"/>
            <a:ext cx="228600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Perfil del cliente (promedio ponderado)</a:t>
            </a:r>
            <a:endParaRPr/>
          </a:p>
        </p:txBody>
      </p:sp>
      <p:sp>
        <p:nvSpPr>
          <p:cNvPr id="1350" name="Google Shape;1350;p45"/>
          <p:cNvSpPr/>
          <p:nvPr/>
        </p:nvSpPr>
        <p:spPr>
          <a:xfrm>
            <a:off x="5852160" y="3611880"/>
            <a:ext cx="2103120" cy="68580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 cap="flat" cmpd="sng" w="12700">
            <a:solidFill>
              <a:srgbClr val="16C7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Consulta con el vector del perfil</a:t>
            </a:r>
            <a:endParaRPr/>
          </a:p>
        </p:txBody>
      </p:sp>
      <p:cxnSp>
        <p:nvCxnSpPr>
          <p:cNvPr id="1351" name="Google Shape;1351;p45"/>
          <p:cNvCxnSpPr/>
          <p:nvPr/>
        </p:nvCxnSpPr>
        <p:spPr>
          <a:xfrm>
            <a:off x="2852928" y="2766060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2" name="Google Shape;1352;p45"/>
          <p:cNvCxnSpPr/>
          <p:nvPr/>
        </p:nvCxnSpPr>
        <p:spPr>
          <a:xfrm>
            <a:off x="5504688" y="2766060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3" name="Google Shape;1353;p45"/>
          <p:cNvCxnSpPr/>
          <p:nvPr/>
        </p:nvCxnSpPr>
        <p:spPr>
          <a:xfrm>
            <a:off x="2852928" y="3954780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4" name="Google Shape;1354;p45"/>
          <p:cNvCxnSpPr/>
          <p:nvPr/>
        </p:nvCxnSpPr>
        <p:spPr>
          <a:xfrm>
            <a:off x="5504688" y="3954780"/>
            <a:ext cx="329184" cy="0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5" name="Google Shape;1355;p45"/>
          <p:cNvCxnSpPr/>
          <p:nvPr/>
        </p:nvCxnSpPr>
        <p:spPr>
          <a:xfrm>
            <a:off x="6903720" y="3127248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042354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6" name="Google Shape;1356;p45"/>
          <p:cNvCxnSpPr/>
          <p:nvPr/>
        </p:nvCxnSpPr>
        <p:spPr>
          <a:xfrm>
            <a:off x="1874519" y="3127248"/>
            <a:ext cx="2011681" cy="466344"/>
          </a:xfrm>
          <a:prstGeom prst="straightConnector1">
            <a:avLst/>
          </a:prstGeom>
          <a:noFill/>
          <a:ln cap="flat" cmpd="sng" w="12700">
            <a:solidFill>
              <a:srgbClr val="C9CED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57" name="Google Shape;1357;p45"/>
          <p:cNvSpPr/>
          <p:nvPr/>
        </p:nvSpPr>
        <p:spPr>
          <a:xfrm>
            <a:off x="8321040" y="2423160"/>
            <a:ext cx="2971800" cy="1874519"/>
          </a:xfrm>
          <a:prstGeom prst="roundRect">
            <a:avLst>
              <a:gd fmla="val 8000" name="adj"/>
            </a:avLst>
          </a:prstGeom>
          <a:solidFill>
            <a:srgbClr val="FF9929"/>
          </a:solidFill>
          <a:ln>
            <a:noFill/>
          </a:ln>
        </p:spPr>
        <p:txBody>
          <a:bodyPr anchorCtr="0" anchor="ctr" bIns="43875" lIns="73150" spcFirstLastPara="1" rIns="73150" wrap="square" tIns="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Top-5 recomendaciones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productos ya comprados, con puntaje de similitud</a:t>
            </a:r>
            <a:endParaRPr/>
          </a:p>
        </p:txBody>
      </p:sp>
      <p:cxnSp>
        <p:nvCxnSpPr>
          <p:cNvPr id="1358" name="Google Shape;1358;p45"/>
          <p:cNvCxnSpPr/>
          <p:nvPr/>
        </p:nvCxnSpPr>
        <p:spPr>
          <a:xfrm>
            <a:off x="7973567" y="3954780"/>
            <a:ext cx="329185" cy="0"/>
          </a:xfrm>
          <a:prstGeom prst="straightConnector1">
            <a:avLst/>
          </a:prstGeom>
          <a:noFill/>
          <a:ln cap="flat" cmpd="sng" w="19050">
            <a:solidFill>
              <a:srgbClr val="C9CED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59" name="Google Shape;1359;p45"/>
          <p:cNvSpPr txBox="1"/>
          <p:nvPr/>
        </p:nvSpPr>
        <p:spPr>
          <a:xfrm>
            <a:off x="914400" y="4480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Preguntas de reflexión</a:t>
            </a:r>
            <a:endParaRPr/>
          </a:p>
        </p:txBody>
      </p:sp>
      <p:sp>
        <p:nvSpPr>
          <p:cNvPr id="1360" name="Google Shape;1360;p45"/>
          <p:cNvSpPr/>
          <p:nvPr/>
        </p:nvSpPr>
        <p:spPr>
          <a:xfrm>
            <a:off x="914400" y="4828032"/>
            <a:ext cx="3276600" cy="60350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5"/>
          <p:cNvSpPr/>
          <p:nvPr/>
        </p:nvSpPr>
        <p:spPr>
          <a:xfrm>
            <a:off x="1024128" y="4901184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62" name="Google Shape;1362;p45"/>
          <p:cNvSpPr txBox="1"/>
          <p:nvPr/>
        </p:nvSpPr>
        <p:spPr>
          <a:xfrm>
            <a:off x="1572768" y="4828032"/>
            <a:ext cx="25267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ocurre con un cliente que tiene una sola reseña (arranque en frío)?</a:t>
            </a:r>
            <a:endParaRPr/>
          </a:p>
        </p:txBody>
      </p:sp>
      <p:sp>
        <p:nvSpPr>
          <p:cNvPr id="1363" name="Google Shape;1363;p45"/>
          <p:cNvSpPr/>
          <p:nvPr/>
        </p:nvSpPr>
        <p:spPr>
          <a:xfrm>
            <a:off x="4465320" y="4828032"/>
            <a:ext cx="3276600" cy="60350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45"/>
          <p:cNvSpPr/>
          <p:nvPr/>
        </p:nvSpPr>
        <p:spPr>
          <a:xfrm>
            <a:off x="4575048" y="4901184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65" name="Google Shape;1365;p45"/>
          <p:cNvSpPr txBox="1"/>
          <p:nvPr/>
        </p:nvSpPr>
        <p:spPr>
          <a:xfrm>
            <a:off x="5123687" y="4828032"/>
            <a:ext cx="25267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¿Cómo debería influir una reseña de 1★ en su perfil?</a:t>
            </a:r>
            <a:endParaRPr/>
          </a:p>
        </p:txBody>
      </p:sp>
      <p:sp>
        <p:nvSpPr>
          <p:cNvPr id="1366" name="Google Shape;1366;p45"/>
          <p:cNvSpPr/>
          <p:nvPr/>
        </p:nvSpPr>
        <p:spPr>
          <a:xfrm>
            <a:off x="8016239" y="4828032"/>
            <a:ext cx="3276600" cy="603504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45"/>
          <p:cNvSpPr/>
          <p:nvPr/>
        </p:nvSpPr>
        <p:spPr>
          <a:xfrm>
            <a:off x="8125967" y="4901184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68" name="Google Shape;1368;p45"/>
          <p:cNvSpPr txBox="1"/>
          <p:nvPr/>
        </p:nvSpPr>
        <p:spPr>
          <a:xfrm>
            <a:off x="8674608" y="4828032"/>
            <a:ext cx="25267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cambiaría al pasar de Chroma embebido a un servidor con miles de usuarios?</a:t>
            </a:r>
            <a:endParaRPr/>
          </a:p>
        </p:txBody>
      </p:sp>
      <p:sp>
        <p:nvSpPr>
          <p:cNvPr id="1369" name="Google Shape;1369;p45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6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Laboratorio: etapas</a:t>
            </a:r>
            <a:endParaRPr/>
          </a:p>
        </p:txBody>
      </p:sp>
      <p:sp>
        <p:nvSpPr>
          <p:cNvPr id="1376" name="Google Shape;1376;p46"/>
          <p:cNvSpPr txBox="1"/>
          <p:nvPr>
            <p:ph idx="1" type="body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/>
          </a:p>
        </p:txBody>
      </p:sp>
      <p:sp>
        <p:nvSpPr>
          <p:cNvPr id="1377" name="Google Shape;1377;p46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78" name="Google Shape;1378;p46"/>
          <p:cNvSpPr/>
          <p:nvPr/>
        </p:nvSpPr>
        <p:spPr>
          <a:xfrm>
            <a:off x="914400" y="1325880"/>
            <a:ext cx="1929384" cy="2926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46"/>
          <p:cNvSpPr/>
          <p:nvPr/>
        </p:nvSpPr>
        <p:spPr>
          <a:xfrm>
            <a:off x="914400" y="1325880"/>
            <a:ext cx="1929384" cy="73152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6"/>
          <p:cNvSpPr/>
          <p:nvPr/>
        </p:nvSpPr>
        <p:spPr>
          <a:xfrm>
            <a:off x="1051560" y="155448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381" name="Google Shape;1381;p46"/>
          <p:cNvSpPr txBox="1"/>
          <p:nvPr/>
        </p:nvSpPr>
        <p:spPr>
          <a:xfrm>
            <a:off x="1645920" y="15544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Indexación</a:t>
            </a:r>
            <a:endParaRPr/>
          </a:p>
        </p:txBody>
      </p:sp>
      <p:sp>
        <p:nvSpPr>
          <p:cNvPr id="1382" name="Google Shape;1382;p46"/>
          <p:cNvSpPr txBox="1"/>
          <p:nvPr/>
        </p:nvSpPr>
        <p:spPr>
          <a:xfrm>
            <a:off x="1051560" y="2240280"/>
            <a:ext cx="16550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Cargar productos.csv, armar el texto a vectorizar e insertar los 90 productos en Chroma con metadatos (categoria, subcategoria, precio, calificacion_promedio).</a:t>
            </a:r>
            <a:endParaRPr/>
          </a:p>
        </p:txBody>
      </p:sp>
      <p:sp>
        <p:nvSpPr>
          <p:cNvPr id="1383" name="Google Shape;1383;p46"/>
          <p:cNvSpPr/>
          <p:nvPr/>
        </p:nvSpPr>
        <p:spPr>
          <a:xfrm>
            <a:off x="3026664" y="1325880"/>
            <a:ext cx="1929384" cy="2926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6"/>
          <p:cNvSpPr/>
          <p:nvPr/>
        </p:nvSpPr>
        <p:spPr>
          <a:xfrm>
            <a:off x="3026664" y="1325880"/>
            <a:ext cx="1929384" cy="73152"/>
          </a:xfrm>
          <a:prstGeom prst="rect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6"/>
          <p:cNvSpPr/>
          <p:nvPr/>
        </p:nvSpPr>
        <p:spPr>
          <a:xfrm>
            <a:off x="3163824" y="1554480"/>
            <a:ext cx="502920" cy="50292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386" name="Google Shape;1386;p46"/>
          <p:cNvSpPr txBox="1"/>
          <p:nvPr/>
        </p:nvSpPr>
        <p:spPr>
          <a:xfrm>
            <a:off x="3758184" y="15544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semántica</a:t>
            </a:r>
            <a:endParaRPr/>
          </a:p>
        </p:txBody>
      </p:sp>
      <p:sp>
        <p:nvSpPr>
          <p:cNvPr id="1387" name="Google Shape;1387;p46"/>
          <p:cNvSpPr txBox="1"/>
          <p:nvPr/>
        </p:nvSpPr>
        <p:spPr>
          <a:xfrm>
            <a:off x="3163824" y="2240280"/>
            <a:ext cx="16550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Resolver tres consultas en lenguaje natural; una filtrada por precio y otra por categoría (where).</a:t>
            </a:r>
            <a:endParaRPr/>
          </a:p>
        </p:txBody>
      </p:sp>
      <p:sp>
        <p:nvSpPr>
          <p:cNvPr id="1388" name="Google Shape;1388;p46"/>
          <p:cNvSpPr/>
          <p:nvPr/>
        </p:nvSpPr>
        <p:spPr>
          <a:xfrm>
            <a:off x="5138928" y="1325880"/>
            <a:ext cx="1929384" cy="2926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6"/>
          <p:cNvSpPr/>
          <p:nvPr/>
        </p:nvSpPr>
        <p:spPr>
          <a:xfrm>
            <a:off x="5138928" y="1325880"/>
            <a:ext cx="1929384" cy="73152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6"/>
          <p:cNvSpPr/>
          <p:nvPr/>
        </p:nvSpPr>
        <p:spPr>
          <a:xfrm>
            <a:off x="5276088" y="1554480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391" name="Google Shape;1391;p46"/>
          <p:cNvSpPr txBox="1"/>
          <p:nvPr/>
        </p:nvSpPr>
        <p:spPr>
          <a:xfrm>
            <a:off x="5870448" y="15544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Perfil de cliente</a:t>
            </a:r>
            <a:endParaRPr/>
          </a:p>
        </p:txBody>
      </p:sp>
      <p:sp>
        <p:nvSpPr>
          <p:cNvPr id="1392" name="Google Shape;1392;p46"/>
          <p:cNvSpPr txBox="1"/>
          <p:nvPr/>
        </p:nvSpPr>
        <p:spPr>
          <a:xfrm>
            <a:off x="5276088" y="2240280"/>
            <a:ext cx="16550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 resenas_entrega.csv, calcular el perfil ponderado por calificación de los clientes 1, 85 y 22.</a:t>
            </a:r>
            <a:endParaRPr/>
          </a:p>
        </p:txBody>
      </p:sp>
      <p:sp>
        <p:nvSpPr>
          <p:cNvPr id="1393" name="Google Shape;1393;p46"/>
          <p:cNvSpPr/>
          <p:nvPr/>
        </p:nvSpPr>
        <p:spPr>
          <a:xfrm>
            <a:off x="7251192" y="1325880"/>
            <a:ext cx="1929384" cy="2926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6"/>
          <p:cNvSpPr/>
          <p:nvPr/>
        </p:nvSpPr>
        <p:spPr>
          <a:xfrm>
            <a:off x="7251192" y="1325880"/>
            <a:ext cx="1929384" cy="73152"/>
          </a:xfrm>
          <a:prstGeom prst="rect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6"/>
          <p:cNvSpPr/>
          <p:nvPr/>
        </p:nvSpPr>
        <p:spPr>
          <a:xfrm>
            <a:off x="7388352" y="1554480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396" name="Google Shape;1396;p46"/>
          <p:cNvSpPr txBox="1"/>
          <p:nvPr/>
        </p:nvSpPr>
        <p:spPr>
          <a:xfrm>
            <a:off x="7982712" y="15544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Recomendar</a:t>
            </a:r>
            <a:endParaRPr/>
          </a:p>
        </p:txBody>
      </p:sp>
      <p:sp>
        <p:nvSpPr>
          <p:cNvPr id="1397" name="Google Shape;1397;p46"/>
          <p:cNvSpPr txBox="1"/>
          <p:nvPr/>
        </p:nvSpPr>
        <p:spPr>
          <a:xfrm>
            <a:off x="7388352" y="2240280"/>
            <a:ext cx="16550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Obtener el top-5 más cercano al perfil, excluir lo comprado y reportar la similitud.</a:t>
            </a:r>
            <a:endParaRPr/>
          </a:p>
        </p:txBody>
      </p:sp>
      <p:sp>
        <p:nvSpPr>
          <p:cNvPr id="1398" name="Google Shape;1398;p46"/>
          <p:cNvSpPr/>
          <p:nvPr/>
        </p:nvSpPr>
        <p:spPr>
          <a:xfrm>
            <a:off x="9363456" y="1325880"/>
            <a:ext cx="1929384" cy="292608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6"/>
          <p:cNvSpPr/>
          <p:nvPr/>
        </p:nvSpPr>
        <p:spPr>
          <a:xfrm>
            <a:off x="9363456" y="1325880"/>
            <a:ext cx="1929384" cy="73152"/>
          </a:xfrm>
          <a:prstGeom prst="rect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6"/>
          <p:cNvSpPr/>
          <p:nvPr/>
        </p:nvSpPr>
        <p:spPr>
          <a:xfrm>
            <a:off x="9500616" y="1554480"/>
            <a:ext cx="502920" cy="50292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1401" name="Google Shape;1401;p46"/>
          <p:cNvSpPr txBox="1"/>
          <p:nvPr/>
        </p:nvSpPr>
        <p:spPr>
          <a:xfrm>
            <a:off x="10094976" y="1554480"/>
            <a:ext cx="1106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/>
          </a:p>
        </p:txBody>
      </p:sp>
      <p:sp>
        <p:nvSpPr>
          <p:cNvPr id="1402" name="Google Shape;1402;p46"/>
          <p:cNvSpPr txBox="1"/>
          <p:nvPr/>
        </p:nvSpPr>
        <p:spPr>
          <a:xfrm>
            <a:off x="9500616" y="2240280"/>
            <a:ext cx="16550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Responder las preguntas de reflexión y comparar los resultados entre clientes.</a:t>
            </a:r>
            <a:endParaRPr/>
          </a:p>
        </p:txBody>
      </p:sp>
      <p:sp>
        <p:nvSpPr>
          <p:cNvPr id="1403" name="Google Shape;1403;p46"/>
          <p:cNvSpPr/>
          <p:nvPr/>
        </p:nvSpPr>
        <p:spPr>
          <a:xfrm>
            <a:off x="914400" y="4434840"/>
            <a:ext cx="5052059" cy="1005840"/>
          </a:xfrm>
          <a:prstGeom prst="roundRect">
            <a:avLst>
              <a:gd fmla="val 8000" name="adj"/>
            </a:avLst>
          </a:prstGeom>
          <a:solidFill>
            <a:srgbClr val="E7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46"/>
          <p:cNvSpPr txBox="1"/>
          <p:nvPr/>
        </p:nvSpPr>
        <p:spPr>
          <a:xfrm>
            <a:off x="1097280" y="4480560"/>
            <a:ext cx="46862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Consultas sugeridas (etapa 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«algo para escuchar música mientras hago deporte» · «regalo para quien empieza en fotografía, menos de S/ 2 000» · «equipo para jugar en casa con amigos»</a:t>
            </a:r>
            <a:endParaRPr/>
          </a:p>
        </p:txBody>
      </p:sp>
      <p:sp>
        <p:nvSpPr>
          <p:cNvPr id="1405" name="Google Shape;1405;p46"/>
          <p:cNvSpPr/>
          <p:nvPr/>
        </p:nvSpPr>
        <p:spPr>
          <a:xfrm>
            <a:off x="6240779" y="4434840"/>
            <a:ext cx="5052059" cy="1005840"/>
          </a:xfrm>
          <a:prstGeom prst="roundRect">
            <a:avLst>
              <a:gd fmla="val 8000" name="adj"/>
            </a:avLst>
          </a:prstGeom>
          <a:solidFill>
            <a:srgbClr val="E3F7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46"/>
          <p:cNvSpPr txBox="1"/>
          <p:nvPr/>
        </p:nvSpPr>
        <p:spPr>
          <a:xfrm>
            <a:off x="6423659" y="4480560"/>
            <a:ext cx="46862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Reto opcional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Indexar comentarios.csv en una segunda colección y agruparlos por tema con k-means (scikit-learn) sobre los embeddings.</a:t>
            </a:r>
            <a:endParaRPr/>
          </a:p>
        </p:txBody>
      </p:sp>
      <p:sp>
        <p:nvSpPr>
          <p:cNvPr id="1407" name="Google Shape;1407;p46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4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6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Resumen de la sesión</a:t>
            </a:r>
            <a:endParaRPr/>
          </a:p>
        </p:txBody>
      </p:sp>
      <p:sp>
        <p:nvSpPr>
          <p:cNvPr id="1414" name="Google Shape;1414;p47"/>
          <p:cNvSpPr txBox="1"/>
          <p:nvPr>
            <p:ph idx="1" type="body"/>
          </p:nvPr>
        </p:nvSpPr>
        <p:spPr>
          <a:xfrm>
            <a:off x="839800" y="1874519"/>
            <a:ext cx="39319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14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Hoy trabajamos con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2 ejercicios guiados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 laboratorio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 conjuntos de datos reales</a:t>
            </a:r>
            <a:endParaRPr/>
          </a:p>
          <a:p>
            <a:pPr indent="-201168" lvl="0" marL="25603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s-ES" sz="1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 BDV funcionando en Python</a:t>
            </a:r>
            <a:endParaRPr/>
          </a:p>
        </p:txBody>
      </p:sp>
      <p:sp>
        <p:nvSpPr>
          <p:cNvPr id="1415" name="Google Shape;1415;p47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16" name="Google Shape;1416;p47"/>
          <p:cNvSpPr/>
          <p:nvPr/>
        </p:nvSpPr>
        <p:spPr>
          <a:xfrm>
            <a:off x="5394960" y="777240"/>
            <a:ext cx="5897879" cy="8229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47"/>
          <p:cNvSpPr/>
          <p:nvPr/>
        </p:nvSpPr>
        <p:spPr>
          <a:xfrm>
            <a:off x="5559552" y="950976"/>
            <a:ext cx="475488" cy="47548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18" name="Google Shape;1418;p47"/>
          <p:cNvSpPr txBox="1"/>
          <p:nvPr/>
        </p:nvSpPr>
        <p:spPr>
          <a:xfrm>
            <a:off x="6217920" y="832103"/>
            <a:ext cx="49834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Búsqueda semántica</a:t>
            </a:r>
            <a:endParaRPr/>
          </a:p>
        </p:txBody>
      </p:sp>
      <p:sp>
        <p:nvSpPr>
          <p:cNvPr id="1419" name="Google Shape;1419;p47"/>
          <p:cNvSpPr txBox="1"/>
          <p:nvPr/>
        </p:nvSpPr>
        <p:spPr>
          <a:xfrm>
            <a:off x="6217920" y="1161288"/>
            <a:ext cx="49834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Encontrar los k vecinos más cercanos a una consulta, más allá de las palabras.</a:t>
            </a:r>
            <a:endParaRPr/>
          </a:p>
        </p:txBody>
      </p:sp>
      <p:sp>
        <p:nvSpPr>
          <p:cNvPr id="1420" name="Google Shape;1420;p47"/>
          <p:cNvSpPr/>
          <p:nvPr/>
        </p:nvSpPr>
        <p:spPr>
          <a:xfrm>
            <a:off x="5394960" y="1691640"/>
            <a:ext cx="5897879" cy="8229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47"/>
          <p:cNvSpPr/>
          <p:nvPr/>
        </p:nvSpPr>
        <p:spPr>
          <a:xfrm>
            <a:off x="5559552" y="1865376"/>
            <a:ext cx="475488" cy="47548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22" name="Google Shape;1422;p47"/>
          <p:cNvSpPr txBox="1"/>
          <p:nvPr/>
        </p:nvSpPr>
        <p:spPr>
          <a:xfrm>
            <a:off x="6217920" y="1746504"/>
            <a:ext cx="49834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Métrica</a:t>
            </a:r>
            <a:endParaRPr/>
          </a:p>
        </p:txBody>
      </p:sp>
      <p:sp>
        <p:nvSpPr>
          <p:cNvPr id="1423" name="Google Shape;1423;p47"/>
          <p:cNvSpPr txBox="1"/>
          <p:nvPr/>
        </p:nvSpPr>
        <p:spPr>
          <a:xfrm>
            <a:off x="6217920" y="2075688"/>
            <a:ext cx="49834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Declararla al crear la colección y normalizar los vectores.</a:t>
            </a:r>
            <a:endParaRPr/>
          </a:p>
        </p:txBody>
      </p:sp>
      <p:sp>
        <p:nvSpPr>
          <p:cNvPr id="1424" name="Google Shape;1424;p47"/>
          <p:cNvSpPr/>
          <p:nvPr/>
        </p:nvSpPr>
        <p:spPr>
          <a:xfrm>
            <a:off x="5394960" y="2606040"/>
            <a:ext cx="5897879" cy="8229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47"/>
          <p:cNvSpPr/>
          <p:nvPr/>
        </p:nvSpPr>
        <p:spPr>
          <a:xfrm>
            <a:off x="5559552" y="2779776"/>
            <a:ext cx="475488" cy="475488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26" name="Google Shape;1426;p47"/>
          <p:cNvSpPr txBox="1"/>
          <p:nvPr/>
        </p:nvSpPr>
        <p:spPr>
          <a:xfrm>
            <a:off x="6217920" y="2660904"/>
            <a:ext cx="49834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Índices ANN</a:t>
            </a:r>
            <a:endParaRPr/>
          </a:p>
        </p:txBody>
      </p:sp>
      <p:sp>
        <p:nvSpPr>
          <p:cNvPr id="1427" name="Google Shape;1427;p47"/>
          <p:cNvSpPr txBox="1"/>
          <p:nvPr/>
        </p:nvSpPr>
        <p:spPr>
          <a:xfrm>
            <a:off x="6217920" y="2990088"/>
            <a:ext cx="49834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HNSW, IVF y cuantización cambian exactitud por velocidad.</a:t>
            </a:r>
            <a:endParaRPr/>
          </a:p>
        </p:txBody>
      </p:sp>
      <p:sp>
        <p:nvSpPr>
          <p:cNvPr id="1428" name="Google Shape;1428;p47"/>
          <p:cNvSpPr/>
          <p:nvPr/>
        </p:nvSpPr>
        <p:spPr>
          <a:xfrm>
            <a:off x="5394960" y="3520440"/>
            <a:ext cx="5897879" cy="8229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47"/>
          <p:cNvSpPr/>
          <p:nvPr/>
        </p:nvSpPr>
        <p:spPr>
          <a:xfrm>
            <a:off x="5559552" y="3694176"/>
            <a:ext cx="475488" cy="47548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30" name="Google Shape;1430;p47"/>
          <p:cNvSpPr txBox="1"/>
          <p:nvPr/>
        </p:nvSpPr>
        <p:spPr>
          <a:xfrm>
            <a:off x="6217920" y="3575304"/>
            <a:ext cx="49834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Motor adecuado</a:t>
            </a:r>
            <a:endParaRPr/>
          </a:p>
        </p:txBody>
      </p:sp>
      <p:sp>
        <p:nvSpPr>
          <p:cNvPr id="1431" name="Google Shape;1431;p47"/>
          <p:cNvSpPr txBox="1"/>
          <p:nvPr/>
        </p:nvSpPr>
        <p:spPr>
          <a:xfrm>
            <a:off x="6217920" y="3904488"/>
            <a:ext cx="49834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Chroma para prototipos; Milvus, Qdrant o un servicio gestionado a gran escala.</a:t>
            </a:r>
            <a:endParaRPr/>
          </a:p>
        </p:txBody>
      </p:sp>
      <p:sp>
        <p:nvSpPr>
          <p:cNvPr id="1432" name="Google Shape;1432;p47"/>
          <p:cNvSpPr/>
          <p:nvPr/>
        </p:nvSpPr>
        <p:spPr>
          <a:xfrm>
            <a:off x="5394960" y="4434840"/>
            <a:ext cx="5897879" cy="82296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47"/>
          <p:cNvSpPr/>
          <p:nvPr/>
        </p:nvSpPr>
        <p:spPr>
          <a:xfrm>
            <a:off x="5559552" y="4608576"/>
            <a:ext cx="475488" cy="475488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34" name="Google Shape;1434;p47"/>
          <p:cNvSpPr txBox="1"/>
          <p:nvPr/>
        </p:nvSpPr>
        <p:spPr>
          <a:xfrm>
            <a:off x="6217920" y="4489703"/>
            <a:ext cx="49834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/>
          </a:p>
        </p:txBody>
      </p:sp>
      <p:sp>
        <p:nvSpPr>
          <p:cNvPr id="1435" name="Google Shape;1435;p47"/>
          <p:cNvSpPr txBox="1"/>
          <p:nvPr/>
        </p:nvSpPr>
        <p:spPr>
          <a:xfrm>
            <a:off x="6217920" y="4818888"/>
            <a:ext cx="49834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Búsqueda semántica, RAG, recomendación, agentes.</a:t>
            </a:r>
            <a:endParaRPr/>
          </a:p>
        </p:txBody>
      </p:sp>
      <p:sp>
        <p:nvSpPr>
          <p:cNvPr id="1436" name="Google Shape;1436;p47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48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Preguntas de repaso</a:t>
            </a:r>
            <a:endParaRPr/>
          </a:p>
        </p:txBody>
      </p:sp>
      <p:sp>
        <p:nvSpPr>
          <p:cNvPr id="1443" name="Google Shape;1443;p48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44" name="Google Shape;1444;p48"/>
          <p:cNvSpPr/>
          <p:nvPr/>
        </p:nvSpPr>
        <p:spPr>
          <a:xfrm>
            <a:off x="914400" y="1325880"/>
            <a:ext cx="5052059" cy="12344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48"/>
          <p:cNvSpPr/>
          <p:nvPr/>
        </p:nvSpPr>
        <p:spPr>
          <a:xfrm>
            <a:off x="1097280" y="1554480"/>
            <a:ext cx="548640" cy="54864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6" name="Google Shape;1446;p48"/>
          <p:cNvSpPr txBox="1"/>
          <p:nvPr/>
        </p:nvSpPr>
        <p:spPr>
          <a:xfrm>
            <a:off x="1828800" y="1435607"/>
            <a:ext cx="40005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Dos textos sin palabras en común pueden tener similitud coseno alta.</a:t>
            </a:r>
            <a:endParaRPr/>
          </a:p>
        </p:txBody>
      </p:sp>
      <p:sp>
        <p:nvSpPr>
          <p:cNvPr id="1447" name="Google Shape;1447;p48"/>
          <p:cNvSpPr txBox="1"/>
          <p:nvPr/>
        </p:nvSpPr>
        <p:spPr>
          <a:xfrm>
            <a:off x="1828800" y="2103120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Verdadero · Falso</a:t>
            </a:r>
            <a:endParaRPr/>
          </a:p>
        </p:txBody>
      </p:sp>
      <p:sp>
        <p:nvSpPr>
          <p:cNvPr id="1448" name="Google Shape;1448;p48"/>
          <p:cNvSpPr/>
          <p:nvPr/>
        </p:nvSpPr>
        <p:spPr>
          <a:xfrm>
            <a:off x="6240779" y="1325880"/>
            <a:ext cx="5052059" cy="12344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8"/>
          <p:cNvSpPr/>
          <p:nvPr/>
        </p:nvSpPr>
        <p:spPr>
          <a:xfrm>
            <a:off x="6423659" y="1554480"/>
            <a:ext cx="548640" cy="54864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50" name="Google Shape;1450;p48"/>
          <p:cNvSpPr txBox="1"/>
          <p:nvPr/>
        </p:nvSpPr>
        <p:spPr>
          <a:xfrm>
            <a:off x="7155179" y="1435607"/>
            <a:ext cx="40005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¿Qué índice organiza los vectores en capas de un grafo?</a:t>
            </a:r>
            <a:endParaRPr/>
          </a:p>
        </p:txBody>
      </p:sp>
      <p:sp>
        <p:nvSpPr>
          <p:cNvPr id="1451" name="Google Shape;1451;p48"/>
          <p:cNvSpPr txBox="1"/>
          <p:nvPr/>
        </p:nvSpPr>
        <p:spPr>
          <a:xfrm>
            <a:off x="7155179" y="2103120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IVF · HNSW · B-tree</a:t>
            </a:r>
            <a:endParaRPr/>
          </a:p>
        </p:txBody>
      </p:sp>
      <p:sp>
        <p:nvSpPr>
          <p:cNvPr id="1452" name="Google Shape;1452;p48"/>
          <p:cNvSpPr/>
          <p:nvPr/>
        </p:nvSpPr>
        <p:spPr>
          <a:xfrm>
            <a:off x="914400" y="2697480"/>
            <a:ext cx="5052059" cy="12344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48"/>
          <p:cNvSpPr/>
          <p:nvPr/>
        </p:nvSpPr>
        <p:spPr>
          <a:xfrm>
            <a:off x="1097280" y="2926080"/>
            <a:ext cx="548640" cy="54864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54" name="Google Shape;1454;p48"/>
          <p:cNvSpPr txBox="1"/>
          <p:nvPr/>
        </p:nvSpPr>
        <p:spPr>
          <a:xfrm>
            <a:off x="1828800" y="2807208"/>
            <a:ext cx="40005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Con vectores normalizados, el producto punto equivale a…</a:t>
            </a:r>
            <a:endParaRPr/>
          </a:p>
        </p:txBody>
      </p:sp>
      <p:sp>
        <p:nvSpPr>
          <p:cNvPr id="1455" name="Google Shape;1455;p48"/>
          <p:cNvSpPr txBox="1"/>
          <p:nvPr/>
        </p:nvSpPr>
        <p:spPr>
          <a:xfrm>
            <a:off x="1828800" y="3474720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distancia L2 · coseno · Jaccard</a:t>
            </a:r>
            <a:endParaRPr/>
          </a:p>
        </p:txBody>
      </p:sp>
      <p:sp>
        <p:nvSpPr>
          <p:cNvPr id="1456" name="Google Shape;1456;p48"/>
          <p:cNvSpPr/>
          <p:nvPr/>
        </p:nvSpPr>
        <p:spPr>
          <a:xfrm>
            <a:off x="6240779" y="2697480"/>
            <a:ext cx="5052059" cy="12344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8"/>
          <p:cNvSpPr/>
          <p:nvPr/>
        </p:nvSpPr>
        <p:spPr>
          <a:xfrm>
            <a:off x="6423659" y="2926080"/>
            <a:ext cx="548640" cy="54864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58" name="Google Shape;1458;p48"/>
          <p:cNvSpPr txBox="1"/>
          <p:nvPr/>
        </p:nvSpPr>
        <p:spPr>
          <a:xfrm>
            <a:off x="7155179" y="2807208"/>
            <a:ext cx="40005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Aumentar nprobe en un índice IVF produce…</a:t>
            </a:r>
            <a:endParaRPr/>
          </a:p>
        </p:txBody>
      </p:sp>
      <p:sp>
        <p:nvSpPr>
          <p:cNvPr id="1459" name="Google Shape;1459;p48"/>
          <p:cNvSpPr txBox="1"/>
          <p:nvPr/>
        </p:nvSpPr>
        <p:spPr>
          <a:xfrm>
            <a:off x="7155179" y="3474720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más recall y latencia · menos memoria · menos recall</a:t>
            </a:r>
            <a:endParaRPr/>
          </a:p>
        </p:txBody>
      </p:sp>
      <p:sp>
        <p:nvSpPr>
          <p:cNvPr id="1460" name="Google Shape;1460;p48"/>
          <p:cNvSpPr/>
          <p:nvPr/>
        </p:nvSpPr>
        <p:spPr>
          <a:xfrm>
            <a:off x="914400" y="4069080"/>
            <a:ext cx="5052059" cy="123444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48"/>
          <p:cNvSpPr/>
          <p:nvPr/>
        </p:nvSpPr>
        <p:spPr>
          <a:xfrm>
            <a:off x="1097280" y="4297680"/>
            <a:ext cx="548640" cy="54864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62" name="Google Shape;1462;p48"/>
          <p:cNvSpPr txBox="1"/>
          <p:nvPr/>
        </p:nvSpPr>
        <p:spPr>
          <a:xfrm>
            <a:off x="1828800" y="4178808"/>
            <a:ext cx="40005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¿Por qué se indexa y consulta con el mismo modelo?</a:t>
            </a:r>
            <a:endParaRPr/>
          </a:p>
        </p:txBody>
      </p:sp>
      <p:sp>
        <p:nvSpPr>
          <p:cNvPr id="1463" name="Google Shape;1463;p48"/>
          <p:cNvSpPr txBox="1"/>
          <p:nvPr/>
        </p:nvSpPr>
        <p:spPr>
          <a:xfrm>
            <a:off x="1828800" y="4846320"/>
            <a:ext cx="40005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50" u="none" cap="none" strike="noStrike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Respuesta abierta</a:t>
            </a:r>
            <a:endParaRPr/>
          </a:p>
        </p:txBody>
      </p:sp>
      <p:sp>
        <p:nvSpPr>
          <p:cNvPr id="1464" name="Google Shape;1464;p48"/>
          <p:cNvSpPr/>
          <p:nvPr/>
        </p:nvSpPr>
        <p:spPr>
          <a:xfrm>
            <a:off x="6240779" y="4069080"/>
            <a:ext cx="5052059" cy="1234440"/>
          </a:xfrm>
          <a:prstGeom prst="roundRect">
            <a:avLst>
              <a:gd fmla="val 8000" name="adj"/>
            </a:avLst>
          </a:prstGeom>
          <a:solidFill>
            <a:srgbClr val="0423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48"/>
          <p:cNvSpPr/>
          <p:nvPr/>
        </p:nvSpPr>
        <p:spPr>
          <a:xfrm>
            <a:off x="6469379" y="4370832"/>
            <a:ext cx="640080" cy="6400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SquarePollVertical_w.png" id="1466" name="Google Shape;146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800" y="4537252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48"/>
          <p:cNvSpPr txBox="1"/>
          <p:nvPr/>
        </p:nvSpPr>
        <p:spPr>
          <a:xfrm>
            <a:off x="7292340" y="4069080"/>
            <a:ext cx="3863339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rgbClr val="F0AE19"/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revisan en grupo al final de la sesión.</a:t>
            </a:r>
            <a:endParaRPr/>
          </a:p>
        </p:txBody>
      </p:sp>
      <p:sp>
        <p:nvSpPr>
          <p:cNvPr id="1468" name="Google Shape;1468;p48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49"/>
          <p:cNvSpPr txBox="1"/>
          <p:nvPr>
            <p:ph type="title"/>
          </p:nvPr>
        </p:nvSpPr>
        <p:spPr>
          <a:xfrm>
            <a:off x="841248" y="274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 sz="28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Referencias y recursos</a:t>
            </a:r>
            <a:endParaRPr/>
          </a:p>
        </p:txBody>
      </p:sp>
      <p:sp>
        <p:nvSpPr>
          <p:cNvPr id="1475" name="Google Shape;1475;p49"/>
          <p:cNvSpPr txBox="1"/>
          <p:nvPr>
            <p:ph idx="1" type="body"/>
          </p:nvPr>
        </p:nvSpPr>
        <p:spPr>
          <a:xfrm>
            <a:off x="841248" y="1234440"/>
            <a:ext cx="10424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55"/>
              <a:buNone/>
            </a:pPr>
            <a:r>
              <a:rPr b="1" lang="es-ES" sz="1755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Artículos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Mikolov, T. et al. (2013). Efficient Estimation of Word Representations in Vector Space. arXiv:1301.3781.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Reimers, N. y Gurevych, I. (2019). Sentence-BERT: Sentence Embeddings using Siamese BERT-Networks. EMNLP.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Malkov, Y. y Yashunin, D. (2018). Efficient and robust approximate nearest neighbor search using HNSW graphs. IEEE TPAMI.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Jégou, H., Douze, M. y Schmid, C. (2011). Product Quantization for Nearest Neighbor Search. IEEE TPAMI.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Lewis, P. et al. (2020). Retrieval-Augmented Generation for Knowledge-Intensive NLP Tasks. NeurIPS.</a:t>
            </a:r>
            <a:endParaRPr sz="1820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55"/>
              <a:buNone/>
            </a:pPr>
            <a:r>
              <a:rPr b="1" lang="es-ES" sz="1755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Documentación y herramientas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Sentence Transformers: sbert.net  ·  ChromaDB: docs.trychroma.com  ·  FAISS: github.com/facebookresearch/faiss/wiki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MTEB Leaderboard: huggingface.co/spaces/mteb/leaderboard  ·  Embedding Projector: projector.tensorflow.org</a:t>
            </a:r>
            <a:endParaRPr sz="1820"/>
          </a:p>
          <a:p>
            <a:pPr indent="-283718" lvl="0" marL="256032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55"/>
              <a:buChar char="•"/>
            </a:pPr>
            <a:r>
              <a:rPr b="0" lang="es-ES" sz="1755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ANN Benchmarks: ann-benchmarks.com  ·  Instalación: pypi.org/project/chromadb</a:t>
            </a:r>
            <a:endParaRPr sz="1820"/>
          </a:p>
        </p:txBody>
      </p:sp>
      <p:sp>
        <p:nvSpPr>
          <p:cNvPr id="1476" name="Google Shape;1476;p49"/>
          <p:cNvSpPr txBox="1"/>
          <p:nvPr>
            <p:ph idx="12" type="sldNum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77" name="Google Shape;1477;p49"/>
          <p:cNvSpPr txBox="1"/>
          <p:nvPr>
            <p:ph idx="4294967295" type="ftr"/>
          </p:nvPr>
        </p:nvSpPr>
        <p:spPr>
          <a:xfrm>
            <a:off x="237435" y="6013034"/>
            <a:ext cx="740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Posgrado - Minería Web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50"/>
          <p:cNvSpPr txBox="1"/>
          <p:nvPr>
            <p:ph type="ctrTitle"/>
          </p:nvPr>
        </p:nvSpPr>
        <p:spPr>
          <a:xfrm>
            <a:off x="1069848" y="23317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s-ES" sz="3200">
                <a:solidFill>
                  <a:srgbClr val="042354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4" name="Google Shape;1484;p50"/>
          <p:cNvSpPr txBox="1"/>
          <p:nvPr>
            <p:ph idx="1" type="subTitle"/>
          </p:nvPr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ES" sz="1800">
                <a:solidFill>
                  <a:srgbClr val="5B6270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Layla Hirsh Martínez</dc:creator>
</cp:coreProperties>
</file>